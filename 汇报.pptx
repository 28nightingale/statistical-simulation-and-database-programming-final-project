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Lst>
  <p:sldSz cx="12166600" cy="6838950"/>
  <p:notesSz cx="12166600" cy="68389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84" d="100"/>
          <a:sy n="84" d="100"/>
        </p:scale>
        <p:origin x="634" y="77"/>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2971" y="2120074"/>
            <a:ext cx="10347008" cy="1436179"/>
          </a:xfrm>
          <a:prstGeom prst="rect">
            <a:avLst/>
          </a:prstGeom>
        </p:spPr>
        <p:txBody>
          <a:bodyPr wrap="square" lIns="0" tIns="0" rIns="0" bIns="0">
            <a:spAutoFit/>
          </a:bodyPr>
          <a:lstStyle>
            <a:lvl1pPr>
              <a:defRPr sz="2400" b="1" i="0">
                <a:solidFill>
                  <a:srgbClr val="24292E"/>
                </a:solidFill>
                <a:latin typeface="Microsoft YaHei"/>
                <a:cs typeface="Microsoft YaHei"/>
              </a:defRPr>
            </a:lvl1pPr>
          </a:lstStyle>
          <a:p>
            <a:endParaRPr/>
          </a:p>
        </p:txBody>
      </p:sp>
      <p:sp>
        <p:nvSpPr>
          <p:cNvPr id="3" name="Holder 3"/>
          <p:cNvSpPr>
            <a:spLocks noGrp="1"/>
          </p:cNvSpPr>
          <p:nvPr>
            <p:ph type="subTitle" idx="4"/>
          </p:nvPr>
        </p:nvSpPr>
        <p:spPr>
          <a:xfrm>
            <a:off x="1825942" y="3829812"/>
            <a:ext cx="8521065" cy="1709737"/>
          </a:xfrm>
          <a:prstGeom prst="rect">
            <a:avLst/>
          </a:prstGeom>
        </p:spPr>
        <p:txBody>
          <a:bodyPr wrap="square" lIns="0" tIns="0" rIns="0" bIns="0">
            <a:spAutoFit/>
          </a:bodyPr>
          <a:lstStyle>
            <a:lvl1pPr>
              <a:defRPr sz="1200" b="0" i="0">
                <a:solidFill>
                  <a:srgbClr val="24292E"/>
                </a:solidFill>
                <a:latin typeface="Microsoft YaHei"/>
                <a:cs typeface="Microsoft YaHe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419478" y="118758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17" name="bg object 17"/>
          <p:cNvSpPr/>
          <p:nvPr/>
        </p:nvSpPr>
        <p:spPr>
          <a:xfrm>
            <a:off x="1419478" y="177830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18" name="bg object 18"/>
          <p:cNvSpPr/>
          <p:nvPr/>
        </p:nvSpPr>
        <p:spPr>
          <a:xfrm>
            <a:off x="1419478" y="2369023"/>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19" name="bg object 19"/>
          <p:cNvSpPr/>
          <p:nvPr/>
        </p:nvSpPr>
        <p:spPr>
          <a:xfrm>
            <a:off x="1419478" y="554175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a:endParaRPr/>
          </a:p>
        </p:txBody>
      </p:sp>
      <p:sp>
        <p:nvSpPr>
          <p:cNvPr id="3" name="Holder 3"/>
          <p:cNvSpPr>
            <a:spLocks noGrp="1"/>
          </p:cNvSpPr>
          <p:nvPr>
            <p:ph type="body" idx="1"/>
          </p:nvPr>
        </p:nvSpPr>
        <p:spPr/>
        <p:txBody>
          <a:bodyPr lIns="0" tIns="0" rIns="0" bIns="0"/>
          <a:lstStyle>
            <a:lvl1pPr>
              <a:defRPr sz="1200" b="0" i="0">
                <a:solidFill>
                  <a:srgbClr val="24292E"/>
                </a:solidFill>
                <a:latin typeface="Microsoft YaHei"/>
                <a:cs typeface="Microsoft YaHe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a:endParaRPr/>
          </a:p>
        </p:txBody>
      </p:sp>
      <p:sp>
        <p:nvSpPr>
          <p:cNvPr id="3" name="Holder 3"/>
          <p:cNvSpPr>
            <a:spLocks noGrp="1"/>
          </p:cNvSpPr>
          <p:nvPr>
            <p:ph sz="half" idx="2"/>
          </p:nvPr>
        </p:nvSpPr>
        <p:spPr>
          <a:xfrm>
            <a:off x="608647" y="1572958"/>
            <a:ext cx="5295233" cy="4513707"/>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69069" y="1572958"/>
            <a:ext cx="5295233" cy="4513707"/>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652492" y="708027"/>
            <a:ext cx="4861559" cy="391794"/>
          </a:xfrm>
          <a:prstGeom prst="rect">
            <a:avLst/>
          </a:prstGeom>
        </p:spPr>
        <p:txBody>
          <a:bodyPr wrap="square" lIns="0" tIns="0" rIns="0" bIns="0">
            <a:spAutoFit/>
          </a:bodyPr>
          <a:lstStyle>
            <a:lvl1pPr>
              <a:defRPr sz="2400" b="1" i="0">
                <a:solidFill>
                  <a:srgbClr val="24292E"/>
                </a:solidFill>
                <a:latin typeface="Microsoft YaHei"/>
                <a:cs typeface="Microsoft YaHei"/>
              </a:defRPr>
            </a:lvl1pPr>
          </a:lstStyle>
          <a:p>
            <a:endParaRPr/>
          </a:p>
        </p:txBody>
      </p:sp>
      <p:sp>
        <p:nvSpPr>
          <p:cNvPr id="3" name="Holder 3"/>
          <p:cNvSpPr>
            <a:spLocks noGrp="1"/>
          </p:cNvSpPr>
          <p:nvPr>
            <p:ph type="body" idx="1"/>
          </p:nvPr>
        </p:nvSpPr>
        <p:spPr>
          <a:xfrm>
            <a:off x="1389314" y="2537350"/>
            <a:ext cx="9318625" cy="1624964"/>
          </a:xfrm>
          <a:prstGeom prst="rect">
            <a:avLst/>
          </a:prstGeom>
        </p:spPr>
        <p:txBody>
          <a:bodyPr wrap="square" lIns="0" tIns="0" rIns="0" bIns="0">
            <a:spAutoFit/>
          </a:bodyPr>
          <a:lstStyle>
            <a:lvl1pPr>
              <a:defRPr sz="1200" b="0" i="0">
                <a:solidFill>
                  <a:srgbClr val="24292E"/>
                </a:solidFill>
                <a:latin typeface="Microsoft YaHei"/>
                <a:cs typeface="Microsoft YaHei"/>
              </a:defRPr>
            </a:lvl1pPr>
          </a:lstStyle>
          <a:p>
            <a:endParaRPr/>
          </a:p>
        </p:txBody>
      </p:sp>
      <p:sp>
        <p:nvSpPr>
          <p:cNvPr id="4" name="Holder 4"/>
          <p:cNvSpPr>
            <a:spLocks noGrp="1"/>
          </p:cNvSpPr>
          <p:nvPr>
            <p:ph type="ftr" sz="quarter" idx="5"/>
          </p:nvPr>
        </p:nvSpPr>
        <p:spPr>
          <a:xfrm>
            <a:off x="4138803" y="6360223"/>
            <a:ext cx="3895344" cy="34194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8647" y="6360223"/>
            <a:ext cx="2799778" cy="34194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11/17/2025</a:t>
            </a:fld>
            <a:endParaRPr lang="en-US"/>
          </a:p>
        </p:txBody>
      </p:sp>
      <p:sp>
        <p:nvSpPr>
          <p:cNvPr id="6" name="Holder 6"/>
          <p:cNvSpPr>
            <a:spLocks noGrp="1"/>
          </p:cNvSpPr>
          <p:nvPr>
            <p:ph type="sldNum" sz="quarter" idx="7"/>
          </p:nvPr>
        </p:nvSpPr>
        <p:spPr>
          <a:xfrm>
            <a:off x="8764524" y="6360223"/>
            <a:ext cx="2799778" cy="34194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利用数据库编程进行</a:t>
            </a:r>
            <a:r>
              <a:rPr b="0" spc="-35" dirty="0">
                <a:latin typeface="Segoe UI Semibold"/>
                <a:cs typeface="Segoe UI Semibold"/>
              </a:rPr>
              <a:t>LDA</a:t>
            </a:r>
            <a:r>
              <a:rPr spc="-10" dirty="0"/>
              <a:t>模拟和检验</a:t>
            </a:r>
          </a:p>
        </p:txBody>
      </p:sp>
      <p:sp>
        <p:nvSpPr>
          <p:cNvPr id="3" name="object 3"/>
          <p:cNvSpPr txBox="1"/>
          <p:nvPr/>
        </p:nvSpPr>
        <p:spPr>
          <a:xfrm>
            <a:off x="1402014" y="1422607"/>
            <a:ext cx="5556885" cy="890905"/>
          </a:xfrm>
          <a:prstGeom prst="rect">
            <a:avLst/>
          </a:prstGeom>
        </p:spPr>
        <p:txBody>
          <a:bodyPr vert="horz" wrap="square" lIns="0" tIns="12700" rIns="0" bIns="0" rtlCol="0">
            <a:spAutoFit/>
          </a:bodyPr>
          <a:lstStyle/>
          <a:p>
            <a:pPr marR="5080" algn="r">
              <a:lnSpc>
                <a:spcPct val="100000"/>
              </a:lnSpc>
              <a:spcBef>
                <a:spcPts val="100"/>
              </a:spcBef>
            </a:pPr>
            <a:r>
              <a:rPr sz="1800" dirty="0">
                <a:solidFill>
                  <a:srgbClr val="24292E"/>
                </a:solidFill>
                <a:latin typeface="Segoe UI Semibold"/>
                <a:cs typeface="Segoe UI Semibold"/>
              </a:rPr>
              <a:t>10230327</a:t>
            </a:r>
            <a:r>
              <a:rPr sz="1800" spc="-80" dirty="0">
                <a:solidFill>
                  <a:srgbClr val="24292E"/>
                </a:solidFill>
                <a:latin typeface="Segoe UI Semibold"/>
                <a:cs typeface="Segoe UI Semibold"/>
              </a:rPr>
              <a:t> </a:t>
            </a:r>
            <a:r>
              <a:rPr sz="1800" b="1" spc="-20" dirty="0">
                <a:solidFill>
                  <a:srgbClr val="24292E"/>
                </a:solidFill>
                <a:latin typeface="Microsoft YaHei"/>
                <a:cs typeface="Microsoft YaHei"/>
              </a:rPr>
              <a:t>屈良煜</a:t>
            </a:r>
            <a:endParaRPr sz="1800">
              <a:latin typeface="Microsoft YaHei"/>
              <a:cs typeface="Microsoft YaHei"/>
            </a:endParaRPr>
          </a:p>
          <a:p>
            <a:pPr marL="12700">
              <a:lnSpc>
                <a:spcPct val="100000"/>
              </a:lnSpc>
              <a:spcBef>
                <a:spcPts val="2490"/>
              </a:spcBef>
            </a:pPr>
            <a:r>
              <a:rPr sz="1800" b="1" spc="-5" dirty="0">
                <a:solidFill>
                  <a:srgbClr val="24292E"/>
                </a:solidFill>
                <a:latin typeface="Microsoft YaHei"/>
                <a:cs typeface="Microsoft YaHei"/>
              </a:rPr>
              <a:t>一、本项目原理：</a:t>
            </a:r>
            <a:r>
              <a:rPr sz="1800" spc="-20" dirty="0">
                <a:solidFill>
                  <a:srgbClr val="24292E"/>
                </a:solidFill>
                <a:latin typeface="Segoe UI Semibold"/>
                <a:cs typeface="Segoe UI Semibold"/>
              </a:rPr>
              <a:t>LDA</a:t>
            </a:r>
            <a:r>
              <a:rPr sz="1800" b="1" spc="-15" dirty="0">
                <a:solidFill>
                  <a:srgbClr val="24292E"/>
                </a:solidFill>
                <a:latin typeface="Microsoft YaHei"/>
                <a:cs typeface="Microsoft YaHei"/>
              </a:rPr>
              <a:t>模型简述</a:t>
            </a:r>
            <a:endParaRPr sz="1800">
              <a:latin typeface="Microsoft YaHei"/>
              <a:cs typeface="Microsoft YaHei"/>
            </a:endParaRPr>
          </a:p>
        </p:txBody>
      </p:sp>
      <p:sp>
        <p:nvSpPr>
          <p:cNvPr id="4" name="object 4"/>
          <p:cNvSpPr txBox="1">
            <a:spLocks noGrp="1"/>
          </p:cNvSpPr>
          <p:nvPr>
            <p:ph type="body" idx="1"/>
          </p:nvPr>
        </p:nvSpPr>
        <p:spPr>
          <a:prstGeom prst="rect">
            <a:avLst/>
          </a:prstGeom>
        </p:spPr>
        <p:txBody>
          <a:bodyPr vert="horz" wrap="square" lIns="0" tIns="12700" rIns="0" bIns="0" rtlCol="0">
            <a:spAutoFit/>
          </a:bodyPr>
          <a:lstStyle/>
          <a:p>
            <a:pPr marL="25400">
              <a:lnSpc>
                <a:spcPct val="100000"/>
              </a:lnSpc>
              <a:spcBef>
                <a:spcPts val="100"/>
              </a:spcBef>
            </a:pPr>
            <a:r>
              <a:rPr spc="-20" dirty="0">
                <a:latin typeface="Segoe UI"/>
                <a:cs typeface="Segoe UI"/>
              </a:rPr>
              <a:t>LDA</a:t>
            </a:r>
            <a:r>
              <a:rPr spc="-5" dirty="0"/>
              <a:t>将文档生成过程建模成一个概率图模型，即假设文档是由多个单词混合生成的，其中单词的出现是由潜在主题决定的。具体过程如下：</a:t>
            </a:r>
          </a:p>
          <a:p>
            <a:pPr marL="328930" marR="616585" indent="-156210">
              <a:lnSpc>
                <a:spcPct val="107800"/>
              </a:lnSpc>
              <a:spcBef>
                <a:spcPts val="1175"/>
              </a:spcBef>
              <a:buFont typeface="Segoe UI"/>
              <a:buAutoNum type="arabicPeriod"/>
              <a:tabLst>
                <a:tab pos="330200" algn="l"/>
              </a:tabLst>
            </a:pPr>
            <a:r>
              <a:rPr dirty="0"/>
              <a:t>假设每篇文档的主题分布服从一个狄利克雷分布</a:t>
            </a:r>
            <a:r>
              <a:rPr spc="-45" dirty="0"/>
              <a:t>（</a:t>
            </a:r>
            <a:r>
              <a:rPr sz="1450" i="1" spc="-45" dirty="0">
                <a:latin typeface="Palatino Linotype"/>
                <a:cs typeface="Palatino Linotype"/>
              </a:rPr>
              <a:t>θ</a:t>
            </a:r>
            <a:r>
              <a:rPr sz="1450" i="1" spc="70" dirty="0">
                <a:latin typeface="Palatino Linotype"/>
                <a:cs typeface="Palatino Linotype"/>
              </a:rPr>
              <a:t> </a:t>
            </a:r>
            <a:r>
              <a:rPr sz="1450" spc="80" dirty="0">
                <a:latin typeface="Cambria"/>
                <a:cs typeface="Cambria"/>
              </a:rPr>
              <a:t>∼ </a:t>
            </a:r>
            <a:r>
              <a:rPr sz="1450" dirty="0">
                <a:latin typeface="Cambria"/>
                <a:cs typeface="Cambria"/>
              </a:rPr>
              <a:t>Dirichlet(</a:t>
            </a:r>
            <a:r>
              <a:rPr sz="1450" i="1" dirty="0">
                <a:latin typeface="Palatino Linotype"/>
                <a:cs typeface="Palatino Linotype"/>
              </a:rPr>
              <a:t>α</a:t>
            </a:r>
            <a:r>
              <a:rPr sz="1450" dirty="0">
                <a:latin typeface="Cambria"/>
                <a:cs typeface="Cambria"/>
              </a:rPr>
              <a:t>)</a:t>
            </a:r>
            <a:r>
              <a:rPr dirty="0">
                <a:latin typeface="Segoe UI"/>
                <a:cs typeface="Segoe UI"/>
              </a:rPr>
              <a:t>)</a:t>
            </a:r>
            <a:r>
              <a:rPr dirty="0"/>
              <a:t>，每个主题的单词分布也服从一个狄利克雷分布（</a:t>
            </a:r>
            <a:r>
              <a:rPr sz="1450" i="1" dirty="0">
                <a:latin typeface="Palatino Linotype"/>
                <a:cs typeface="Palatino Linotype"/>
              </a:rPr>
              <a:t>ϕ</a:t>
            </a:r>
            <a:r>
              <a:rPr sz="1450" i="1" spc="35" dirty="0">
                <a:latin typeface="Palatino Linotype"/>
                <a:cs typeface="Palatino Linotype"/>
              </a:rPr>
              <a:t> </a:t>
            </a:r>
            <a:r>
              <a:rPr sz="1450" spc="30" dirty="0">
                <a:latin typeface="Cambria"/>
                <a:cs typeface="Cambria"/>
              </a:rPr>
              <a:t>∼ 	</a:t>
            </a:r>
            <a:r>
              <a:rPr sz="1450" spc="-10" dirty="0">
                <a:latin typeface="Cambria"/>
                <a:cs typeface="Cambria"/>
              </a:rPr>
              <a:t>Dirichlet(</a:t>
            </a:r>
            <a:r>
              <a:rPr sz="1450" i="1" spc="-10" dirty="0">
                <a:latin typeface="Palatino Linotype"/>
                <a:cs typeface="Palatino Linotype"/>
              </a:rPr>
              <a:t>α</a:t>
            </a:r>
            <a:r>
              <a:rPr sz="1450" spc="-10" dirty="0">
                <a:latin typeface="Cambria"/>
                <a:cs typeface="Cambria"/>
              </a:rPr>
              <a:t>)</a:t>
            </a:r>
            <a:r>
              <a:rPr spc="-10" dirty="0">
                <a:latin typeface="Segoe UI"/>
                <a:cs typeface="Segoe UI"/>
              </a:rPr>
              <a:t>)</a:t>
            </a:r>
            <a:endParaRPr sz="1450">
              <a:latin typeface="Segoe UI"/>
              <a:cs typeface="Segoe UI"/>
            </a:endParaRPr>
          </a:p>
          <a:p>
            <a:pPr marL="328930" indent="-156210">
              <a:lnSpc>
                <a:spcPct val="100000"/>
              </a:lnSpc>
              <a:spcBef>
                <a:spcPts val="1335"/>
              </a:spcBef>
              <a:buFont typeface="Segoe UI"/>
              <a:buAutoNum type="arabicPeriod"/>
              <a:tabLst>
                <a:tab pos="328930" algn="l"/>
              </a:tabLst>
            </a:pPr>
            <a:r>
              <a:rPr dirty="0"/>
              <a:t>对于每篇文档，我们先从主题分布</a:t>
            </a:r>
            <a:r>
              <a:rPr spc="-65" dirty="0"/>
              <a:t>（</a:t>
            </a:r>
            <a:r>
              <a:rPr sz="1450" i="1" spc="-65" dirty="0">
                <a:latin typeface="Palatino Linotype"/>
                <a:cs typeface="Palatino Linotype"/>
              </a:rPr>
              <a:t>θ</a:t>
            </a:r>
            <a:r>
              <a:rPr spc="-65" dirty="0"/>
              <a:t>）</a:t>
            </a:r>
            <a:r>
              <a:rPr dirty="0"/>
              <a:t>中抽取一个主题记作（</a:t>
            </a:r>
            <a:r>
              <a:rPr sz="1450" i="1" dirty="0">
                <a:latin typeface="Palatino Linotype"/>
                <a:cs typeface="Palatino Linotype"/>
              </a:rPr>
              <a:t>z</a:t>
            </a:r>
            <a:r>
              <a:rPr dirty="0"/>
              <a:t>），再从主题（</a:t>
            </a:r>
            <a:r>
              <a:rPr sz="1450" i="1" dirty="0">
                <a:latin typeface="Palatino Linotype"/>
                <a:cs typeface="Palatino Linotype"/>
              </a:rPr>
              <a:t>z</a:t>
            </a:r>
            <a:r>
              <a:rPr dirty="0"/>
              <a:t>）的单词分布</a:t>
            </a:r>
            <a:r>
              <a:rPr spc="-35" dirty="0"/>
              <a:t>（</a:t>
            </a:r>
            <a:r>
              <a:rPr sz="1450" i="1" spc="-35" dirty="0">
                <a:latin typeface="Palatino Linotype"/>
                <a:cs typeface="Palatino Linotype"/>
              </a:rPr>
              <a:t>ϕ</a:t>
            </a:r>
            <a:r>
              <a:rPr sz="1500" i="1" spc="-52" baseline="-13888" dirty="0">
                <a:latin typeface="Palatino Linotype"/>
                <a:cs typeface="Palatino Linotype"/>
              </a:rPr>
              <a:t>z</a:t>
            </a:r>
            <a:r>
              <a:rPr sz="1500" i="1" spc="142" baseline="-13888" dirty="0">
                <a:latin typeface="Palatino Linotype"/>
                <a:cs typeface="Palatino Linotype"/>
              </a:rPr>
              <a:t> </a:t>
            </a:r>
            <a:r>
              <a:rPr sz="1200" dirty="0"/>
              <a:t>）</a:t>
            </a:r>
            <a:r>
              <a:rPr sz="1200" spc="-10" dirty="0"/>
              <a:t>中抽取一个单词。</a:t>
            </a:r>
            <a:endParaRPr sz="1200">
              <a:latin typeface="Palatino Linotype"/>
              <a:cs typeface="Palatino Linotype"/>
            </a:endParaRPr>
          </a:p>
          <a:p>
            <a:pPr marL="328930" indent="-156210">
              <a:lnSpc>
                <a:spcPct val="100000"/>
              </a:lnSpc>
              <a:spcBef>
                <a:spcPts val="1410"/>
              </a:spcBef>
              <a:buFont typeface="Segoe UI"/>
              <a:buAutoNum type="arabicPeriod"/>
              <a:tabLst>
                <a:tab pos="328930" algn="l"/>
              </a:tabLst>
            </a:pPr>
            <a:r>
              <a:rPr dirty="0"/>
              <a:t>则给定</a:t>
            </a:r>
            <a:r>
              <a:rPr spc="120" dirty="0"/>
              <a:t>（</a:t>
            </a:r>
            <a:r>
              <a:rPr sz="1450" i="1" spc="120" dirty="0">
                <a:latin typeface="Palatino Linotype"/>
                <a:cs typeface="Palatino Linotype"/>
              </a:rPr>
              <a:t>K</a:t>
            </a:r>
            <a:r>
              <a:rPr spc="120" dirty="0"/>
              <a:t>）</a:t>
            </a:r>
            <a:r>
              <a:rPr dirty="0"/>
              <a:t>个主题和文档（</a:t>
            </a:r>
            <a:r>
              <a:rPr sz="1450" i="1" dirty="0">
                <a:latin typeface="Palatino Linotype"/>
                <a:cs typeface="Palatino Linotype"/>
              </a:rPr>
              <a:t>d</a:t>
            </a:r>
            <a:r>
              <a:rPr dirty="0"/>
              <a:t>），文档中由</a:t>
            </a:r>
            <a:r>
              <a:rPr dirty="0">
                <a:latin typeface="Segoe UI"/>
                <a:cs typeface="Segoe UI"/>
              </a:rPr>
              <a:t>n</a:t>
            </a:r>
            <a:r>
              <a:rPr dirty="0"/>
              <a:t>个词语组成的文本</a:t>
            </a:r>
            <a:r>
              <a:rPr spc="-30" dirty="0"/>
              <a:t>（</a:t>
            </a:r>
            <a:r>
              <a:rPr sz="1450" i="1" spc="-30" dirty="0">
                <a:latin typeface="Palatino Linotype"/>
                <a:cs typeface="Palatino Linotype"/>
              </a:rPr>
              <a:t>ω</a:t>
            </a:r>
            <a:r>
              <a:rPr spc="-30" dirty="0"/>
              <a:t>）</a:t>
            </a:r>
            <a:r>
              <a:rPr spc="-10" dirty="0"/>
              <a:t>被生成的概率为：</a:t>
            </a:r>
            <a:endParaRPr sz="1450">
              <a:latin typeface="Palatino Linotype"/>
              <a:cs typeface="Palatino Linotype"/>
            </a:endParaRPr>
          </a:p>
        </p:txBody>
      </p:sp>
      <p:sp>
        <p:nvSpPr>
          <p:cNvPr id="5" name="object 5"/>
          <p:cNvSpPr txBox="1"/>
          <p:nvPr/>
        </p:nvSpPr>
        <p:spPr>
          <a:xfrm>
            <a:off x="1706901" y="4738254"/>
            <a:ext cx="940435" cy="208915"/>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24292E"/>
                </a:solidFill>
                <a:latin typeface="Microsoft YaHei"/>
                <a:cs typeface="Microsoft YaHei"/>
              </a:rPr>
              <a:t>（边缘似然</a:t>
            </a:r>
            <a:r>
              <a:rPr sz="1200" spc="-50" dirty="0">
                <a:solidFill>
                  <a:srgbClr val="24292E"/>
                </a:solidFill>
                <a:latin typeface="Microsoft YaHei"/>
                <a:cs typeface="Microsoft YaHei"/>
              </a:rPr>
              <a:t>）</a:t>
            </a:r>
            <a:endParaRPr sz="1200">
              <a:latin typeface="Microsoft YaHei"/>
              <a:cs typeface="Microsoft YaHei"/>
            </a:endParaRPr>
          </a:p>
        </p:txBody>
      </p:sp>
      <p:sp>
        <p:nvSpPr>
          <p:cNvPr id="6" name="object 6"/>
          <p:cNvSpPr txBox="1"/>
          <p:nvPr/>
        </p:nvSpPr>
        <p:spPr>
          <a:xfrm>
            <a:off x="1402014" y="5186057"/>
            <a:ext cx="3108960" cy="845185"/>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24292E"/>
                </a:solidFill>
                <a:latin typeface="Microsoft YaHei"/>
                <a:cs typeface="Microsoft YaHei"/>
              </a:rPr>
              <a:t>二、</a:t>
            </a:r>
            <a:r>
              <a:rPr sz="1800" dirty="0">
                <a:solidFill>
                  <a:srgbClr val="24292E"/>
                </a:solidFill>
                <a:latin typeface="Segoe UI Semibold"/>
                <a:cs typeface="Segoe UI Semibold"/>
              </a:rPr>
              <a:t>Dirichlet</a:t>
            </a:r>
            <a:r>
              <a:rPr sz="1800" spc="-50" dirty="0">
                <a:solidFill>
                  <a:srgbClr val="24292E"/>
                </a:solidFill>
                <a:latin typeface="Segoe UI Semibold"/>
                <a:cs typeface="Segoe UI Semibold"/>
              </a:rPr>
              <a:t> </a:t>
            </a:r>
            <a:r>
              <a:rPr sz="1800" spc="-10" dirty="0">
                <a:solidFill>
                  <a:srgbClr val="24292E"/>
                </a:solidFill>
                <a:latin typeface="Segoe UI Semibold"/>
                <a:cs typeface="Segoe UI Semibold"/>
              </a:rPr>
              <a:t>Distribution</a:t>
            </a:r>
            <a:r>
              <a:rPr sz="1800" b="1" spc="-25" dirty="0">
                <a:solidFill>
                  <a:srgbClr val="24292E"/>
                </a:solidFill>
                <a:latin typeface="Microsoft YaHei"/>
                <a:cs typeface="Microsoft YaHei"/>
              </a:rPr>
              <a:t>概述</a:t>
            </a:r>
            <a:endParaRPr sz="1800">
              <a:latin typeface="Microsoft YaHei"/>
              <a:cs typeface="Microsoft YaHei"/>
            </a:endParaRPr>
          </a:p>
          <a:p>
            <a:pPr marL="12700">
              <a:lnSpc>
                <a:spcPct val="100000"/>
              </a:lnSpc>
              <a:spcBef>
                <a:spcPts val="2490"/>
              </a:spcBef>
            </a:pPr>
            <a:r>
              <a:rPr sz="1500" b="1" spc="-15" dirty="0">
                <a:solidFill>
                  <a:srgbClr val="24292E"/>
                </a:solidFill>
                <a:latin typeface="Microsoft YaHei"/>
                <a:cs typeface="Microsoft YaHei"/>
              </a:rPr>
              <a:t>密度函数</a:t>
            </a:r>
            <a:endParaRPr sz="1500">
              <a:latin typeface="Microsoft YaHei"/>
              <a:cs typeface="Microsoft YaHei"/>
            </a:endParaRPr>
          </a:p>
        </p:txBody>
      </p:sp>
      <p:sp>
        <p:nvSpPr>
          <p:cNvPr id="7" name="object 7"/>
          <p:cNvSpPr txBox="1"/>
          <p:nvPr/>
        </p:nvSpPr>
        <p:spPr>
          <a:xfrm>
            <a:off x="1706901" y="4315605"/>
            <a:ext cx="870585" cy="247015"/>
          </a:xfrm>
          <a:prstGeom prst="rect">
            <a:avLst/>
          </a:prstGeom>
        </p:spPr>
        <p:txBody>
          <a:bodyPr vert="horz" wrap="square" lIns="0" tIns="12700" rIns="0" bIns="0" rtlCol="0">
            <a:spAutoFit/>
          </a:bodyPr>
          <a:lstStyle/>
          <a:p>
            <a:pPr marL="12700">
              <a:lnSpc>
                <a:spcPct val="100000"/>
              </a:lnSpc>
              <a:spcBef>
                <a:spcPts val="100"/>
              </a:spcBef>
            </a:pPr>
            <a:r>
              <a:rPr sz="1450" i="1" dirty="0">
                <a:solidFill>
                  <a:srgbClr val="24292E"/>
                </a:solidFill>
                <a:latin typeface="Palatino Linotype"/>
                <a:cs typeface="Palatino Linotype"/>
              </a:rPr>
              <a:t>P</a:t>
            </a:r>
            <a:r>
              <a:rPr sz="1450" i="1" spc="-150" dirty="0">
                <a:solidFill>
                  <a:srgbClr val="24292E"/>
                </a:solidFill>
                <a:latin typeface="Palatino Linotype"/>
                <a:cs typeface="Palatino Linotype"/>
              </a:rPr>
              <a:t> </a:t>
            </a:r>
            <a:r>
              <a:rPr sz="1450" dirty="0">
                <a:solidFill>
                  <a:srgbClr val="24292E"/>
                </a:solidFill>
                <a:latin typeface="Cambria"/>
                <a:cs typeface="Cambria"/>
              </a:rPr>
              <a:t>(</a:t>
            </a:r>
            <a:r>
              <a:rPr sz="1450" i="1" dirty="0">
                <a:solidFill>
                  <a:srgbClr val="24292E"/>
                </a:solidFill>
                <a:latin typeface="Palatino Linotype"/>
                <a:cs typeface="Palatino Linotype"/>
              </a:rPr>
              <a:t>w</a:t>
            </a:r>
            <a:r>
              <a:rPr sz="1450" dirty="0">
                <a:solidFill>
                  <a:srgbClr val="24292E"/>
                </a:solidFill>
                <a:latin typeface="Cambria"/>
                <a:cs typeface="Cambria"/>
              </a:rPr>
              <a:t>)</a:t>
            </a:r>
            <a:r>
              <a:rPr sz="1450" spc="114" dirty="0">
                <a:solidFill>
                  <a:srgbClr val="24292E"/>
                </a:solidFill>
                <a:latin typeface="Cambria"/>
                <a:cs typeface="Cambria"/>
              </a:rPr>
              <a:t> </a:t>
            </a:r>
            <a:r>
              <a:rPr sz="1450" spc="325" dirty="0">
                <a:solidFill>
                  <a:srgbClr val="24292E"/>
                </a:solidFill>
                <a:latin typeface="Cambria"/>
                <a:cs typeface="Cambria"/>
              </a:rPr>
              <a:t>=</a:t>
            </a:r>
            <a:r>
              <a:rPr sz="1450" spc="125" dirty="0">
                <a:solidFill>
                  <a:srgbClr val="24292E"/>
                </a:solidFill>
                <a:latin typeface="Cambria"/>
                <a:cs typeface="Cambria"/>
              </a:rPr>
              <a:t> </a:t>
            </a:r>
            <a:r>
              <a:rPr sz="1450" spc="125" dirty="0">
                <a:solidFill>
                  <a:srgbClr val="24292E"/>
                </a:solidFill>
                <a:latin typeface="Times New Roman"/>
                <a:cs typeface="Times New Roman"/>
              </a:rPr>
              <a:t>∏</a:t>
            </a:r>
            <a:endParaRPr sz="1450">
              <a:latin typeface="Times New Roman"/>
              <a:cs typeface="Times New Roman"/>
            </a:endParaRPr>
          </a:p>
        </p:txBody>
      </p:sp>
      <p:sp>
        <p:nvSpPr>
          <p:cNvPr id="8" name="object 8"/>
          <p:cNvSpPr txBox="1"/>
          <p:nvPr/>
        </p:nvSpPr>
        <p:spPr>
          <a:xfrm>
            <a:off x="2551891" y="4428127"/>
            <a:ext cx="739140" cy="180340"/>
          </a:xfrm>
          <a:prstGeom prst="rect">
            <a:avLst/>
          </a:prstGeom>
        </p:spPr>
        <p:txBody>
          <a:bodyPr vert="horz" wrap="square" lIns="0" tIns="14604" rIns="0" bIns="0" rtlCol="0">
            <a:spAutoFit/>
          </a:bodyPr>
          <a:lstStyle/>
          <a:p>
            <a:pPr marL="12700">
              <a:lnSpc>
                <a:spcPct val="100000"/>
              </a:lnSpc>
              <a:spcBef>
                <a:spcPts val="114"/>
              </a:spcBef>
              <a:tabLst>
                <a:tab pos="494665" algn="l"/>
              </a:tabLst>
            </a:pPr>
            <a:r>
              <a:rPr sz="1000" i="1" spc="50" dirty="0">
                <a:solidFill>
                  <a:srgbClr val="24292E"/>
                </a:solidFill>
                <a:latin typeface="Palatino Linotype"/>
                <a:cs typeface="Palatino Linotype"/>
              </a:rPr>
              <a:t>n</a:t>
            </a:r>
            <a:r>
              <a:rPr sz="1000" spc="50" dirty="0">
                <a:solidFill>
                  <a:srgbClr val="24292E"/>
                </a:solidFill>
                <a:latin typeface="Cambria"/>
                <a:cs typeface="Cambria"/>
              </a:rPr>
              <a:t>=1</a:t>
            </a:r>
            <a:r>
              <a:rPr sz="1000" dirty="0">
                <a:solidFill>
                  <a:srgbClr val="24292E"/>
                </a:solidFill>
                <a:latin typeface="Cambria"/>
                <a:cs typeface="Cambria"/>
              </a:rPr>
              <a:t>	</a:t>
            </a:r>
            <a:r>
              <a:rPr sz="1000" i="1" spc="55" dirty="0">
                <a:solidFill>
                  <a:srgbClr val="24292E"/>
                </a:solidFill>
                <a:latin typeface="Palatino Linotype"/>
                <a:cs typeface="Palatino Linotype"/>
              </a:rPr>
              <a:t>z</a:t>
            </a:r>
            <a:r>
              <a:rPr sz="1000" spc="55" dirty="0">
                <a:solidFill>
                  <a:srgbClr val="24292E"/>
                </a:solidFill>
                <a:latin typeface="Cambria"/>
                <a:cs typeface="Cambria"/>
              </a:rPr>
              <a:t>=1</a:t>
            </a:r>
            <a:endParaRPr sz="1000">
              <a:latin typeface="Cambria"/>
              <a:cs typeface="Cambria"/>
            </a:endParaRPr>
          </a:p>
        </p:txBody>
      </p:sp>
      <p:sp>
        <p:nvSpPr>
          <p:cNvPr id="9" name="object 9"/>
          <p:cNvSpPr txBox="1"/>
          <p:nvPr/>
        </p:nvSpPr>
        <p:spPr>
          <a:xfrm>
            <a:off x="2551891" y="4275683"/>
            <a:ext cx="617855" cy="180340"/>
          </a:xfrm>
          <a:prstGeom prst="rect">
            <a:avLst/>
          </a:prstGeom>
        </p:spPr>
        <p:txBody>
          <a:bodyPr vert="horz" wrap="square" lIns="0" tIns="14604" rIns="0" bIns="0" rtlCol="0">
            <a:spAutoFit/>
          </a:bodyPr>
          <a:lstStyle/>
          <a:p>
            <a:pPr marL="12700">
              <a:lnSpc>
                <a:spcPct val="100000"/>
              </a:lnSpc>
              <a:spcBef>
                <a:spcPts val="114"/>
              </a:spcBef>
              <a:tabLst>
                <a:tab pos="494665" algn="l"/>
              </a:tabLst>
            </a:pPr>
            <a:r>
              <a:rPr sz="1000" i="1" spc="-50" dirty="0">
                <a:solidFill>
                  <a:srgbClr val="24292E"/>
                </a:solidFill>
                <a:latin typeface="Palatino Linotype"/>
                <a:cs typeface="Palatino Linotype"/>
              </a:rPr>
              <a:t>N</a:t>
            </a:r>
            <a:r>
              <a:rPr sz="1000" i="1" dirty="0">
                <a:solidFill>
                  <a:srgbClr val="24292E"/>
                </a:solidFill>
                <a:latin typeface="Palatino Linotype"/>
                <a:cs typeface="Palatino Linotype"/>
              </a:rPr>
              <a:t>	</a:t>
            </a:r>
            <a:r>
              <a:rPr sz="1000" i="1" spc="145" dirty="0">
                <a:solidFill>
                  <a:srgbClr val="24292E"/>
                </a:solidFill>
                <a:latin typeface="Palatino Linotype"/>
                <a:cs typeface="Palatino Linotype"/>
              </a:rPr>
              <a:t>K</a:t>
            </a:r>
            <a:endParaRPr sz="1000">
              <a:latin typeface="Palatino Linotype"/>
              <a:cs typeface="Palatino Linotype"/>
            </a:endParaRPr>
          </a:p>
        </p:txBody>
      </p:sp>
      <p:sp>
        <p:nvSpPr>
          <p:cNvPr id="10" name="object 10"/>
          <p:cNvSpPr txBox="1"/>
          <p:nvPr/>
        </p:nvSpPr>
        <p:spPr>
          <a:xfrm>
            <a:off x="2814407" y="4315605"/>
            <a:ext cx="2318385" cy="247015"/>
          </a:xfrm>
          <a:prstGeom prst="rect">
            <a:avLst/>
          </a:prstGeom>
        </p:spPr>
        <p:txBody>
          <a:bodyPr vert="horz" wrap="square" lIns="0" tIns="12700" rIns="0" bIns="0" rtlCol="0">
            <a:spAutoFit/>
          </a:bodyPr>
          <a:lstStyle/>
          <a:p>
            <a:pPr marL="38100">
              <a:lnSpc>
                <a:spcPct val="100000"/>
              </a:lnSpc>
              <a:spcBef>
                <a:spcPts val="100"/>
              </a:spcBef>
              <a:tabLst>
                <a:tab pos="510540" algn="l"/>
              </a:tabLst>
            </a:pPr>
            <a:r>
              <a:rPr sz="1450" spc="434" dirty="0">
                <a:solidFill>
                  <a:srgbClr val="24292E"/>
                </a:solidFill>
                <a:latin typeface="Times New Roman"/>
                <a:cs typeface="Times New Roman"/>
              </a:rPr>
              <a:t>∑</a:t>
            </a:r>
            <a:r>
              <a:rPr sz="1450" dirty="0">
                <a:solidFill>
                  <a:srgbClr val="24292E"/>
                </a:solidFill>
                <a:latin typeface="Times New Roman"/>
                <a:cs typeface="Times New Roman"/>
              </a:rPr>
              <a:t>	</a:t>
            </a:r>
            <a:r>
              <a:rPr sz="1450" i="1" dirty="0">
                <a:solidFill>
                  <a:srgbClr val="24292E"/>
                </a:solidFill>
                <a:latin typeface="Palatino Linotype"/>
                <a:cs typeface="Palatino Linotype"/>
              </a:rPr>
              <a:t>P</a:t>
            </a:r>
            <a:r>
              <a:rPr sz="1450" i="1" spc="-155" dirty="0">
                <a:solidFill>
                  <a:srgbClr val="24292E"/>
                </a:solidFill>
                <a:latin typeface="Palatino Linotype"/>
                <a:cs typeface="Palatino Linotype"/>
              </a:rPr>
              <a:t> </a:t>
            </a:r>
            <a:r>
              <a:rPr sz="1450" dirty="0">
                <a:solidFill>
                  <a:srgbClr val="24292E"/>
                </a:solidFill>
                <a:latin typeface="Cambria"/>
                <a:cs typeface="Cambria"/>
              </a:rPr>
              <a:t>(</a:t>
            </a:r>
            <a:r>
              <a:rPr sz="1450" i="1" dirty="0">
                <a:solidFill>
                  <a:srgbClr val="24292E"/>
                </a:solidFill>
                <a:latin typeface="Palatino Linotype"/>
                <a:cs typeface="Palatino Linotype"/>
              </a:rPr>
              <a:t>w</a:t>
            </a:r>
            <a:r>
              <a:rPr sz="1500" i="1" baseline="-13888" dirty="0">
                <a:solidFill>
                  <a:srgbClr val="24292E"/>
                </a:solidFill>
                <a:latin typeface="Palatino Linotype"/>
                <a:cs typeface="Palatino Linotype"/>
              </a:rPr>
              <a:t>n</a:t>
            </a:r>
            <a:r>
              <a:rPr sz="1500" i="1" spc="427" baseline="-13888" dirty="0">
                <a:solidFill>
                  <a:srgbClr val="24292E"/>
                </a:solidFill>
                <a:latin typeface="Palatino Linotype"/>
                <a:cs typeface="Palatino Linotype"/>
              </a:rPr>
              <a:t> </a:t>
            </a:r>
            <a:r>
              <a:rPr sz="1450" dirty="0">
                <a:solidFill>
                  <a:srgbClr val="24292E"/>
                </a:solidFill>
                <a:latin typeface="Cambria"/>
                <a:cs typeface="Cambria"/>
              </a:rPr>
              <a:t>∣</a:t>
            </a:r>
            <a:r>
              <a:rPr sz="1450" spc="120" dirty="0">
                <a:solidFill>
                  <a:srgbClr val="24292E"/>
                </a:solidFill>
                <a:latin typeface="Cambria"/>
                <a:cs typeface="Cambria"/>
              </a:rPr>
              <a:t> </a:t>
            </a:r>
            <a:r>
              <a:rPr sz="1450" i="1" spc="50" dirty="0">
                <a:solidFill>
                  <a:srgbClr val="24292E"/>
                </a:solidFill>
                <a:latin typeface="Palatino Linotype"/>
                <a:cs typeface="Palatino Linotype"/>
              </a:rPr>
              <a:t>z</a:t>
            </a:r>
            <a:r>
              <a:rPr sz="1450" spc="50" dirty="0">
                <a:solidFill>
                  <a:srgbClr val="24292E"/>
                </a:solidFill>
                <a:latin typeface="Cambria"/>
                <a:cs typeface="Cambria"/>
              </a:rPr>
              <a:t>;</a:t>
            </a:r>
            <a:r>
              <a:rPr sz="1450" spc="-65" dirty="0">
                <a:solidFill>
                  <a:srgbClr val="24292E"/>
                </a:solidFill>
                <a:latin typeface="Cambria"/>
                <a:cs typeface="Cambria"/>
              </a:rPr>
              <a:t> </a:t>
            </a:r>
            <a:r>
              <a:rPr sz="1450" i="1" spc="-30" dirty="0">
                <a:solidFill>
                  <a:srgbClr val="24292E"/>
                </a:solidFill>
                <a:latin typeface="Palatino Linotype"/>
                <a:cs typeface="Palatino Linotype"/>
              </a:rPr>
              <a:t>ϕ</a:t>
            </a:r>
            <a:r>
              <a:rPr sz="1450" spc="-30" dirty="0">
                <a:solidFill>
                  <a:srgbClr val="24292E"/>
                </a:solidFill>
                <a:latin typeface="Cambria"/>
                <a:cs typeface="Cambria"/>
              </a:rPr>
              <a:t>)</a:t>
            </a:r>
            <a:r>
              <a:rPr sz="1450" i="1" spc="-30" dirty="0">
                <a:solidFill>
                  <a:srgbClr val="24292E"/>
                </a:solidFill>
                <a:latin typeface="Palatino Linotype"/>
                <a:cs typeface="Palatino Linotype"/>
              </a:rPr>
              <a:t>P</a:t>
            </a:r>
            <a:r>
              <a:rPr sz="1450" i="1" spc="-155" dirty="0">
                <a:solidFill>
                  <a:srgbClr val="24292E"/>
                </a:solidFill>
                <a:latin typeface="Palatino Linotype"/>
                <a:cs typeface="Palatino Linotype"/>
              </a:rPr>
              <a:t> </a:t>
            </a:r>
            <a:r>
              <a:rPr sz="1450" dirty="0">
                <a:solidFill>
                  <a:srgbClr val="24292E"/>
                </a:solidFill>
                <a:latin typeface="Cambria"/>
                <a:cs typeface="Cambria"/>
              </a:rPr>
              <a:t>(</a:t>
            </a:r>
            <a:r>
              <a:rPr sz="1450" i="1" dirty="0">
                <a:solidFill>
                  <a:srgbClr val="24292E"/>
                </a:solidFill>
                <a:latin typeface="Palatino Linotype"/>
                <a:cs typeface="Palatino Linotype"/>
              </a:rPr>
              <a:t>z</a:t>
            </a:r>
            <a:r>
              <a:rPr sz="1450" i="1" spc="130" dirty="0">
                <a:solidFill>
                  <a:srgbClr val="24292E"/>
                </a:solidFill>
                <a:latin typeface="Palatino Linotype"/>
                <a:cs typeface="Palatino Linotype"/>
              </a:rPr>
              <a:t> </a:t>
            </a:r>
            <a:r>
              <a:rPr sz="1450" dirty="0">
                <a:solidFill>
                  <a:srgbClr val="24292E"/>
                </a:solidFill>
                <a:latin typeface="Cambria"/>
                <a:cs typeface="Cambria"/>
              </a:rPr>
              <a:t>∣</a:t>
            </a:r>
            <a:r>
              <a:rPr sz="1450" spc="120" dirty="0">
                <a:solidFill>
                  <a:srgbClr val="24292E"/>
                </a:solidFill>
                <a:latin typeface="Cambria"/>
                <a:cs typeface="Cambria"/>
              </a:rPr>
              <a:t> </a:t>
            </a:r>
            <a:r>
              <a:rPr sz="1450" i="1" dirty="0">
                <a:solidFill>
                  <a:srgbClr val="24292E"/>
                </a:solidFill>
                <a:latin typeface="Palatino Linotype"/>
                <a:cs typeface="Palatino Linotype"/>
              </a:rPr>
              <a:t>d</a:t>
            </a:r>
            <a:r>
              <a:rPr sz="1450" dirty="0">
                <a:solidFill>
                  <a:srgbClr val="24292E"/>
                </a:solidFill>
                <a:latin typeface="Cambria"/>
                <a:cs typeface="Cambria"/>
              </a:rPr>
              <a:t>;</a:t>
            </a:r>
            <a:r>
              <a:rPr sz="1450" spc="-65" dirty="0">
                <a:solidFill>
                  <a:srgbClr val="24292E"/>
                </a:solidFill>
                <a:latin typeface="Cambria"/>
                <a:cs typeface="Cambria"/>
              </a:rPr>
              <a:t> </a:t>
            </a:r>
            <a:r>
              <a:rPr sz="1450" i="1" spc="-25" dirty="0">
                <a:solidFill>
                  <a:srgbClr val="24292E"/>
                </a:solidFill>
                <a:latin typeface="Palatino Linotype"/>
                <a:cs typeface="Palatino Linotype"/>
              </a:rPr>
              <a:t>θ</a:t>
            </a:r>
            <a:r>
              <a:rPr sz="1450" spc="-25" dirty="0">
                <a:solidFill>
                  <a:srgbClr val="24292E"/>
                </a:solidFill>
                <a:latin typeface="Cambria"/>
                <a:cs typeface="Cambria"/>
              </a:rPr>
              <a:t>)</a:t>
            </a:r>
            <a:endParaRPr sz="1450">
              <a:latin typeface="Cambria"/>
              <a:cs typeface="Cambri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19478" y="599908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3" name="object 3"/>
          <p:cNvSpPr txBox="1"/>
          <p:nvPr/>
        </p:nvSpPr>
        <p:spPr>
          <a:xfrm>
            <a:off x="1376614" y="685542"/>
            <a:ext cx="8604885" cy="637540"/>
          </a:xfrm>
          <a:prstGeom prst="rect">
            <a:avLst/>
          </a:prstGeom>
        </p:spPr>
        <p:txBody>
          <a:bodyPr vert="horz" wrap="square" lIns="0" tIns="12700" rIns="0" bIns="0" rtlCol="0">
            <a:spAutoFit/>
          </a:bodyPr>
          <a:lstStyle/>
          <a:p>
            <a:pPr marL="38100">
              <a:lnSpc>
                <a:spcPct val="100000"/>
              </a:lnSpc>
              <a:spcBef>
                <a:spcPts val="100"/>
              </a:spcBef>
            </a:pPr>
            <a:r>
              <a:rPr sz="1200" spc="-10" dirty="0">
                <a:solidFill>
                  <a:srgbClr val="24292E"/>
                </a:solidFill>
                <a:latin typeface="Microsoft YaHei"/>
                <a:cs typeface="Microsoft YaHei"/>
              </a:rPr>
              <a:t>狄利克雷分布 </a:t>
            </a:r>
            <a:r>
              <a:rPr sz="1450" spc="50" dirty="0">
                <a:solidFill>
                  <a:srgbClr val="24292E"/>
                </a:solidFill>
                <a:latin typeface="Cambria"/>
                <a:cs typeface="Cambria"/>
              </a:rPr>
              <a:t>Dir(</a:t>
            </a:r>
            <a:r>
              <a:rPr sz="1450" b="1" i="1" spc="50" dirty="0">
                <a:solidFill>
                  <a:srgbClr val="24292E"/>
                </a:solidFill>
                <a:latin typeface="Arial"/>
                <a:cs typeface="Arial"/>
              </a:rPr>
              <a:t>α</a:t>
            </a:r>
            <a:r>
              <a:rPr sz="1450" spc="25" dirty="0">
                <a:solidFill>
                  <a:srgbClr val="24292E"/>
                </a:solidFill>
                <a:latin typeface="Cambria"/>
                <a:cs typeface="Cambria"/>
              </a:rPr>
              <a:t>) </a:t>
            </a:r>
            <a:r>
              <a:rPr sz="1200" spc="-10" dirty="0">
                <a:solidFill>
                  <a:srgbClr val="24292E"/>
                </a:solidFill>
                <a:latin typeface="Microsoft YaHei"/>
                <a:cs typeface="Microsoft YaHei"/>
              </a:rPr>
              <a:t>是定义在 </a:t>
            </a:r>
            <a:r>
              <a:rPr sz="1450" i="1" spc="265" dirty="0">
                <a:solidFill>
                  <a:srgbClr val="24292E"/>
                </a:solidFill>
                <a:latin typeface="Palatino Linotype"/>
                <a:cs typeface="Palatino Linotype"/>
              </a:rPr>
              <a:t>K</a:t>
            </a:r>
            <a:r>
              <a:rPr sz="1450" i="1" spc="50" dirty="0">
                <a:solidFill>
                  <a:srgbClr val="24292E"/>
                </a:solidFill>
                <a:latin typeface="Palatino Linotype"/>
                <a:cs typeface="Palatino Linotype"/>
              </a:rPr>
              <a:t> </a:t>
            </a:r>
            <a:r>
              <a:rPr sz="1450" spc="160" dirty="0">
                <a:solidFill>
                  <a:srgbClr val="24292E"/>
                </a:solidFill>
                <a:latin typeface="Cambria"/>
                <a:cs typeface="Cambria"/>
              </a:rPr>
              <a:t>− </a:t>
            </a:r>
            <a:r>
              <a:rPr sz="1450" dirty="0">
                <a:solidFill>
                  <a:srgbClr val="24292E"/>
                </a:solidFill>
                <a:latin typeface="Cambria"/>
                <a:cs typeface="Cambria"/>
              </a:rPr>
              <a:t>1 </a:t>
            </a:r>
            <a:r>
              <a:rPr sz="1200" dirty="0">
                <a:solidFill>
                  <a:srgbClr val="24292E"/>
                </a:solidFill>
                <a:latin typeface="Microsoft YaHei"/>
                <a:cs typeface="Microsoft YaHei"/>
              </a:rPr>
              <a:t>维辛形（</a:t>
            </a:r>
            <a:r>
              <a:rPr sz="1200" dirty="0">
                <a:solidFill>
                  <a:srgbClr val="24292E"/>
                </a:solidFill>
                <a:latin typeface="Segoe UI"/>
                <a:cs typeface="Segoe UI"/>
              </a:rPr>
              <a:t>simplex</a:t>
            </a:r>
            <a:r>
              <a:rPr sz="1200" dirty="0">
                <a:solidFill>
                  <a:srgbClr val="24292E"/>
                </a:solidFill>
                <a:latin typeface="Microsoft YaHei"/>
                <a:cs typeface="Microsoft YaHei"/>
              </a:rPr>
              <a:t>）</a:t>
            </a:r>
            <a:r>
              <a:rPr sz="1200" spc="-5" dirty="0">
                <a:solidFill>
                  <a:srgbClr val="24292E"/>
                </a:solidFill>
                <a:latin typeface="Microsoft YaHei"/>
                <a:cs typeface="Microsoft YaHei"/>
              </a:rPr>
              <a:t>上的连续概率分布，是 </a:t>
            </a:r>
            <a:r>
              <a:rPr sz="1200" dirty="0">
                <a:solidFill>
                  <a:srgbClr val="24292E"/>
                </a:solidFill>
                <a:latin typeface="Segoe UI"/>
                <a:cs typeface="Segoe UI"/>
              </a:rPr>
              <a:t>**Beta</a:t>
            </a:r>
            <a:r>
              <a:rPr sz="1200" spc="-10" dirty="0">
                <a:solidFill>
                  <a:srgbClr val="24292E"/>
                </a:solidFill>
                <a:latin typeface="Segoe UI"/>
                <a:cs typeface="Segoe UI"/>
              </a:rPr>
              <a:t> </a:t>
            </a:r>
            <a:r>
              <a:rPr sz="1200" dirty="0">
                <a:solidFill>
                  <a:srgbClr val="24292E"/>
                </a:solidFill>
                <a:latin typeface="Microsoft YaHei"/>
                <a:cs typeface="Microsoft YaHei"/>
              </a:rPr>
              <a:t>分布在多元</a:t>
            </a:r>
            <a:r>
              <a:rPr sz="1200" spc="130" dirty="0">
                <a:solidFill>
                  <a:srgbClr val="24292E"/>
                </a:solidFill>
                <a:latin typeface="Microsoft YaHei"/>
                <a:cs typeface="Microsoft YaHei"/>
              </a:rPr>
              <a:t>（</a:t>
            </a:r>
            <a:r>
              <a:rPr sz="1450" i="1" spc="130" dirty="0">
                <a:solidFill>
                  <a:srgbClr val="24292E"/>
                </a:solidFill>
                <a:latin typeface="Palatino Linotype"/>
                <a:cs typeface="Palatino Linotype"/>
              </a:rPr>
              <a:t>K</a:t>
            </a:r>
            <a:r>
              <a:rPr sz="1450" i="1" spc="55" dirty="0">
                <a:solidFill>
                  <a:srgbClr val="24292E"/>
                </a:solidFill>
                <a:latin typeface="Palatino Linotype"/>
                <a:cs typeface="Palatino Linotype"/>
              </a:rPr>
              <a:t> </a:t>
            </a:r>
            <a:r>
              <a:rPr sz="1200" dirty="0">
                <a:solidFill>
                  <a:srgbClr val="24292E"/>
                </a:solidFill>
                <a:latin typeface="Microsoft YaHei"/>
                <a:cs typeface="Microsoft YaHei"/>
              </a:rPr>
              <a:t>元）</a:t>
            </a:r>
            <a:r>
              <a:rPr sz="1200" spc="-10" dirty="0">
                <a:solidFill>
                  <a:srgbClr val="24292E"/>
                </a:solidFill>
                <a:latin typeface="Microsoft YaHei"/>
                <a:cs typeface="Microsoft YaHei"/>
              </a:rPr>
              <a:t>情况下的推广。</a:t>
            </a:r>
            <a:endParaRPr sz="1200">
              <a:latin typeface="Microsoft YaHei"/>
              <a:cs typeface="Microsoft YaHei"/>
            </a:endParaRPr>
          </a:p>
          <a:p>
            <a:pPr marL="38100">
              <a:lnSpc>
                <a:spcPct val="100000"/>
              </a:lnSpc>
              <a:spcBef>
                <a:spcPts val="1335"/>
              </a:spcBef>
            </a:pPr>
            <a:r>
              <a:rPr sz="1200" spc="-5" dirty="0">
                <a:solidFill>
                  <a:srgbClr val="24292E"/>
                </a:solidFill>
                <a:latin typeface="Microsoft YaHei"/>
                <a:cs typeface="Microsoft YaHei"/>
              </a:rPr>
              <a:t>假设随机向量 </a:t>
            </a:r>
            <a:r>
              <a:rPr sz="1450" b="1" i="1" dirty="0">
                <a:solidFill>
                  <a:srgbClr val="24292E"/>
                </a:solidFill>
                <a:latin typeface="Arial"/>
                <a:cs typeface="Arial"/>
              </a:rPr>
              <a:t>θ</a:t>
            </a:r>
            <a:r>
              <a:rPr sz="1450" b="1" i="1" spc="75" dirty="0">
                <a:solidFill>
                  <a:srgbClr val="24292E"/>
                </a:solidFill>
                <a:latin typeface="Arial"/>
                <a:cs typeface="Arial"/>
              </a:rPr>
              <a:t> </a:t>
            </a:r>
            <a:r>
              <a:rPr sz="1450" spc="110" dirty="0">
                <a:solidFill>
                  <a:srgbClr val="24292E"/>
                </a:solidFill>
                <a:latin typeface="Cambria"/>
                <a:cs typeface="Cambria"/>
              </a:rPr>
              <a:t>= (</a:t>
            </a:r>
            <a:r>
              <a:rPr sz="1450" i="1" spc="-95" dirty="0">
                <a:solidFill>
                  <a:srgbClr val="24292E"/>
                </a:solidFill>
                <a:latin typeface="Palatino Linotype"/>
                <a:cs typeface="Palatino Linotype"/>
              </a:rPr>
              <a:t>θ</a:t>
            </a:r>
            <a:r>
              <a:rPr sz="1500" spc="-142" baseline="-13888" dirty="0">
                <a:solidFill>
                  <a:srgbClr val="24292E"/>
                </a:solidFill>
                <a:latin typeface="Cambria"/>
                <a:cs typeface="Cambria"/>
              </a:rPr>
              <a:t>1</a:t>
            </a:r>
            <a:r>
              <a:rPr sz="1500" spc="-120" baseline="-13888" dirty="0">
                <a:solidFill>
                  <a:srgbClr val="24292E"/>
                </a:solidFill>
                <a:latin typeface="Cambria"/>
                <a:cs typeface="Cambria"/>
              </a:rPr>
              <a:t> </a:t>
            </a:r>
            <a:r>
              <a:rPr sz="1450" spc="15" dirty="0">
                <a:solidFill>
                  <a:srgbClr val="24292E"/>
                </a:solidFill>
                <a:latin typeface="Cambria"/>
                <a:cs typeface="Cambria"/>
              </a:rPr>
              <a:t>, </a:t>
            </a:r>
            <a:r>
              <a:rPr sz="1450" i="1" spc="-140" dirty="0">
                <a:solidFill>
                  <a:srgbClr val="24292E"/>
                </a:solidFill>
                <a:latin typeface="Palatino Linotype"/>
                <a:cs typeface="Palatino Linotype"/>
              </a:rPr>
              <a:t>θ</a:t>
            </a:r>
            <a:r>
              <a:rPr sz="1500" spc="-209" baseline="-13888" dirty="0">
                <a:solidFill>
                  <a:srgbClr val="24292E"/>
                </a:solidFill>
                <a:latin typeface="Cambria"/>
                <a:cs typeface="Cambria"/>
              </a:rPr>
              <a:t>2</a:t>
            </a:r>
            <a:r>
              <a:rPr sz="1500" spc="-120" baseline="-13888" dirty="0">
                <a:solidFill>
                  <a:srgbClr val="24292E"/>
                </a:solidFill>
                <a:latin typeface="Cambria"/>
                <a:cs typeface="Cambria"/>
              </a:rPr>
              <a:t> </a:t>
            </a:r>
            <a:r>
              <a:rPr sz="1450" spc="95" dirty="0">
                <a:solidFill>
                  <a:srgbClr val="24292E"/>
                </a:solidFill>
                <a:latin typeface="Cambria"/>
                <a:cs typeface="Cambria"/>
              </a:rPr>
              <a:t>, … , </a:t>
            </a:r>
            <a:r>
              <a:rPr sz="1450" i="1" spc="-10" dirty="0">
                <a:solidFill>
                  <a:srgbClr val="24292E"/>
                </a:solidFill>
                <a:latin typeface="Palatino Linotype"/>
                <a:cs typeface="Palatino Linotype"/>
              </a:rPr>
              <a:t>θ</a:t>
            </a:r>
            <a:r>
              <a:rPr sz="1500" i="1" spc="-15" baseline="-13888" dirty="0">
                <a:solidFill>
                  <a:srgbClr val="24292E"/>
                </a:solidFill>
                <a:latin typeface="Palatino Linotype"/>
                <a:cs typeface="Palatino Linotype"/>
              </a:rPr>
              <a:t>K</a:t>
            </a:r>
            <a:r>
              <a:rPr sz="1500" i="1" spc="-135" baseline="-13888" dirty="0">
                <a:solidFill>
                  <a:srgbClr val="24292E"/>
                </a:solidFill>
                <a:latin typeface="Palatino Linotype"/>
                <a:cs typeface="Palatino Linotype"/>
              </a:rPr>
              <a:t> </a:t>
            </a:r>
            <a:r>
              <a:rPr sz="1450" spc="20" dirty="0">
                <a:solidFill>
                  <a:srgbClr val="24292E"/>
                </a:solidFill>
                <a:latin typeface="Cambria"/>
                <a:cs typeface="Cambria"/>
              </a:rPr>
              <a:t>) </a:t>
            </a:r>
            <a:r>
              <a:rPr sz="1200" spc="-5" dirty="0">
                <a:solidFill>
                  <a:srgbClr val="24292E"/>
                </a:solidFill>
                <a:latin typeface="Microsoft YaHei"/>
                <a:cs typeface="Microsoft YaHei"/>
              </a:rPr>
              <a:t>服从 </a:t>
            </a:r>
            <a:r>
              <a:rPr sz="1450" dirty="0">
                <a:solidFill>
                  <a:srgbClr val="24292E"/>
                </a:solidFill>
                <a:latin typeface="Cambria"/>
                <a:cs typeface="Cambria"/>
              </a:rPr>
              <a:t>Dirichlet(</a:t>
            </a:r>
            <a:r>
              <a:rPr sz="1450" b="1" i="1" dirty="0">
                <a:solidFill>
                  <a:srgbClr val="24292E"/>
                </a:solidFill>
                <a:latin typeface="Arial"/>
                <a:cs typeface="Arial"/>
              </a:rPr>
              <a:t>α</a:t>
            </a:r>
            <a:r>
              <a:rPr sz="1450" dirty="0">
                <a:solidFill>
                  <a:srgbClr val="24292E"/>
                </a:solidFill>
                <a:latin typeface="Cambria"/>
                <a:cs typeface="Cambria"/>
              </a:rPr>
              <a:t>)</a:t>
            </a:r>
            <a:r>
              <a:rPr sz="1200" spc="-5" dirty="0">
                <a:solidFill>
                  <a:srgbClr val="24292E"/>
                </a:solidFill>
                <a:latin typeface="Microsoft YaHei"/>
                <a:cs typeface="Microsoft YaHei"/>
              </a:rPr>
              <a:t>，其中 </a:t>
            </a:r>
            <a:r>
              <a:rPr sz="1450" b="1" i="1" spc="195" dirty="0">
                <a:solidFill>
                  <a:srgbClr val="24292E"/>
                </a:solidFill>
                <a:latin typeface="Arial"/>
                <a:cs typeface="Arial"/>
              </a:rPr>
              <a:t>α</a:t>
            </a:r>
            <a:r>
              <a:rPr sz="1450" b="1" i="1" spc="20" dirty="0">
                <a:solidFill>
                  <a:srgbClr val="24292E"/>
                </a:solidFill>
                <a:latin typeface="Arial"/>
                <a:cs typeface="Arial"/>
              </a:rPr>
              <a:t> </a:t>
            </a:r>
            <a:r>
              <a:rPr sz="1450" spc="145" dirty="0">
                <a:solidFill>
                  <a:srgbClr val="24292E"/>
                </a:solidFill>
                <a:latin typeface="Cambria"/>
                <a:cs typeface="Cambria"/>
              </a:rPr>
              <a:t>= (</a:t>
            </a:r>
            <a:r>
              <a:rPr sz="1450" i="1" dirty="0">
                <a:solidFill>
                  <a:srgbClr val="24292E"/>
                </a:solidFill>
                <a:latin typeface="Palatino Linotype"/>
                <a:cs typeface="Palatino Linotype"/>
              </a:rPr>
              <a:t>α</a:t>
            </a:r>
            <a:r>
              <a:rPr sz="1500" baseline="-13888" dirty="0">
                <a:solidFill>
                  <a:srgbClr val="24292E"/>
                </a:solidFill>
                <a:latin typeface="Cambria"/>
                <a:cs typeface="Cambria"/>
              </a:rPr>
              <a:t>1</a:t>
            </a:r>
            <a:r>
              <a:rPr sz="1500" spc="-179" baseline="-13888" dirty="0">
                <a:solidFill>
                  <a:srgbClr val="24292E"/>
                </a:solidFill>
                <a:latin typeface="Cambria"/>
                <a:cs typeface="Cambria"/>
              </a:rPr>
              <a:t> </a:t>
            </a:r>
            <a:r>
              <a:rPr sz="1450" spc="15" dirty="0">
                <a:solidFill>
                  <a:srgbClr val="24292E"/>
                </a:solidFill>
                <a:latin typeface="Cambria"/>
                <a:cs typeface="Cambria"/>
              </a:rPr>
              <a:t>, </a:t>
            </a:r>
            <a:r>
              <a:rPr sz="1450" i="1" dirty="0">
                <a:solidFill>
                  <a:srgbClr val="24292E"/>
                </a:solidFill>
                <a:latin typeface="Palatino Linotype"/>
                <a:cs typeface="Palatino Linotype"/>
              </a:rPr>
              <a:t>α</a:t>
            </a:r>
            <a:r>
              <a:rPr sz="1500" baseline="-13888" dirty="0">
                <a:solidFill>
                  <a:srgbClr val="24292E"/>
                </a:solidFill>
                <a:latin typeface="Cambria"/>
                <a:cs typeface="Cambria"/>
              </a:rPr>
              <a:t>2</a:t>
            </a:r>
            <a:r>
              <a:rPr sz="1500" spc="-172" baseline="-13888" dirty="0">
                <a:solidFill>
                  <a:srgbClr val="24292E"/>
                </a:solidFill>
                <a:latin typeface="Cambria"/>
                <a:cs typeface="Cambria"/>
              </a:rPr>
              <a:t> </a:t>
            </a:r>
            <a:r>
              <a:rPr sz="1450" spc="95" dirty="0">
                <a:solidFill>
                  <a:srgbClr val="24292E"/>
                </a:solidFill>
                <a:latin typeface="Cambria"/>
                <a:cs typeface="Cambria"/>
              </a:rPr>
              <a:t>, … , </a:t>
            </a:r>
            <a:r>
              <a:rPr sz="1450" i="1" spc="125" dirty="0">
                <a:solidFill>
                  <a:srgbClr val="24292E"/>
                </a:solidFill>
                <a:latin typeface="Palatino Linotype"/>
                <a:cs typeface="Palatino Linotype"/>
              </a:rPr>
              <a:t>α</a:t>
            </a:r>
            <a:r>
              <a:rPr sz="1500" i="1" spc="187" baseline="-13888" dirty="0">
                <a:solidFill>
                  <a:srgbClr val="24292E"/>
                </a:solidFill>
                <a:latin typeface="Palatino Linotype"/>
                <a:cs typeface="Palatino Linotype"/>
              </a:rPr>
              <a:t>K</a:t>
            </a:r>
            <a:r>
              <a:rPr sz="1500" i="1" spc="-67" baseline="-13888" dirty="0">
                <a:solidFill>
                  <a:srgbClr val="24292E"/>
                </a:solidFill>
                <a:latin typeface="Palatino Linotype"/>
                <a:cs typeface="Palatino Linotype"/>
              </a:rPr>
              <a:t> </a:t>
            </a:r>
            <a:r>
              <a:rPr sz="1450" spc="20" dirty="0">
                <a:solidFill>
                  <a:srgbClr val="24292E"/>
                </a:solidFill>
                <a:latin typeface="Cambria"/>
                <a:cs typeface="Cambria"/>
              </a:rPr>
              <a:t>) </a:t>
            </a:r>
            <a:r>
              <a:rPr sz="1200" spc="-5" dirty="0">
                <a:solidFill>
                  <a:srgbClr val="24292E"/>
                </a:solidFill>
                <a:latin typeface="Microsoft YaHei"/>
                <a:cs typeface="Microsoft YaHei"/>
              </a:rPr>
              <a:t>是超参数，且 </a:t>
            </a:r>
            <a:r>
              <a:rPr sz="1450" i="1" spc="65" dirty="0">
                <a:solidFill>
                  <a:srgbClr val="24292E"/>
                </a:solidFill>
                <a:latin typeface="Palatino Linotype"/>
                <a:cs typeface="Palatino Linotype"/>
              </a:rPr>
              <a:t>α</a:t>
            </a:r>
            <a:r>
              <a:rPr sz="1500" i="1" spc="97" baseline="-13888" dirty="0">
                <a:solidFill>
                  <a:srgbClr val="24292E"/>
                </a:solidFill>
                <a:latin typeface="Palatino Linotype"/>
                <a:cs typeface="Palatino Linotype"/>
              </a:rPr>
              <a:t>k</a:t>
            </a:r>
            <a:r>
              <a:rPr sz="1500" i="1" spc="509" baseline="-13888" dirty="0">
                <a:solidFill>
                  <a:srgbClr val="24292E"/>
                </a:solidFill>
                <a:latin typeface="Palatino Linotype"/>
                <a:cs typeface="Palatino Linotype"/>
              </a:rPr>
              <a:t> </a:t>
            </a:r>
            <a:r>
              <a:rPr sz="1450" spc="215" dirty="0">
                <a:solidFill>
                  <a:srgbClr val="24292E"/>
                </a:solidFill>
                <a:latin typeface="Cambria"/>
                <a:cs typeface="Cambria"/>
              </a:rPr>
              <a:t>&gt; </a:t>
            </a:r>
            <a:r>
              <a:rPr sz="1450" spc="-80" dirty="0">
                <a:solidFill>
                  <a:srgbClr val="24292E"/>
                </a:solidFill>
                <a:latin typeface="Cambria"/>
                <a:cs typeface="Cambria"/>
              </a:rPr>
              <a:t>0</a:t>
            </a:r>
            <a:r>
              <a:rPr sz="1200" spc="-50" dirty="0">
                <a:solidFill>
                  <a:srgbClr val="24292E"/>
                </a:solidFill>
                <a:latin typeface="Microsoft YaHei"/>
                <a:cs typeface="Microsoft YaHei"/>
              </a:rPr>
              <a:t>。</a:t>
            </a:r>
            <a:endParaRPr sz="1200">
              <a:latin typeface="Microsoft YaHei"/>
              <a:cs typeface="Microsoft YaHei"/>
            </a:endParaRPr>
          </a:p>
        </p:txBody>
      </p:sp>
      <p:sp>
        <p:nvSpPr>
          <p:cNvPr id="4" name="object 4"/>
          <p:cNvSpPr txBox="1"/>
          <p:nvPr/>
        </p:nvSpPr>
        <p:spPr>
          <a:xfrm>
            <a:off x="1402014" y="1517884"/>
            <a:ext cx="1840230" cy="208915"/>
          </a:xfrm>
          <a:prstGeom prst="rect">
            <a:avLst/>
          </a:prstGeom>
        </p:spPr>
        <p:txBody>
          <a:bodyPr vert="horz" wrap="square" lIns="0" tIns="12700" rIns="0" bIns="0" rtlCol="0">
            <a:spAutoFit/>
          </a:bodyPr>
          <a:lstStyle/>
          <a:p>
            <a:pPr marL="12700">
              <a:lnSpc>
                <a:spcPct val="100000"/>
              </a:lnSpc>
              <a:spcBef>
                <a:spcPts val="100"/>
              </a:spcBef>
            </a:pPr>
            <a:r>
              <a:rPr sz="1200" spc="-10" dirty="0">
                <a:solidFill>
                  <a:srgbClr val="24292E"/>
                </a:solidFill>
                <a:latin typeface="Microsoft YaHei"/>
                <a:cs typeface="Microsoft YaHei"/>
              </a:rPr>
              <a:t>其概率密度函数 </a:t>
            </a:r>
            <a:r>
              <a:rPr sz="1200" dirty="0">
                <a:solidFill>
                  <a:srgbClr val="24292E"/>
                </a:solidFill>
                <a:latin typeface="Segoe UI"/>
                <a:cs typeface="Segoe UI"/>
              </a:rPr>
              <a:t>(PDF)</a:t>
            </a:r>
            <a:r>
              <a:rPr sz="1200" spc="-15" dirty="0">
                <a:solidFill>
                  <a:srgbClr val="24292E"/>
                </a:solidFill>
                <a:latin typeface="Segoe UI"/>
                <a:cs typeface="Segoe UI"/>
              </a:rPr>
              <a:t> </a:t>
            </a:r>
            <a:r>
              <a:rPr sz="1200" spc="-25" dirty="0">
                <a:solidFill>
                  <a:srgbClr val="24292E"/>
                </a:solidFill>
                <a:latin typeface="Microsoft YaHei"/>
                <a:cs typeface="Microsoft YaHei"/>
              </a:rPr>
              <a:t>为：</a:t>
            </a:r>
            <a:endParaRPr sz="1200">
              <a:latin typeface="Microsoft YaHei"/>
              <a:cs typeface="Microsoft YaHei"/>
            </a:endParaRPr>
          </a:p>
        </p:txBody>
      </p:sp>
      <p:sp>
        <p:nvSpPr>
          <p:cNvPr id="5" name="object 5"/>
          <p:cNvSpPr txBox="1"/>
          <p:nvPr/>
        </p:nvSpPr>
        <p:spPr>
          <a:xfrm>
            <a:off x="1402014" y="1952729"/>
            <a:ext cx="3848100" cy="247015"/>
          </a:xfrm>
          <a:prstGeom prst="rect">
            <a:avLst/>
          </a:prstGeom>
        </p:spPr>
        <p:txBody>
          <a:bodyPr vert="horz" wrap="square" lIns="0" tIns="12700" rIns="0" bIns="0" rtlCol="0">
            <a:spAutoFit/>
          </a:bodyPr>
          <a:lstStyle/>
          <a:p>
            <a:pPr marL="12700">
              <a:lnSpc>
                <a:spcPct val="100000"/>
              </a:lnSpc>
              <a:spcBef>
                <a:spcPts val="100"/>
              </a:spcBef>
            </a:pPr>
            <a:r>
              <a:rPr sz="1200" b="1" spc="-10" dirty="0">
                <a:solidFill>
                  <a:srgbClr val="24292E"/>
                </a:solidFill>
                <a:latin typeface="Microsoft YaHei"/>
                <a:cs typeface="Microsoft YaHei"/>
              </a:rPr>
              <a:t>其中 </a:t>
            </a:r>
            <a:r>
              <a:rPr sz="1450" i="1" spc="120" dirty="0">
                <a:solidFill>
                  <a:srgbClr val="24292E"/>
                </a:solidFill>
                <a:latin typeface="Palatino Linotype"/>
                <a:cs typeface="Palatino Linotype"/>
              </a:rPr>
              <a:t>B</a:t>
            </a:r>
            <a:r>
              <a:rPr sz="1450" spc="120" dirty="0">
                <a:solidFill>
                  <a:srgbClr val="24292E"/>
                </a:solidFill>
                <a:latin typeface="Cambria"/>
                <a:cs typeface="Cambria"/>
              </a:rPr>
              <a:t>(</a:t>
            </a:r>
            <a:r>
              <a:rPr sz="1450" b="1" i="1" spc="120" dirty="0">
                <a:solidFill>
                  <a:srgbClr val="24292E"/>
                </a:solidFill>
                <a:latin typeface="Arial"/>
                <a:cs typeface="Arial"/>
              </a:rPr>
              <a:t>α</a:t>
            </a:r>
            <a:r>
              <a:rPr sz="1450" spc="65" dirty="0">
                <a:solidFill>
                  <a:srgbClr val="24292E"/>
                </a:solidFill>
                <a:latin typeface="Cambria"/>
                <a:cs typeface="Cambria"/>
              </a:rPr>
              <a:t>) </a:t>
            </a:r>
            <a:r>
              <a:rPr sz="1200" b="1" spc="-10" dirty="0">
                <a:solidFill>
                  <a:srgbClr val="24292E"/>
                </a:solidFill>
                <a:latin typeface="Microsoft YaHei"/>
                <a:cs typeface="Microsoft YaHei"/>
              </a:rPr>
              <a:t>是多元 </a:t>
            </a:r>
            <a:r>
              <a:rPr sz="1200" dirty="0">
                <a:solidFill>
                  <a:srgbClr val="24292E"/>
                </a:solidFill>
                <a:latin typeface="Segoe UI Semibold"/>
                <a:cs typeface="Segoe UI Semibold"/>
              </a:rPr>
              <a:t>Beta </a:t>
            </a:r>
            <a:r>
              <a:rPr sz="1200" b="1" dirty="0">
                <a:solidFill>
                  <a:srgbClr val="24292E"/>
                </a:solidFill>
                <a:latin typeface="Microsoft YaHei"/>
                <a:cs typeface="Microsoft YaHei"/>
              </a:rPr>
              <a:t>函数（归一化常数</a:t>
            </a:r>
            <a:r>
              <a:rPr sz="1200" b="1" spc="80" dirty="0">
                <a:solidFill>
                  <a:srgbClr val="24292E"/>
                </a:solidFill>
                <a:latin typeface="Microsoft YaHei"/>
                <a:cs typeface="Microsoft YaHei"/>
              </a:rPr>
              <a:t>）：</a:t>
            </a:r>
            <a:r>
              <a:rPr sz="1450" i="1" spc="80" dirty="0">
                <a:solidFill>
                  <a:srgbClr val="24292E"/>
                </a:solidFill>
                <a:latin typeface="Palatino Linotype"/>
                <a:cs typeface="Palatino Linotype"/>
              </a:rPr>
              <a:t>B</a:t>
            </a:r>
            <a:r>
              <a:rPr sz="1450" spc="80" dirty="0">
                <a:solidFill>
                  <a:srgbClr val="24292E"/>
                </a:solidFill>
                <a:latin typeface="Cambria"/>
                <a:cs typeface="Cambria"/>
              </a:rPr>
              <a:t>(</a:t>
            </a:r>
            <a:r>
              <a:rPr sz="1450" b="1" i="1" spc="80" dirty="0">
                <a:solidFill>
                  <a:srgbClr val="24292E"/>
                </a:solidFill>
                <a:latin typeface="Arial"/>
                <a:cs typeface="Arial"/>
              </a:rPr>
              <a:t>α</a:t>
            </a:r>
            <a:r>
              <a:rPr sz="1450" spc="145" dirty="0">
                <a:solidFill>
                  <a:srgbClr val="24292E"/>
                </a:solidFill>
                <a:latin typeface="Cambria"/>
                <a:cs typeface="Cambria"/>
              </a:rPr>
              <a:t>) =</a:t>
            </a:r>
            <a:endParaRPr sz="1450">
              <a:latin typeface="Cambria"/>
              <a:cs typeface="Cambria"/>
            </a:endParaRPr>
          </a:p>
        </p:txBody>
      </p:sp>
      <p:sp>
        <p:nvSpPr>
          <p:cNvPr id="6" name="object 6"/>
          <p:cNvSpPr txBox="1"/>
          <p:nvPr/>
        </p:nvSpPr>
        <p:spPr>
          <a:xfrm>
            <a:off x="1402014" y="2527823"/>
            <a:ext cx="9324975" cy="2063114"/>
          </a:xfrm>
          <a:prstGeom prst="rect">
            <a:avLst/>
          </a:prstGeom>
        </p:spPr>
        <p:txBody>
          <a:bodyPr vert="horz" wrap="square" lIns="0" tIns="12700" rIns="0" bIns="0" rtlCol="0">
            <a:spAutoFit/>
          </a:bodyPr>
          <a:lstStyle/>
          <a:p>
            <a:pPr marL="12700">
              <a:lnSpc>
                <a:spcPct val="100000"/>
              </a:lnSpc>
              <a:spcBef>
                <a:spcPts val="100"/>
              </a:spcBef>
            </a:pPr>
            <a:r>
              <a:rPr sz="1500" b="1" spc="-5" dirty="0">
                <a:solidFill>
                  <a:srgbClr val="24292E"/>
                </a:solidFill>
                <a:latin typeface="Microsoft YaHei"/>
                <a:cs typeface="Microsoft YaHei"/>
              </a:rPr>
              <a:t>选择狄利克雷分布作为先验的理由</a:t>
            </a:r>
            <a:endParaRPr sz="1500">
              <a:latin typeface="Microsoft YaHei"/>
              <a:cs typeface="Microsoft YaHei"/>
            </a:endParaRPr>
          </a:p>
          <a:p>
            <a:pPr marL="110489" indent="-101600">
              <a:lnSpc>
                <a:spcPct val="100000"/>
              </a:lnSpc>
              <a:spcBef>
                <a:spcPts val="1800"/>
              </a:spcBef>
              <a:buSzPct val="91666"/>
              <a:buFont typeface="Segoe UI Semibold"/>
              <a:buAutoNum type="arabicPeriod"/>
              <a:tabLst>
                <a:tab pos="110489" algn="l"/>
              </a:tabLst>
            </a:pPr>
            <a:r>
              <a:rPr sz="1200" b="1" dirty="0">
                <a:solidFill>
                  <a:srgbClr val="24292E"/>
                </a:solidFill>
                <a:latin typeface="Microsoft YaHei"/>
                <a:cs typeface="Microsoft YaHei"/>
              </a:rPr>
              <a:t>它是多项式分布的</a:t>
            </a:r>
            <a:r>
              <a:rPr sz="1200" dirty="0">
                <a:solidFill>
                  <a:srgbClr val="24292E"/>
                </a:solidFill>
                <a:latin typeface="Segoe UI Semibold"/>
                <a:cs typeface="Segoe UI Semibold"/>
              </a:rPr>
              <a:t>“</a:t>
            </a:r>
            <a:r>
              <a:rPr sz="1200" b="1" dirty="0">
                <a:solidFill>
                  <a:srgbClr val="24292E"/>
                </a:solidFill>
                <a:latin typeface="Microsoft YaHei"/>
                <a:cs typeface="Microsoft YaHei"/>
              </a:rPr>
              <a:t>共轭先验</a:t>
            </a:r>
            <a:r>
              <a:rPr sz="1200" spc="-20" dirty="0">
                <a:solidFill>
                  <a:srgbClr val="24292E"/>
                </a:solidFill>
                <a:latin typeface="Segoe UI Semibold"/>
                <a:cs typeface="Segoe UI Semibold"/>
              </a:rPr>
              <a:t>” </a:t>
            </a:r>
            <a:r>
              <a:rPr sz="1200" dirty="0">
                <a:solidFill>
                  <a:srgbClr val="24292E"/>
                </a:solidFill>
                <a:latin typeface="Segoe UI Semibold"/>
                <a:cs typeface="Segoe UI Semibold"/>
              </a:rPr>
              <a:t>(Conjugate</a:t>
            </a:r>
            <a:r>
              <a:rPr sz="1200" spc="-30" dirty="0">
                <a:solidFill>
                  <a:srgbClr val="24292E"/>
                </a:solidFill>
                <a:latin typeface="Segoe UI Semibold"/>
                <a:cs typeface="Segoe UI Semibold"/>
              </a:rPr>
              <a:t> </a:t>
            </a:r>
            <a:r>
              <a:rPr sz="1200" spc="-10" dirty="0">
                <a:solidFill>
                  <a:srgbClr val="24292E"/>
                </a:solidFill>
                <a:latin typeface="Segoe UI Semibold"/>
                <a:cs typeface="Segoe UI Semibold"/>
              </a:rPr>
              <a:t>Prior)</a:t>
            </a:r>
            <a:endParaRPr sz="1200">
              <a:latin typeface="Segoe UI Semibold"/>
              <a:cs typeface="Segoe UI Semibold"/>
            </a:endParaRPr>
          </a:p>
          <a:p>
            <a:pPr marL="12700" marR="5080">
              <a:lnSpc>
                <a:spcPct val="125000"/>
              </a:lnSpc>
              <a:spcBef>
                <a:spcPts val="1050"/>
              </a:spcBef>
            </a:pPr>
            <a:r>
              <a:rPr sz="1200" dirty="0">
                <a:solidFill>
                  <a:srgbClr val="24292E"/>
                </a:solidFill>
                <a:latin typeface="Microsoft YaHei"/>
                <a:cs typeface="Microsoft YaHei"/>
              </a:rPr>
              <a:t>当我们使用狄利克雷分布作为多项式分布的先验时，后验分布仍保持狄利克雷分布的形式。后验分布与先验分布的形式相同，使得我们在</a:t>
            </a:r>
            <a:r>
              <a:rPr sz="1200" b="1" spc="-50" dirty="0">
                <a:solidFill>
                  <a:srgbClr val="24292E"/>
                </a:solidFill>
                <a:latin typeface="Microsoft YaHei"/>
                <a:cs typeface="Microsoft YaHei"/>
              </a:rPr>
              <a:t>推</a:t>
            </a:r>
            <a:r>
              <a:rPr sz="1200" b="1" dirty="0">
                <a:solidFill>
                  <a:srgbClr val="24292E"/>
                </a:solidFill>
                <a:latin typeface="Microsoft YaHei"/>
                <a:cs typeface="Microsoft YaHei"/>
              </a:rPr>
              <a:t>断</a:t>
            </a:r>
            <a:r>
              <a:rPr sz="1200" dirty="0">
                <a:solidFill>
                  <a:srgbClr val="24292E"/>
                </a:solidFill>
                <a:latin typeface="Microsoft YaHei"/>
                <a:cs typeface="Microsoft YaHei"/>
              </a:rPr>
              <a:t>过程中可以进行代数运算，而不是进行复杂的积分运算（</a:t>
            </a:r>
            <a:r>
              <a:rPr sz="1200" spc="-5" dirty="0">
                <a:solidFill>
                  <a:srgbClr val="24292E"/>
                </a:solidFill>
                <a:latin typeface="Microsoft YaHei"/>
                <a:cs typeface="Microsoft YaHei"/>
              </a:rPr>
              <a:t>尤其是在使用 </a:t>
            </a:r>
            <a:r>
              <a:rPr sz="1200" dirty="0">
                <a:solidFill>
                  <a:srgbClr val="24292E"/>
                </a:solidFill>
                <a:latin typeface="Segoe UI"/>
                <a:cs typeface="Segoe UI"/>
              </a:rPr>
              <a:t>MCMC </a:t>
            </a:r>
            <a:r>
              <a:rPr sz="1200" dirty="0">
                <a:solidFill>
                  <a:srgbClr val="24292E"/>
                </a:solidFill>
                <a:latin typeface="Microsoft YaHei"/>
                <a:cs typeface="Microsoft YaHei"/>
              </a:rPr>
              <a:t>或吉布斯采样时），</a:t>
            </a:r>
            <a:r>
              <a:rPr sz="1200" spc="-5" dirty="0">
                <a:solidFill>
                  <a:srgbClr val="24292E"/>
                </a:solidFill>
                <a:latin typeface="Microsoft YaHei"/>
                <a:cs typeface="Microsoft YaHei"/>
              </a:rPr>
              <a:t>这在计算上是极其高效的。</a:t>
            </a:r>
            <a:endParaRPr sz="1200">
              <a:latin typeface="Microsoft YaHei"/>
              <a:cs typeface="Microsoft YaHei"/>
            </a:endParaRPr>
          </a:p>
          <a:p>
            <a:pPr marL="133985" indent="-123825">
              <a:lnSpc>
                <a:spcPct val="100000"/>
              </a:lnSpc>
              <a:spcBef>
                <a:spcPts val="2010"/>
              </a:spcBef>
              <a:buSzPct val="91666"/>
              <a:buFont typeface="Segoe UI Semibold"/>
              <a:buAutoNum type="arabicPeriod" startAt="2"/>
              <a:tabLst>
                <a:tab pos="133985" algn="l"/>
              </a:tabLst>
            </a:pPr>
            <a:r>
              <a:rPr sz="1200" b="1" spc="-10" dirty="0">
                <a:solidFill>
                  <a:srgbClr val="24292E"/>
                </a:solidFill>
                <a:latin typeface="Microsoft YaHei"/>
                <a:cs typeface="Microsoft YaHei"/>
              </a:rPr>
              <a:t>它适合建模比例</a:t>
            </a:r>
            <a:endParaRPr sz="1200">
              <a:latin typeface="Microsoft YaHei"/>
              <a:cs typeface="Microsoft YaHei"/>
            </a:endParaRPr>
          </a:p>
          <a:p>
            <a:pPr marL="12700">
              <a:lnSpc>
                <a:spcPct val="100000"/>
              </a:lnSpc>
              <a:spcBef>
                <a:spcPts val="1160"/>
              </a:spcBef>
            </a:pPr>
            <a:r>
              <a:rPr sz="1200" dirty="0">
                <a:solidFill>
                  <a:srgbClr val="24292E"/>
                </a:solidFill>
                <a:latin typeface="Microsoft YaHei"/>
                <a:cs typeface="Microsoft YaHei"/>
              </a:rPr>
              <a:t>狄利克雷分布完美地定义在满足</a:t>
            </a:r>
            <a:r>
              <a:rPr sz="1200" b="1" spc="-15" dirty="0">
                <a:solidFill>
                  <a:srgbClr val="24292E"/>
                </a:solidFill>
                <a:latin typeface="Microsoft YaHei"/>
                <a:cs typeface="Microsoft YaHei"/>
              </a:rPr>
              <a:t>和为 </a:t>
            </a:r>
            <a:r>
              <a:rPr sz="1200" spc="-10" dirty="0">
                <a:solidFill>
                  <a:srgbClr val="24292E"/>
                </a:solidFill>
                <a:latin typeface="Segoe UI Semibold"/>
                <a:cs typeface="Segoe UI Semibold"/>
              </a:rPr>
              <a:t>1</a:t>
            </a:r>
            <a:r>
              <a:rPr sz="1200" dirty="0">
                <a:solidFill>
                  <a:srgbClr val="24292E"/>
                </a:solidFill>
                <a:latin typeface="Microsoft YaHei"/>
                <a:cs typeface="Microsoft YaHei"/>
              </a:rPr>
              <a:t>的向量空间上。</a:t>
            </a:r>
            <a:r>
              <a:rPr sz="1200" dirty="0">
                <a:solidFill>
                  <a:srgbClr val="24292E"/>
                </a:solidFill>
                <a:latin typeface="Segoe UI"/>
                <a:cs typeface="Segoe UI"/>
              </a:rPr>
              <a:t>LDA</a:t>
            </a:r>
            <a:r>
              <a:rPr sz="1200" spc="-5" dirty="0">
                <a:solidFill>
                  <a:srgbClr val="24292E"/>
                </a:solidFill>
                <a:latin typeface="Segoe UI"/>
                <a:cs typeface="Segoe UI"/>
              </a:rPr>
              <a:t> </a:t>
            </a:r>
            <a:r>
              <a:rPr sz="1200" spc="-5" dirty="0">
                <a:solidFill>
                  <a:srgbClr val="24292E"/>
                </a:solidFill>
                <a:latin typeface="Microsoft YaHei"/>
                <a:cs typeface="Microsoft YaHei"/>
              </a:rPr>
              <a:t>的两个核心参数 </a:t>
            </a:r>
            <a:r>
              <a:rPr sz="1450" b="1" i="1" dirty="0">
                <a:solidFill>
                  <a:srgbClr val="24292E"/>
                </a:solidFill>
                <a:latin typeface="Arial"/>
                <a:cs typeface="Arial"/>
              </a:rPr>
              <a:t>θ</a:t>
            </a:r>
            <a:r>
              <a:rPr sz="1450" b="1" i="1" spc="-35" dirty="0">
                <a:solidFill>
                  <a:srgbClr val="24292E"/>
                </a:solidFill>
                <a:latin typeface="Arial"/>
                <a:cs typeface="Arial"/>
              </a:rPr>
              <a:t> </a:t>
            </a:r>
            <a:r>
              <a:rPr sz="1200" spc="-15" dirty="0">
                <a:solidFill>
                  <a:srgbClr val="24292E"/>
                </a:solidFill>
                <a:latin typeface="Microsoft YaHei"/>
                <a:cs typeface="Microsoft YaHei"/>
              </a:rPr>
              <a:t>和 </a:t>
            </a:r>
            <a:r>
              <a:rPr sz="1450" b="1" i="1" spc="-75" dirty="0">
                <a:solidFill>
                  <a:srgbClr val="24292E"/>
                </a:solidFill>
                <a:latin typeface="Arial"/>
                <a:cs typeface="Arial"/>
              </a:rPr>
              <a:t>ϕ </a:t>
            </a:r>
            <a:r>
              <a:rPr sz="1200" dirty="0">
                <a:solidFill>
                  <a:srgbClr val="24292E"/>
                </a:solidFill>
                <a:latin typeface="Microsoft YaHei"/>
                <a:cs typeface="Microsoft YaHei"/>
              </a:rPr>
              <a:t>本质上都是概率向量（</a:t>
            </a:r>
            <a:r>
              <a:rPr sz="1200" spc="-5" dirty="0">
                <a:solidFill>
                  <a:srgbClr val="24292E"/>
                </a:solidFill>
                <a:latin typeface="Microsoft YaHei"/>
                <a:cs typeface="Microsoft YaHei"/>
              </a:rPr>
              <a:t>即所有元素和为 </a:t>
            </a:r>
            <a:r>
              <a:rPr sz="1200" spc="-25" dirty="0">
                <a:solidFill>
                  <a:srgbClr val="24292E"/>
                </a:solidFill>
                <a:latin typeface="Segoe UI"/>
                <a:cs typeface="Segoe UI"/>
              </a:rPr>
              <a:t>1</a:t>
            </a:r>
            <a:r>
              <a:rPr sz="1200" spc="-25" dirty="0">
                <a:solidFill>
                  <a:srgbClr val="24292E"/>
                </a:solidFill>
                <a:latin typeface="Microsoft YaHei"/>
                <a:cs typeface="Microsoft YaHei"/>
              </a:rPr>
              <a:t>）</a:t>
            </a:r>
            <a:endParaRPr sz="1200">
              <a:latin typeface="Microsoft YaHei"/>
              <a:cs typeface="Microsoft YaHei"/>
            </a:endParaRPr>
          </a:p>
        </p:txBody>
      </p:sp>
      <p:sp>
        <p:nvSpPr>
          <p:cNvPr id="7" name="object 7"/>
          <p:cNvSpPr/>
          <p:nvPr/>
        </p:nvSpPr>
        <p:spPr>
          <a:xfrm>
            <a:off x="1552866" y="4865287"/>
            <a:ext cx="57785" cy="57785"/>
          </a:xfrm>
          <a:custGeom>
            <a:avLst/>
            <a:gdLst/>
            <a:ahLst/>
            <a:cxnLst/>
            <a:rect l="l" t="t" r="r" b="b"/>
            <a:pathLst>
              <a:path w="57784" h="57785">
                <a:moveTo>
                  <a:pt x="32373" y="57165"/>
                </a:moveTo>
                <a:lnTo>
                  <a:pt x="24792" y="57165"/>
                </a:lnTo>
                <a:lnTo>
                  <a:pt x="21146" y="56439"/>
                </a:lnTo>
                <a:lnTo>
                  <a:pt x="0" y="32373"/>
                </a:lnTo>
                <a:lnTo>
                  <a:pt x="0" y="24792"/>
                </a:lnTo>
                <a:lnTo>
                  <a:pt x="24792" y="0"/>
                </a:lnTo>
                <a:lnTo>
                  <a:pt x="32373" y="0"/>
                </a:lnTo>
                <a:lnTo>
                  <a:pt x="57166" y="28583"/>
                </a:lnTo>
                <a:lnTo>
                  <a:pt x="57166" y="32373"/>
                </a:lnTo>
                <a:lnTo>
                  <a:pt x="32373" y="57165"/>
                </a:lnTo>
                <a:close/>
              </a:path>
            </a:pathLst>
          </a:custGeom>
          <a:solidFill>
            <a:srgbClr val="24292E"/>
          </a:solidFill>
        </p:spPr>
        <p:txBody>
          <a:bodyPr wrap="square" lIns="0" tIns="0" rIns="0" bIns="0" rtlCol="0"/>
          <a:lstStyle/>
          <a:p>
            <a:endParaRPr/>
          </a:p>
        </p:txBody>
      </p:sp>
      <p:sp>
        <p:nvSpPr>
          <p:cNvPr id="8" name="object 8"/>
          <p:cNvSpPr txBox="1"/>
          <p:nvPr/>
        </p:nvSpPr>
        <p:spPr>
          <a:xfrm>
            <a:off x="1706901" y="4744352"/>
            <a:ext cx="3954145" cy="247015"/>
          </a:xfrm>
          <a:prstGeom prst="rect">
            <a:avLst/>
          </a:prstGeom>
        </p:spPr>
        <p:txBody>
          <a:bodyPr vert="horz" wrap="square" lIns="0" tIns="12700" rIns="0" bIns="0" rtlCol="0">
            <a:spAutoFit/>
          </a:bodyPr>
          <a:lstStyle/>
          <a:p>
            <a:pPr marL="12700">
              <a:lnSpc>
                <a:spcPct val="100000"/>
              </a:lnSpc>
              <a:spcBef>
                <a:spcPts val="100"/>
              </a:spcBef>
            </a:pPr>
            <a:r>
              <a:rPr sz="1200" b="1" spc="-5" dirty="0">
                <a:solidFill>
                  <a:srgbClr val="24292E"/>
                </a:solidFill>
                <a:latin typeface="Microsoft YaHei"/>
                <a:cs typeface="Microsoft YaHei"/>
              </a:rPr>
              <a:t>文档主题比例 </a:t>
            </a:r>
            <a:r>
              <a:rPr sz="1450" b="1" i="1" dirty="0">
                <a:solidFill>
                  <a:srgbClr val="24292E"/>
                </a:solidFill>
                <a:latin typeface="Arial"/>
                <a:cs typeface="Arial"/>
              </a:rPr>
              <a:t>θ</a:t>
            </a:r>
            <a:r>
              <a:rPr sz="1200" dirty="0">
                <a:solidFill>
                  <a:srgbClr val="24292E"/>
                </a:solidFill>
                <a:latin typeface="Segoe UI Semibold"/>
                <a:cs typeface="Segoe UI Semibold"/>
              </a:rPr>
              <a:t>: </a:t>
            </a:r>
            <a:r>
              <a:rPr sz="1200" spc="-5" dirty="0">
                <a:solidFill>
                  <a:srgbClr val="24292E"/>
                </a:solidFill>
                <a:latin typeface="Microsoft YaHei"/>
                <a:cs typeface="Microsoft YaHei"/>
              </a:rPr>
              <a:t>一篇文档必须 </a:t>
            </a:r>
            <a:r>
              <a:rPr sz="1200" dirty="0">
                <a:solidFill>
                  <a:srgbClr val="24292E"/>
                </a:solidFill>
                <a:latin typeface="Segoe UI"/>
                <a:cs typeface="Segoe UI"/>
              </a:rPr>
              <a:t>100%</a:t>
            </a:r>
            <a:r>
              <a:rPr sz="1200" spc="5" dirty="0">
                <a:solidFill>
                  <a:srgbClr val="24292E"/>
                </a:solidFill>
                <a:latin typeface="Segoe UI"/>
                <a:cs typeface="Segoe UI"/>
              </a:rPr>
              <a:t> </a:t>
            </a:r>
            <a:r>
              <a:rPr sz="1200" spc="-5" dirty="0">
                <a:solidFill>
                  <a:srgbClr val="24292E"/>
                </a:solidFill>
                <a:latin typeface="Microsoft YaHei"/>
                <a:cs typeface="Microsoft YaHei"/>
              </a:rPr>
              <a:t>由所有主题构成。</a:t>
            </a:r>
            <a:r>
              <a:rPr sz="1450" spc="434" dirty="0">
                <a:solidFill>
                  <a:srgbClr val="24292E"/>
                </a:solidFill>
                <a:latin typeface="Times New Roman"/>
                <a:cs typeface="Times New Roman"/>
              </a:rPr>
              <a:t>∑</a:t>
            </a:r>
            <a:endParaRPr sz="1450">
              <a:latin typeface="Times New Roman"/>
              <a:cs typeface="Times New Roman"/>
            </a:endParaRPr>
          </a:p>
        </p:txBody>
      </p:sp>
      <p:sp>
        <p:nvSpPr>
          <p:cNvPr id="9" name="object 9"/>
          <p:cNvSpPr/>
          <p:nvPr/>
        </p:nvSpPr>
        <p:spPr>
          <a:xfrm>
            <a:off x="1552866" y="5274979"/>
            <a:ext cx="57785" cy="57785"/>
          </a:xfrm>
          <a:custGeom>
            <a:avLst/>
            <a:gdLst/>
            <a:ahLst/>
            <a:cxnLst/>
            <a:rect l="l" t="t" r="r" b="b"/>
            <a:pathLst>
              <a:path w="57784" h="57785">
                <a:moveTo>
                  <a:pt x="32373" y="57166"/>
                </a:moveTo>
                <a:lnTo>
                  <a:pt x="24792" y="57166"/>
                </a:lnTo>
                <a:lnTo>
                  <a:pt x="21146" y="56440"/>
                </a:lnTo>
                <a:lnTo>
                  <a:pt x="0" y="32372"/>
                </a:lnTo>
                <a:lnTo>
                  <a:pt x="0" y="24792"/>
                </a:lnTo>
                <a:lnTo>
                  <a:pt x="24792" y="0"/>
                </a:lnTo>
                <a:lnTo>
                  <a:pt x="32373" y="0"/>
                </a:lnTo>
                <a:lnTo>
                  <a:pt x="57166" y="28583"/>
                </a:lnTo>
                <a:lnTo>
                  <a:pt x="57166" y="32372"/>
                </a:lnTo>
                <a:lnTo>
                  <a:pt x="32373" y="57166"/>
                </a:lnTo>
                <a:close/>
              </a:path>
            </a:pathLst>
          </a:custGeom>
          <a:solidFill>
            <a:srgbClr val="24292E"/>
          </a:solidFill>
        </p:spPr>
        <p:txBody>
          <a:bodyPr wrap="square" lIns="0" tIns="0" rIns="0" bIns="0" rtlCol="0"/>
          <a:lstStyle/>
          <a:p>
            <a:endParaRPr/>
          </a:p>
        </p:txBody>
      </p:sp>
      <p:sp>
        <p:nvSpPr>
          <p:cNvPr id="10" name="object 10"/>
          <p:cNvSpPr txBox="1"/>
          <p:nvPr/>
        </p:nvSpPr>
        <p:spPr>
          <a:xfrm>
            <a:off x="1402014" y="5643388"/>
            <a:ext cx="2312670" cy="300355"/>
          </a:xfrm>
          <a:prstGeom prst="rect">
            <a:avLst/>
          </a:prstGeom>
        </p:spPr>
        <p:txBody>
          <a:bodyPr vert="horz" wrap="square" lIns="0" tIns="12700" rIns="0" bIns="0" rtlCol="0">
            <a:spAutoFit/>
          </a:bodyPr>
          <a:lstStyle/>
          <a:p>
            <a:pPr marL="12700">
              <a:lnSpc>
                <a:spcPct val="100000"/>
              </a:lnSpc>
              <a:spcBef>
                <a:spcPts val="100"/>
              </a:spcBef>
            </a:pPr>
            <a:r>
              <a:rPr sz="1800" b="1" spc="-5" dirty="0">
                <a:solidFill>
                  <a:srgbClr val="24292E"/>
                </a:solidFill>
                <a:latin typeface="Microsoft YaHei"/>
                <a:cs typeface="Microsoft YaHei"/>
              </a:rPr>
              <a:t>三、本项目背景与目标</a:t>
            </a:r>
            <a:endParaRPr sz="1800">
              <a:latin typeface="Microsoft YaHei"/>
              <a:cs typeface="Microsoft YaHei"/>
            </a:endParaRPr>
          </a:p>
        </p:txBody>
      </p:sp>
      <p:sp>
        <p:nvSpPr>
          <p:cNvPr id="11" name="object 11"/>
          <p:cNvSpPr txBox="1"/>
          <p:nvPr/>
        </p:nvSpPr>
        <p:spPr>
          <a:xfrm>
            <a:off x="3216152" y="1485871"/>
            <a:ext cx="878205" cy="247015"/>
          </a:xfrm>
          <a:prstGeom prst="rect">
            <a:avLst/>
          </a:prstGeom>
        </p:spPr>
        <p:txBody>
          <a:bodyPr vert="horz" wrap="square" lIns="0" tIns="12700" rIns="0" bIns="0" rtlCol="0">
            <a:spAutoFit/>
          </a:bodyPr>
          <a:lstStyle/>
          <a:p>
            <a:pPr marL="12700">
              <a:lnSpc>
                <a:spcPct val="100000"/>
              </a:lnSpc>
              <a:spcBef>
                <a:spcPts val="100"/>
              </a:spcBef>
            </a:pPr>
            <a:r>
              <a:rPr sz="1450" i="1" spc="305" dirty="0">
                <a:solidFill>
                  <a:srgbClr val="24292E"/>
                </a:solidFill>
                <a:latin typeface="Palatino Linotype"/>
                <a:cs typeface="Palatino Linotype"/>
              </a:rPr>
              <a:t>f</a:t>
            </a:r>
            <a:r>
              <a:rPr sz="1450" i="1" spc="-210" dirty="0">
                <a:solidFill>
                  <a:srgbClr val="24292E"/>
                </a:solidFill>
                <a:latin typeface="Palatino Linotype"/>
                <a:cs typeface="Palatino Linotype"/>
              </a:rPr>
              <a:t> </a:t>
            </a:r>
            <a:r>
              <a:rPr sz="1450" dirty="0">
                <a:solidFill>
                  <a:srgbClr val="24292E"/>
                </a:solidFill>
                <a:latin typeface="Cambria"/>
                <a:cs typeface="Cambria"/>
              </a:rPr>
              <a:t>(</a:t>
            </a:r>
            <a:r>
              <a:rPr sz="1450" b="1" i="1" dirty="0">
                <a:solidFill>
                  <a:srgbClr val="24292E"/>
                </a:solidFill>
                <a:latin typeface="Arial"/>
                <a:cs typeface="Arial"/>
              </a:rPr>
              <a:t>θ</a:t>
            </a:r>
            <a:r>
              <a:rPr sz="1450" b="1" i="1" spc="40" dirty="0">
                <a:solidFill>
                  <a:srgbClr val="24292E"/>
                </a:solidFill>
                <a:latin typeface="Arial"/>
                <a:cs typeface="Arial"/>
              </a:rPr>
              <a:t> </a:t>
            </a:r>
            <a:r>
              <a:rPr sz="1450" dirty="0">
                <a:solidFill>
                  <a:srgbClr val="24292E"/>
                </a:solidFill>
                <a:latin typeface="Cambria"/>
                <a:cs typeface="Cambria"/>
              </a:rPr>
              <a:t>∣</a:t>
            </a:r>
            <a:r>
              <a:rPr sz="1450" spc="85" dirty="0">
                <a:solidFill>
                  <a:srgbClr val="24292E"/>
                </a:solidFill>
                <a:latin typeface="Cambria"/>
                <a:cs typeface="Cambria"/>
              </a:rPr>
              <a:t> </a:t>
            </a:r>
            <a:r>
              <a:rPr sz="1450" b="1" i="1" spc="100" dirty="0">
                <a:solidFill>
                  <a:srgbClr val="24292E"/>
                </a:solidFill>
                <a:latin typeface="Arial"/>
                <a:cs typeface="Arial"/>
              </a:rPr>
              <a:t>α</a:t>
            </a:r>
            <a:r>
              <a:rPr sz="1450" spc="100" dirty="0">
                <a:solidFill>
                  <a:srgbClr val="24292E"/>
                </a:solidFill>
                <a:latin typeface="Cambria"/>
                <a:cs typeface="Cambria"/>
              </a:rPr>
              <a:t>)</a:t>
            </a:r>
            <a:r>
              <a:rPr sz="1450" spc="80" dirty="0">
                <a:solidFill>
                  <a:srgbClr val="24292E"/>
                </a:solidFill>
                <a:latin typeface="Cambria"/>
                <a:cs typeface="Cambria"/>
              </a:rPr>
              <a:t> </a:t>
            </a:r>
            <a:r>
              <a:rPr sz="1450" spc="275" dirty="0">
                <a:solidFill>
                  <a:srgbClr val="24292E"/>
                </a:solidFill>
                <a:latin typeface="Cambria"/>
                <a:cs typeface="Cambria"/>
              </a:rPr>
              <a:t>=</a:t>
            </a:r>
            <a:endParaRPr sz="1450">
              <a:latin typeface="Cambria"/>
              <a:cs typeface="Cambria"/>
            </a:endParaRPr>
          </a:p>
        </p:txBody>
      </p:sp>
      <p:sp>
        <p:nvSpPr>
          <p:cNvPr id="12" name="object 12"/>
          <p:cNvSpPr txBox="1"/>
          <p:nvPr/>
        </p:nvSpPr>
        <p:spPr>
          <a:xfrm>
            <a:off x="4141234" y="1465005"/>
            <a:ext cx="990600" cy="314325"/>
          </a:xfrm>
          <a:prstGeom prst="rect">
            <a:avLst/>
          </a:prstGeom>
        </p:spPr>
        <p:txBody>
          <a:bodyPr vert="horz" wrap="square" lIns="0" tIns="14604" rIns="0" bIns="0" rtlCol="0">
            <a:spAutoFit/>
          </a:bodyPr>
          <a:lstStyle/>
          <a:p>
            <a:pPr marL="12700">
              <a:lnSpc>
                <a:spcPts val="1125"/>
              </a:lnSpc>
              <a:spcBef>
                <a:spcPts val="114"/>
              </a:spcBef>
            </a:pPr>
            <a:r>
              <a:rPr sz="1000" u="sng" spc="229" dirty="0">
                <a:solidFill>
                  <a:srgbClr val="24292E"/>
                </a:solidFill>
                <a:uFill>
                  <a:solidFill>
                    <a:srgbClr val="24292E"/>
                  </a:solidFill>
                </a:uFill>
                <a:latin typeface="Cambria"/>
                <a:cs typeface="Cambria"/>
              </a:rPr>
              <a:t>  </a:t>
            </a:r>
            <a:r>
              <a:rPr sz="1000" u="sng" spc="-60" dirty="0">
                <a:solidFill>
                  <a:srgbClr val="24292E"/>
                </a:solidFill>
                <a:uFill>
                  <a:solidFill>
                    <a:srgbClr val="24292E"/>
                  </a:solidFill>
                </a:uFill>
                <a:latin typeface="Cambria"/>
                <a:cs typeface="Cambria"/>
              </a:rPr>
              <a:t>1</a:t>
            </a:r>
            <a:r>
              <a:rPr sz="1000" u="sng" spc="500" dirty="0">
                <a:solidFill>
                  <a:srgbClr val="24292E"/>
                </a:solidFill>
                <a:uFill>
                  <a:solidFill>
                    <a:srgbClr val="24292E"/>
                  </a:solidFill>
                </a:uFill>
                <a:latin typeface="Cambria"/>
                <a:cs typeface="Cambria"/>
              </a:rPr>
              <a:t> </a:t>
            </a:r>
            <a:endParaRPr sz="1000">
              <a:latin typeface="Cambria"/>
              <a:cs typeface="Cambria"/>
            </a:endParaRPr>
          </a:p>
          <a:p>
            <a:pPr marL="14604">
              <a:lnSpc>
                <a:spcPts val="1125"/>
              </a:lnSpc>
              <a:tabLst>
                <a:tab pos="544830" algn="l"/>
                <a:tab pos="909955" algn="l"/>
              </a:tabLst>
            </a:pPr>
            <a:r>
              <a:rPr sz="1000" i="1" spc="65" dirty="0">
                <a:solidFill>
                  <a:srgbClr val="24292E"/>
                </a:solidFill>
                <a:latin typeface="Palatino Linotype"/>
                <a:cs typeface="Palatino Linotype"/>
              </a:rPr>
              <a:t>B</a:t>
            </a:r>
            <a:r>
              <a:rPr sz="1000" spc="65" dirty="0">
                <a:solidFill>
                  <a:srgbClr val="24292E"/>
                </a:solidFill>
                <a:latin typeface="Cambria"/>
                <a:cs typeface="Cambria"/>
              </a:rPr>
              <a:t>(</a:t>
            </a:r>
            <a:r>
              <a:rPr sz="1000" b="1" i="1" spc="65" dirty="0">
                <a:solidFill>
                  <a:srgbClr val="24292E"/>
                </a:solidFill>
                <a:latin typeface="Arial"/>
                <a:cs typeface="Arial"/>
              </a:rPr>
              <a:t>α</a:t>
            </a:r>
            <a:r>
              <a:rPr sz="1000" spc="65" dirty="0">
                <a:solidFill>
                  <a:srgbClr val="24292E"/>
                </a:solidFill>
                <a:latin typeface="Cambria"/>
                <a:cs typeface="Cambria"/>
              </a:rPr>
              <a:t>)</a:t>
            </a:r>
            <a:r>
              <a:rPr sz="1000" dirty="0">
                <a:solidFill>
                  <a:srgbClr val="24292E"/>
                </a:solidFill>
                <a:latin typeface="Cambria"/>
                <a:cs typeface="Cambria"/>
              </a:rPr>
              <a:t>	</a:t>
            </a:r>
            <a:r>
              <a:rPr sz="1500" i="1" spc="104" baseline="5555" dirty="0">
                <a:solidFill>
                  <a:srgbClr val="24292E"/>
                </a:solidFill>
                <a:latin typeface="Palatino Linotype"/>
                <a:cs typeface="Palatino Linotype"/>
              </a:rPr>
              <a:t>k</a:t>
            </a:r>
            <a:r>
              <a:rPr sz="1500" spc="104" baseline="5555" dirty="0">
                <a:solidFill>
                  <a:srgbClr val="24292E"/>
                </a:solidFill>
                <a:latin typeface="Cambria"/>
                <a:cs typeface="Cambria"/>
              </a:rPr>
              <a:t>=1</a:t>
            </a:r>
            <a:r>
              <a:rPr sz="1500" baseline="5555" dirty="0">
                <a:solidFill>
                  <a:srgbClr val="24292E"/>
                </a:solidFill>
                <a:latin typeface="Cambria"/>
                <a:cs typeface="Cambria"/>
              </a:rPr>
              <a:t>	</a:t>
            </a:r>
            <a:r>
              <a:rPr sz="1500" i="1" spc="37" baseline="5555" dirty="0">
                <a:solidFill>
                  <a:srgbClr val="24292E"/>
                </a:solidFill>
                <a:latin typeface="Palatino Linotype"/>
                <a:cs typeface="Palatino Linotype"/>
              </a:rPr>
              <a:t>k</a:t>
            </a:r>
            <a:endParaRPr sz="1500" baseline="5555">
              <a:latin typeface="Palatino Linotype"/>
              <a:cs typeface="Palatino Linotype"/>
            </a:endParaRPr>
          </a:p>
        </p:txBody>
      </p:sp>
      <p:sp>
        <p:nvSpPr>
          <p:cNvPr id="13" name="object 13"/>
          <p:cNvSpPr txBox="1"/>
          <p:nvPr/>
        </p:nvSpPr>
        <p:spPr>
          <a:xfrm>
            <a:off x="5126461" y="1511405"/>
            <a:ext cx="73660" cy="136525"/>
          </a:xfrm>
          <a:prstGeom prst="rect">
            <a:avLst/>
          </a:prstGeom>
        </p:spPr>
        <p:txBody>
          <a:bodyPr vert="horz" wrap="square" lIns="0" tIns="15875" rIns="0" bIns="0" rtlCol="0">
            <a:spAutoFit/>
          </a:bodyPr>
          <a:lstStyle/>
          <a:p>
            <a:pPr marL="12700">
              <a:lnSpc>
                <a:spcPct val="100000"/>
              </a:lnSpc>
              <a:spcBef>
                <a:spcPts val="125"/>
              </a:spcBef>
            </a:pPr>
            <a:r>
              <a:rPr sz="700" i="1" spc="15" dirty="0">
                <a:solidFill>
                  <a:srgbClr val="24292E"/>
                </a:solidFill>
                <a:latin typeface="Palatino Linotype"/>
                <a:cs typeface="Palatino Linotype"/>
              </a:rPr>
              <a:t>k</a:t>
            </a:r>
            <a:endParaRPr sz="700">
              <a:latin typeface="Palatino Linotype"/>
              <a:cs typeface="Palatino Linotype"/>
            </a:endParaRPr>
          </a:p>
        </p:txBody>
      </p:sp>
      <p:sp>
        <p:nvSpPr>
          <p:cNvPr id="14" name="object 14"/>
          <p:cNvSpPr txBox="1"/>
          <p:nvPr/>
        </p:nvSpPr>
        <p:spPr>
          <a:xfrm>
            <a:off x="6190588" y="1560282"/>
            <a:ext cx="92710" cy="180340"/>
          </a:xfrm>
          <a:prstGeom prst="rect">
            <a:avLst/>
          </a:prstGeom>
        </p:spPr>
        <p:txBody>
          <a:bodyPr vert="horz" wrap="square" lIns="0" tIns="14604" rIns="0" bIns="0" rtlCol="0">
            <a:spAutoFit/>
          </a:bodyPr>
          <a:lstStyle/>
          <a:p>
            <a:pPr marL="12700">
              <a:lnSpc>
                <a:spcPct val="100000"/>
              </a:lnSpc>
              <a:spcBef>
                <a:spcPts val="114"/>
              </a:spcBef>
            </a:pPr>
            <a:r>
              <a:rPr sz="1000" i="1" spc="25" dirty="0">
                <a:solidFill>
                  <a:srgbClr val="24292E"/>
                </a:solidFill>
                <a:latin typeface="Palatino Linotype"/>
                <a:cs typeface="Palatino Linotype"/>
              </a:rPr>
              <a:t>k</a:t>
            </a:r>
            <a:endParaRPr sz="1000">
              <a:latin typeface="Palatino Linotype"/>
              <a:cs typeface="Palatino Linotype"/>
            </a:endParaRPr>
          </a:p>
        </p:txBody>
      </p:sp>
      <p:sp>
        <p:nvSpPr>
          <p:cNvPr id="15" name="object 15"/>
          <p:cNvSpPr txBox="1"/>
          <p:nvPr/>
        </p:nvSpPr>
        <p:spPr>
          <a:xfrm>
            <a:off x="7256205" y="1588865"/>
            <a:ext cx="261620" cy="180340"/>
          </a:xfrm>
          <a:prstGeom prst="rect">
            <a:avLst/>
          </a:prstGeom>
        </p:spPr>
        <p:txBody>
          <a:bodyPr vert="horz" wrap="square" lIns="0" tIns="14604" rIns="0" bIns="0" rtlCol="0">
            <a:spAutoFit/>
          </a:bodyPr>
          <a:lstStyle/>
          <a:p>
            <a:pPr marL="12700">
              <a:lnSpc>
                <a:spcPct val="100000"/>
              </a:lnSpc>
              <a:spcBef>
                <a:spcPts val="114"/>
              </a:spcBef>
            </a:pPr>
            <a:r>
              <a:rPr sz="1000" i="1" spc="70" dirty="0">
                <a:solidFill>
                  <a:srgbClr val="24292E"/>
                </a:solidFill>
                <a:latin typeface="Palatino Linotype"/>
                <a:cs typeface="Palatino Linotype"/>
              </a:rPr>
              <a:t>k</a:t>
            </a:r>
            <a:r>
              <a:rPr sz="1000" spc="70" dirty="0">
                <a:solidFill>
                  <a:srgbClr val="24292E"/>
                </a:solidFill>
                <a:latin typeface="Cambria"/>
                <a:cs typeface="Cambria"/>
              </a:rPr>
              <a:t>=1</a:t>
            </a:r>
            <a:endParaRPr sz="1000">
              <a:latin typeface="Cambria"/>
              <a:cs typeface="Cambria"/>
            </a:endParaRPr>
          </a:p>
        </p:txBody>
      </p:sp>
      <p:sp>
        <p:nvSpPr>
          <p:cNvPr id="16" name="object 16"/>
          <p:cNvSpPr txBox="1"/>
          <p:nvPr/>
        </p:nvSpPr>
        <p:spPr>
          <a:xfrm>
            <a:off x="4673894" y="1455477"/>
            <a:ext cx="2717800" cy="180340"/>
          </a:xfrm>
          <a:prstGeom prst="rect">
            <a:avLst/>
          </a:prstGeom>
        </p:spPr>
        <p:txBody>
          <a:bodyPr vert="horz" wrap="square" lIns="0" tIns="14604" rIns="0" bIns="0" rtlCol="0">
            <a:spAutoFit/>
          </a:bodyPr>
          <a:lstStyle/>
          <a:p>
            <a:pPr marL="12700">
              <a:lnSpc>
                <a:spcPct val="100000"/>
              </a:lnSpc>
              <a:spcBef>
                <a:spcPts val="114"/>
              </a:spcBef>
              <a:tabLst>
                <a:tab pos="382270" algn="l"/>
                <a:tab pos="2594610" algn="l"/>
              </a:tabLst>
            </a:pPr>
            <a:r>
              <a:rPr sz="1500" i="1" spc="217" baseline="5555" dirty="0">
                <a:solidFill>
                  <a:srgbClr val="24292E"/>
                </a:solidFill>
                <a:latin typeface="Palatino Linotype"/>
                <a:cs typeface="Palatino Linotype"/>
              </a:rPr>
              <a:t>K</a:t>
            </a:r>
            <a:r>
              <a:rPr sz="1500" i="1" baseline="5555" dirty="0">
                <a:solidFill>
                  <a:srgbClr val="24292E"/>
                </a:solidFill>
                <a:latin typeface="Palatino Linotype"/>
                <a:cs typeface="Palatino Linotype"/>
              </a:rPr>
              <a:t>	</a:t>
            </a:r>
            <a:r>
              <a:rPr sz="1000" i="1" dirty="0">
                <a:solidFill>
                  <a:srgbClr val="24292E"/>
                </a:solidFill>
                <a:latin typeface="Palatino Linotype"/>
                <a:cs typeface="Palatino Linotype"/>
              </a:rPr>
              <a:t>α</a:t>
            </a:r>
            <a:r>
              <a:rPr sz="1000" i="1" spc="320" dirty="0">
                <a:solidFill>
                  <a:srgbClr val="24292E"/>
                </a:solidFill>
                <a:latin typeface="Palatino Linotype"/>
                <a:cs typeface="Palatino Linotype"/>
              </a:rPr>
              <a:t> </a:t>
            </a:r>
            <a:r>
              <a:rPr sz="1000" spc="65" dirty="0">
                <a:solidFill>
                  <a:srgbClr val="24292E"/>
                </a:solidFill>
                <a:latin typeface="Cambria"/>
                <a:cs typeface="Cambria"/>
              </a:rPr>
              <a:t>−1</a:t>
            </a:r>
            <a:r>
              <a:rPr sz="1000" dirty="0">
                <a:solidFill>
                  <a:srgbClr val="24292E"/>
                </a:solidFill>
                <a:latin typeface="Cambria"/>
                <a:cs typeface="Cambria"/>
              </a:rPr>
              <a:t>	</a:t>
            </a:r>
            <a:r>
              <a:rPr sz="1500" i="1" spc="217" baseline="5555" dirty="0">
                <a:solidFill>
                  <a:srgbClr val="24292E"/>
                </a:solidFill>
                <a:latin typeface="Palatino Linotype"/>
                <a:cs typeface="Palatino Linotype"/>
              </a:rPr>
              <a:t>K</a:t>
            </a:r>
            <a:endParaRPr sz="1500" baseline="5555">
              <a:latin typeface="Palatino Linotype"/>
              <a:cs typeface="Palatino Linotype"/>
            </a:endParaRPr>
          </a:p>
        </p:txBody>
      </p:sp>
      <p:sp>
        <p:nvSpPr>
          <p:cNvPr id="17" name="object 17"/>
          <p:cNvSpPr txBox="1"/>
          <p:nvPr/>
        </p:nvSpPr>
        <p:spPr>
          <a:xfrm>
            <a:off x="4474464" y="1485871"/>
            <a:ext cx="3656329" cy="247015"/>
          </a:xfrm>
          <a:prstGeom prst="rect">
            <a:avLst/>
          </a:prstGeom>
        </p:spPr>
        <p:txBody>
          <a:bodyPr vert="horz" wrap="square" lIns="0" tIns="12700" rIns="0" bIns="0" rtlCol="0">
            <a:spAutoFit/>
          </a:bodyPr>
          <a:lstStyle/>
          <a:p>
            <a:pPr marL="38100">
              <a:lnSpc>
                <a:spcPct val="100000"/>
              </a:lnSpc>
              <a:spcBef>
                <a:spcPts val="100"/>
              </a:spcBef>
              <a:tabLst>
                <a:tab pos="490220" algn="l"/>
                <a:tab pos="957580" algn="l"/>
                <a:tab pos="1861185" algn="l"/>
                <a:tab pos="3072765" algn="l"/>
              </a:tabLst>
            </a:pPr>
            <a:r>
              <a:rPr sz="1450" spc="125" dirty="0">
                <a:solidFill>
                  <a:srgbClr val="24292E"/>
                </a:solidFill>
                <a:latin typeface="Times New Roman"/>
                <a:cs typeface="Times New Roman"/>
              </a:rPr>
              <a:t>∏</a:t>
            </a:r>
            <a:r>
              <a:rPr sz="1450" dirty="0">
                <a:solidFill>
                  <a:srgbClr val="24292E"/>
                </a:solidFill>
                <a:latin typeface="Times New Roman"/>
                <a:cs typeface="Times New Roman"/>
              </a:rPr>
              <a:t>	</a:t>
            </a:r>
            <a:r>
              <a:rPr sz="1450" i="1" spc="-50" dirty="0">
                <a:solidFill>
                  <a:srgbClr val="24292E"/>
                </a:solidFill>
                <a:latin typeface="Palatino Linotype"/>
                <a:cs typeface="Palatino Linotype"/>
              </a:rPr>
              <a:t>θ</a:t>
            </a:r>
            <a:r>
              <a:rPr sz="1450" i="1" dirty="0">
                <a:solidFill>
                  <a:srgbClr val="24292E"/>
                </a:solidFill>
                <a:latin typeface="Palatino Linotype"/>
                <a:cs typeface="Palatino Linotype"/>
              </a:rPr>
              <a:t>	</a:t>
            </a:r>
            <a:r>
              <a:rPr sz="1200" dirty="0">
                <a:solidFill>
                  <a:srgbClr val="24292E"/>
                </a:solidFill>
                <a:latin typeface="Microsoft YaHei"/>
                <a:cs typeface="Microsoft YaHei"/>
              </a:rPr>
              <a:t>约束条件</a:t>
            </a:r>
            <a:r>
              <a:rPr sz="1200" dirty="0">
                <a:solidFill>
                  <a:srgbClr val="24292E"/>
                </a:solidFill>
                <a:latin typeface="Segoe UI"/>
                <a:cs typeface="Segoe UI"/>
              </a:rPr>
              <a:t>:</a:t>
            </a:r>
            <a:r>
              <a:rPr sz="1200" spc="-10" dirty="0">
                <a:solidFill>
                  <a:srgbClr val="24292E"/>
                </a:solidFill>
                <a:latin typeface="Segoe UI"/>
                <a:cs typeface="Segoe UI"/>
              </a:rPr>
              <a:t> </a:t>
            </a:r>
            <a:r>
              <a:rPr sz="1450" i="1" spc="-50" dirty="0">
                <a:solidFill>
                  <a:srgbClr val="24292E"/>
                </a:solidFill>
                <a:latin typeface="Palatino Linotype"/>
                <a:cs typeface="Palatino Linotype"/>
              </a:rPr>
              <a:t>θ</a:t>
            </a:r>
            <a:r>
              <a:rPr sz="1450" i="1" dirty="0">
                <a:solidFill>
                  <a:srgbClr val="24292E"/>
                </a:solidFill>
                <a:latin typeface="Palatino Linotype"/>
                <a:cs typeface="Palatino Linotype"/>
              </a:rPr>
              <a:t>	</a:t>
            </a:r>
            <a:r>
              <a:rPr sz="1450" spc="60" dirty="0">
                <a:solidFill>
                  <a:srgbClr val="24292E"/>
                </a:solidFill>
                <a:latin typeface="Cambria"/>
                <a:cs typeface="Cambria"/>
              </a:rPr>
              <a:t>∈</a:t>
            </a:r>
            <a:r>
              <a:rPr sz="1450" spc="100" dirty="0">
                <a:solidFill>
                  <a:srgbClr val="24292E"/>
                </a:solidFill>
                <a:latin typeface="Cambria"/>
                <a:cs typeface="Cambria"/>
              </a:rPr>
              <a:t> </a:t>
            </a:r>
            <a:r>
              <a:rPr sz="1450" spc="-40" dirty="0">
                <a:solidFill>
                  <a:srgbClr val="24292E"/>
                </a:solidFill>
                <a:latin typeface="Cambria"/>
                <a:cs typeface="Cambria"/>
              </a:rPr>
              <a:t>[0,</a:t>
            </a:r>
            <a:r>
              <a:rPr sz="1450" spc="-70" dirty="0">
                <a:solidFill>
                  <a:srgbClr val="24292E"/>
                </a:solidFill>
                <a:latin typeface="Cambria"/>
                <a:cs typeface="Cambria"/>
              </a:rPr>
              <a:t> </a:t>
            </a:r>
            <a:r>
              <a:rPr sz="1450" spc="-105" dirty="0">
                <a:solidFill>
                  <a:srgbClr val="24292E"/>
                </a:solidFill>
                <a:latin typeface="Cambria"/>
                <a:cs typeface="Cambria"/>
              </a:rPr>
              <a:t>1]</a:t>
            </a:r>
            <a:r>
              <a:rPr sz="1450" spc="25" dirty="0">
                <a:solidFill>
                  <a:srgbClr val="24292E"/>
                </a:solidFill>
                <a:latin typeface="Cambria"/>
                <a:cs typeface="Cambria"/>
              </a:rPr>
              <a:t> </a:t>
            </a:r>
            <a:r>
              <a:rPr sz="1200" spc="-10" dirty="0">
                <a:solidFill>
                  <a:srgbClr val="24292E"/>
                </a:solidFill>
                <a:latin typeface="Microsoft YaHei"/>
                <a:cs typeface="Microsoft YaHei"/>
              </a:rPr>
              <a:t>、</a:t>
            </a:r>
            <a:r>
              <a:rPr sz="1450" spc="434" dirty="0">
                <a:solidFill>
                  <a:srgbClr val="24292E"/>
                </a:solidFill>
                <a:latin typeface="Times New Roman"/>
                <a:cs typeface="Times New Roman"/>
              </a:rPr>
              <a:t>∑</a:t>
            </a:r>
            <a:r>
              <a:rPr sz="1450" dirty="0">
                <a:solidFill>
                  <a:srgbClr val="24292E"/>
                </a:solidFill>
                <a:latin typeface="Times New Roman"/>
                <a:cs typeface="Times New Roman"/>
              </a:rPr>
              <a:t>	</a:t>
            </a:r>
            <a:r>
              <a:rPr sz="1450" i="1" dirty="0">
                <a:solidFill>
                  <a:srgbClr val="24292E"/>
                </a:solidFill>
                <a:latin typeface="Palatino Linotype"/>
                <a:cs typeface="Palatino Linotype"/>
              </a:rPr>
              <a:t>θ</a:t>
            </a:r>
            <a:r>
              <a:rPr sz="1500" i="1" baseline="-8333" dirty="0">
                <a:solidFill>
                  <a:srgbClr val="24292E"/>
                </a:solidFill>
                <a:latin typeface="Palatino Linotype"/>
                <a:cs typeface="Palatino Linotype"/>
              </a:rPr>
              <a:t>k</a:t>
            </a:r>
            <a:r>
              <a:rPr sz="1500" i="1" spc="270" baseline="-8333" dirty="0">
                <a:solidFill>
                  <a:srgbClr val="24292E"/>
                </a:solidFill>
                <a:latin typeface="Palatino Linotype"/>
                <a:cs typeface="Palatino Linotype"/>
              </a:rPr>
              <a:t> </a:t>
            </a:r>
            <a:r>
              <a:rPr sz="1450" spc="325" dirty="0">
                <a:solidFill>
                  <a:srgbClr val="24292E"/>
                </a:solidFill>
                <a:latin typeface="Cambria"/>
                <a:cs typeface="Cambria"/>
              </a:rPr>
              <a:t>=</a:t>
            </a:r>
            <a:r>
              <a:rPr sz="1450" spc="25" dirty="0">
                <a:solidFill>
                  <a:srgbClr val="24292E"/>
                </a:solidFill>
                <a:latin typeface="Cambria"/>
                <a:cs typeface="Cambria"/>
              </a:rPr>
              <a:t> </a:t>
            </a:r>
            <a:r>
              <a:rPr sz="1450" spc="-50" dirty="0">
                <a:solidFill>
                  <a:srgbClr val="24292E"/>
                </a:solidFill>
                <a:latin typeface="Cambria"/>
                <a:cs typeface="Cambria"/>
              </a:rPr>
              <a:t>1</a:t>
            </a:r>
            <a:endParaRPr sz="1450">
              <a:latin typeface="Cambria"/>
              <a:cs typeface="Cambria"/>
            </a:endParaRPr>
          </a:p>
        </p:txBody>
      </p:sp>
      <p:sp>
        <p:nvSpPr>
          <p:cNvPr id="18" name="object 18"/>
          <p:cNvSpPr txBox="1"/>
          <p:nvPr/>
        </p:nvSpPr>
        <p:spPr>
          <a:xfrm>
            <a:off x="5382816" y="2057534"/>
            <a:ext cx="97155" cy="247015"/>
          </a:xfrm>
          <a:prstGeom prst="rect">
            <a:avLst/>
          </a:prstGeom>
        </p:spPr>
        <p:txBody>
          <a:bodyPr vert="horz" wrap="square" lIns="0" tIns="12700" rIns="0" bIns="0" rtlCol="0">
            <a:spAutoFit/>
          </a:bodyPr>
          <a:lstStyle/>
          <a:p>
            <a:pPr marL="12700">
              <a:lnSpc>
                <a:spcPct val="100000"/>
              </a:lnSpc>
              <a:spcBef>
                <a:spcPts val="100"/>
              </a:spcBef>
            </a:pPr>
            <a:r>
              <a:rPr sz="1450" spc="-50" dirty="0">
                <a:solidFill>
                  <a:srgbClr val="24292E"/>
                </a:solidFill>
                <a:latin typeface="Cambria"/>
                <a:cs typeface="Cambria"/>
              </a:rPr>
              <a:t>(</a:t>
            </a:r>
            <a:endParaRPr sz="1450">
              <a:latin typeface="Cambria"/>
              <a:cs typeface="Cambria"/>
            </a:endParaRPr>
          </a:p>
        </p:txBody>
      </p:sp>
      <p:sp>
        <p:nvSpPr>
          <p:cNvPr id="19" name="object 19"/>
          <p:cNvSpPr txBox="1"/>
          <p:nvPr/>
        </p:nvSpPr>
        <p:spPr>
          <a:xfrm>
            <a:off x="5302128" y="2103362"/>
            <a:ext cx="314325" cy="180340"/>
          </a:xfrm>
          <a:prstGeom prst="rect">
            <a:avLst/>
          </a:prstGeom>
        </p:spPr>
        <p:txBody>
          <a:bodyPr vert="horz" wrap="square" lIns="0" tIns="14604" rIns="0" bIns="0" rtlCol="0">
            <a:spAutoFit/>
          </a:bodyPr>
          <a:lstStyle/>
          <a:p>
            <a:pPr marL="12700">
              <a:lnSpc>
                <a:spcPct val="100000"/>
              </a:lnSpc>
              <a:spcBef>
                <a:spcPts val="114"/>
              </a:spcBef>
            </a:pPr>
            <a:r>
              <a:rPr sz="1000" spc="95" dirty="0">
                <a:solidFill>
                  <a:srgbClr val="24292E"/>
                </a:solidFill>
                <a:latin typeface="Cambria"/>
                <a:cs typeface="Cambria"/>
              </a:rPr>
              <a:t>Γ</a:t>
            </a:r>
            <a:r>
              <a:rPr sz="1000" spc="350" dirty="0">
                <a:solidFill>
                  <a:srgbClr val="24292E"/>
                </a:solidFill>
                <a:latin typeface="Cambria"/>
                <a:cs typeface="Cambria"/>
              </a:rPr>
              <a:t> </a:t>
            </a:r>
            <a:r>
              <a:rPr sz="1000" spc="305" dirty="0">
                <a:solidFill>
                  <a:srgbClr val="24292E"/>
                </a:solidFill>
                <a:latin typeface="Times New Roman"/>
                <a:cs typeface="Times New Roman"/>
              </a:rPr>
              <a:t>∑</a:t>
            </a:r>
            <a:endParaRPr sz="1000">
              <a:latin typeface="Times New Roman"/>
              <a:cs typeface="Times New Roman"/>
            </a:endParaRPr>
          </a:p>
        </p:txBody>
      </p:sp>
      <p:sp>
        <p:nvSpPr>
          <p:cNvPr id="20" name="object 20"/>
          <p:cNvSpPr txBox="1"/>
          <p:nvPr/>
        </p:nvSpPr>
        <p:spPr>
          <a:xfrm>
            <a:off x="5590640" y="2178345"/>
            <a:ext cx="194310" cy="136525"/>
          </a:xfrm>
          <a:prstGeom prst="rect">
            <a:avLst/>
          </a:prstGeom>
        </p:spPr>
        <p:txBody>
          <a:bodyPr vert="horz" wrap="square" lIns="0" tIns="15875" rIns="0" bIns="0" rtlCol="0">
            <a:spAutoFit/>
          </a:bodyPr>
          <a:lstStyle/>
          <a:p>
            <a:pPr marL="12700">
              <a:lnSpc>
                <a:spcPct val="100000"/>
              </a:lnSpc>
              <a:spcBef>
                <a:spcPts val="125"/>
              </a:spcBef>
            </a:pPr>
            <a:r>
              <a:rPr sz="700" i="1" spc="50" dirty="0">
                <a:solidFill>
                  <a:srgbClr val="24292E"/>
                </a:solidFill>
                <a:latin typeface="Palatino Linotype"/>
                <a:cs typeface="Palatino Linotype"/>
              </a:rPr>
              <a:t>k</a:t>
            </a:r>
            <a:r>
              <a:rPr sz="700" spc="50" dirty="0">
                <a:solidFill>
                  <a:srgbClr val="24292E"/>
                </a:solidFill>
                <a:latin typeface="Cambria"/>
                <a:cs typeface="Cambria"/>
              </a:rPr>
              <a:t>=1</a:t>
            </a:r>
            <a:endParaRPr sz="700">
              <a:latin typeface="Cambria"/>
              <a:cs typeface="Cambria"/>
            </a:endParaRPr>
          </a:p>
        </p:txBody>
      </p:sp>
      <p:sp>
        <p:nvSpPr>
          <p:cNvPr id="21" name="object 21"/>
          <p:cNvSpPr txBox="1"/>
          <p:nvPr/>
        </p:nvSpPr>
        <p:spPr>
          <a:xfrm>
            <a:off x="5590640" y="2083068"/>
            <a:ext cx="104139" cy="136525"/>
          </a:xfrm>
          <a:prstGeom prst="rect">
            <a:avLst/>
          </a:prstGeom>
        </p:spPr>
        <p:txBody>
          <a:bodyPr vert="horz" wrap="square" lIns="0" tIns="15875" rIns="0" bIns="0" rtlCol="0">
            <a:spAutoFit/>
          </a:bodyPr>
          <a:lstStyle/>
          <a:p>
            <a:pPr marL="12700">
              <a:lnSpc>
                <a:spcPct val="100000"/>
              </a:lnSpc>
              <a:spcBef>
                <a:spcPts val="125"/>
              </a:spcBef>
            </a:pPr>
            <a:r>
              <a:rPr sz="700" i="1" spc="100" dirty="0">
                <a:solidFill>
                  <a:srgbClr val="24292E"/>
                </a:solidFill>
                <a:latin typeface="Palatino Linotype"/>
                <a:cs typeface="Palatino Linotype"/>
              </a:rPr>
              <a:t>K</a:t>
            </a:r>
            <a:endParaRPr sz="700">
              <a:latin typeface="Palatino Linotype"/>
              <a:cs typeface="Palatino Linotype"/>
            </a:endParaRPr>
          </a:p>
        </p:txBody>
      </p:sp>
      <p:sp>
        <p:nvSpPr>
          <p:cNvPr id="22" name="object 22"/>
          <p:cNvSpPr txBox="1"/>
          <p:nvPr/>
        </p:nvSpPr>
        <p:spPr>
          <a:xfrm>
            <a:off x="5796826" y="2057534"/>
            <a:ext cx="247015" cy="247015"/>
          </a:xfrm>
          <a:prstGeom prst="rect">
            <a:avLst/>
          </a:prstGeom>
        </p:spPr>
        <p:txBody>
          <a:bodyPr vert="horz" wrap="square" lIns="0" tIns="12700" rIns="0" bIns="0" rtlCol="0">
            <a:spAutoFit/>
          </a:bodyPr>
          <a:lstStyle/>
          <a:p>
            <a:pPr marL="12700">
              <a:lnSpc>
                <a:spcPct val="100000"/>
              </a:lnSpc>
              <a:spcBef>
                <a:spcPts val="100"/>
              </a:spcBef>
            </a:pPr>
            <a:r>
              <a:rPr sz="1500" i="1" spc="82" baseline="5555" dirty="0">
                <a:solidFill>
                  <a:srgbClr val="24292E"/>
                </a:solidFill>
                <a:latin typeface="Palatino Linotype"/>
                <a:cs typeface="Palatino Linotype"/>
              </a:rPr>
              <a:t>α</a:t>
            </a:r>
            <a:r>
              <a:rPr sz="700" i="1" spc="55" dirty="0">
                <a:solidFill>
                  <a:srgbClr val="24292E"/>
                </a:solidFill>
                <a:latin typeface="Palatino Linotype"/>
                <a:cs typeface="Palatino Linotype"/>
              </a:rPr>
              <a:t>k</a:t>
            </a:r>
            <a:r>
              <a:rPr sz="700" i="1" spc="-25" dirty="0">
                <a:solidFill>
                  <a:srgbClr val="24292E"/>
                </a:solidFill>
                <a:latin typeface="Palatino Linotype"/>
                <a:cs typeface="Palatino Linotype"/>
              </a:rPr>
              <a:t> </a:t>
            </a:r>
            <a:r>
              <a:rPr sz="1450" spc="-50" dirty="0">
                <a:solidFill>
                  <a:srgbClr val="24292E"/>
                </a:solidFill>
                <a:latin typeface="Cambria"/>
                <a:cs typeface="Cambria"/>
              </a:rPr>
              <a:t>)</a:t>
            </a:r>
            <a:endParaRPr sz="1450">
              <a:latin typeface="Cambria"/>
              <a:cs typeface="Cambria"/>
            </a:endParaRPr>
          </a:p>
        </p:txBody>
      </p:sp>
      <p:sp>
        <p:nvSpPr>
          <p:cNvPr id="23" name="object 23"/>
          <p:cNvSpPr/>
          <p:nvPr/>
        </p:nvSpPr>
        <p:spPr>
          <a:xfrm>
            <a:off x="5306789" y="2092719"/>
            <a:ext cx="724535" cy="9525"/>
          </a:xfrm>
          <a:custGeom>
            <a:avLst/>
            <a:gdLst/>
            <a:ahLst/>
            <a:cxnLst/>
            <a:rect l="l" t="t" r="r" b="b"/>
            <a:pathLst>
              <a:path w="724535" h="9525">
                <a:moveTo>
                  <a:pt x="724106" y="9527"/>
                </a:moveTo>
                <a:lnTo>
                  <a:pt x="0" y="9527"/>
                </a:lnTo>
                <a:lnTo>
                  <a:pt x="0" y="0"/>
                </a:lnTo>
                <a:lnTo>
                  <a:pt x="724106" y="0"/>
                </a:lnTo>
                <a:lnTo>
                  <a:pt x="724106" y="9527"/>
                </a:lnTo>
                <a:close/>
              </a:path>
            </a:pathLst>
          </a:custGeom>
          <a:solidFill>
            <a:srgbClr val="24292E"/>
          </a:solidFill>
        </p:spPr>
        <p:txBody>
          <a:bodyPr wrap="square" lIns="0" tIns="0" rIns="0" bIns="0" rtlCol="0"/>
          <a:lstStyle/>
          <a:p>
            <a:endParaRPr/>
          </a:p>
        </p:txBody>
      </p:sp>
      <p:sp>
        <p:nvSpPr>
          <p:cNvPr id="24" name="object 24"/>
          <p:cNvSpPr txBox="1"/>
          <p:nvPr/>
        </p:nvSpPr>
        <p:spPr>
          <a:xfrm>
            <a:off x="5452636" y="1987791"/>
            <a:ext cx="194310" cy="136525"/>
          </a:xfrm>
          <a:prstGeom prst="rect">
            <a:avLst/>
          </a:prstGeom>
        </p:spPr>
        <p:txBody>
          <a:bodyPr vert="horz" wrap="square" lIns="0" tIns="15875" rIns="0" bIns="0" rtlCol="0">
            <a:spAutoFit/>
          </a:bodyPr>
          <a:lstStyle/>
          <a:p>
            <a:pPr marL="12700">
              <a:lnSpc>
                <a:spcPct val="100000"/>
              </a:lnSpc>
              <a:spcBef>
                <a:spcPts val="125"/>
              </a:spcBef>
            </a:pPr>
            <a:r>
              <a:rPr sz="700" i="1" spc="50" dirty="0">
                <a:solidFill>
                  <a:srgbClr val="24292E"/>
                </a:solidFill>
                <a:latin typeface="Palatino Linotype"/>
                <a:cs typeface="Palatino Linotype"/>
              </a:rPr>
              <a:t>k</a:t>
            </a:r>
            <a:r>
              <a:rPr sz="700" spc="50" dirty="0">
                <a:solidFill>
                  <a:srgbClr val="24292E"/>
                </a:solidFill>
                <a:latin typeface="Cambria"/>
                <a:cs typeface="Cambria"/>
              </a:rPr>
              <a:t>=1</a:t>
            </a:r>
            <a:endParaRPr sz="700">
              <a:latin typeface="Cambria"/>
              <a:cs typeface="Cambria"/>
            </a:endParaRPr>
          </a:p>
        </p:txBody>
      </p:sp>
      <p:sp>
        <p:nvSpPr>
          <p:cNvPr id="25" name="object 25"/>
          <p:cNvSpPr txBox="1"/>
          <p:nvPr/>
        </p:nvSpPr>
        <p:spPr>
          <a:xfrm>
            <a:off x="5305460" y="1846114"/>
            <a:ext cx="276860" cy="180340"/>
          </a:xfrm>
          <a:prstGeom prst="rect">
            <a:avLst/>
          </a:prstGeom>
        </p:spPr>
        <p:txBody>
          <a:bodyPr vert="horz" wrap="square" lIns="0" tIns="14604" rIns="0" bIns="0" rtlCol="0">
            <a:spAutoFit/>
          </a:bodyPr>
          <a:lstStyle/>
          <a:p>
            <a:pPr marL="38100">
              <a:lnSpc>
                <a:spcPct val="100000"/>
              </a:lnSpc>
              <a:spcBef>
                <a:spcPts val="114"/>
              </a:spcBef>
            </a:pPr>
            <a:r>
              <a:rPr sz="1500" spc="165" baseline="-25000" dirty="0">
                <a:solidFill>
                  <a:srgbClr val="24292E"/>
                </a:solidFill>
                <a:latin typeface="Times New Roman"/>
                <a:cs typeface="Times New Roman"/>
              </a:rPr>
              <a:t>∏</a:t>
            </a:r>
            <a:r>
              <a:rPr sz="700" i="1" spc="110" dirty="0">
                <a:solidFill>
                  <a:srgbClr val="24292E"/>
                </a:solidFill>
                <a:latin typeface="Palatino Linotype"/>
                <a:cs typeface="Palatino Linotype"/>
              </a:rPr>
              <a:t>K</a:t>
            </a:r>
            <a:endParaRPr sz="700">
              <a:latin typeface="Palatino Linotype"/>
              <a:cs typeface="Palatino Linotype"/>
            </a:endParaRPr>
          </a:p>
        </p:txBody>
      </p:sp>
      <p:sp>
        <p:nvSpPr>
          <p:cNvPr id="26" name="object 26"/>
          <p:cNvSpPr txBox="1"/>
          <p:nvPr/>
        </p:nvSpPr>
        <p:spPr>
          <a:xfrm>
            <a:off x="5633422" y="1903280"/>
            <a:ext cx="407670" cy="180340"/>
          </a:xfrm>
          <a:prstGeom prst="rect">
            <a:avLst/>
          </a:prstGeom>
        </p:spPr>
        <p:txBody>
          <a:bodyPr vert="horz" wrap="square" lIns="0" tIns="14604" rIns="0" bIns="0" rtlCol="0">
            <a:spAutoFit/>
          </a:bodyPr>
          <a:lstStyle/>
          <a:p>
            <a:pPr marL="38100">
              <a:lnSpc>
                <a:spcPct val="100000"/>
              </a:lnSpc>
              <a:spcBef>
                <a:spcPts val="114"/>
              </a:spcBef>
            </a:pPr>
            <a:r>
              <a:rPr sz="1000" spc="50" dirty="0">
                <a:solidFill>
                  <a:srgbClr val="24292E"/>
                </a:solidFill>
                <a:latin typeface="Cambria"/>
                <a:cs typeface="Cambria"/>
              </a:rPr>
              <a:t>Γ(</a:t>
            </a:r>
            <a:r>
              <a:rPr sz="1000" i="1" spc="50" dirty="0">
                <a:solidFill>
                  <a:srgbClr val="24292E"/>
                </a:solidFill>
                <a:latin typeface="Palatino Linotype"/>
                <a:cs typeface="Palatino Linotype"/>
              </a:rPr>
              <a:t>α</a:t>
            </a:r>
            <a:r>
              <a:rPr sz="1050" i="1" spc="75" baseline="-11904" dirty="0">
                <a:solidFill>
                  <a:srgbClr val="24292E"/>
                </a:solidFill>
                <a:latin typeface="Palatino Linotype"/>
                <a:cs typeface="Palatino Linotype"/>
              </a:rPr>
              <a:t>k</a:t>
            </a:r>
            <a:r>
              <a:rPr sz="1050" i="1" spc="-22" baseline="-11904" dirty="0">
                <a:solidFill>
                  <a:srgbClr val="24292E"/>
                </a:solidFill>
                <a:latin typeface="Palatino Linotype"/>
                <a:cs typeface="Palatino Linotype"/>
              </a:rPr>
              <a:t> </a:t>
            </a:r>
            <a:r>
              <a:rPr sz="1000" spc="-50" dirty="0">
                <a:solidFill>
                  <a:srgbClr val="24292E"/>
                </a:solidFill>
                <a:latin typeface="Cambria"/>
                <a:cs typeface="Cambria"/>
              </a:rPr>
              <a:t>)</a:t>
            </a:r>
            <a:endParaRPr sz="1000">
              <a:latin typeface="Cambria"/>
              <a:cs typeface="Cambria"/>
            </a:endParaRPr>
          </a:p>
        </p:txBody>
      </p:sp>
      <p:sp>
        <p:nvSpPr>
          <p:cNvPr id="27" name="object 27"/>
          <p:cNvSpPr txBox="1"/>
          <p:nvPr/>
        </p:nvSpPr>
        <p:spPr>
          <a:xfrm>
            <a:off x="5635003" y="4856874"/>
            <a:ext cx="261620" cy="180340"/>
          </a:xfrm>
          <a:prstGeom prst="rect">
            <a:avLst/>
          </a:prstGeom>
        </p:spPr>
        <p:txBody>
          <a:bodyPr vert="horz" wrap="square" lIns="0" tIns="14604" rIns="0" bIns="0" rtlCol="0">
            <a:spAutoFit/>
          </a:bodyPr>
          <a:lstStyle/>
          <a:p>
            <a:pPr marL="12700">
              <a:lnSpc>
                <a:spcPct val="100000"/>
              </a:lnSpc>
              <a:spcBef>
                <a:spcPts val="114"/>
              </a:spcBef>
            </a:pPr>
            <a:r>
              <a:rPr sz="1000" i="1" spc="70" dirty="0">
                <a:solidFill>
                  <a:srgbClr val="24292E"/>
                </a:solidFill>
                <a:latin typeface="Palatino Linotype"/>
                <a:cs typeface="Palatino Linotype"/>
              </a:rPr>
              <a:t>k</a:t>
            </a:r>
            <a:r>
              <a:rPr sz="1000" spc="70" dirty="0">
                <a:solidFill>
                  <a:srgbClr val="24292E"/>
                </a:solidFill>
                <a:latin typeface="Cambria"/>
                <a:cs typeface="Cambria"/>
              </a:rPr>
              <a:t>=1</a:t>
            </a:r>
            <a:endParaRPr sz="1000">
              <a:latin typeface="Cambria"/>
              <a:cs typeface="Cambria"/>
            </a:endParaRPr>
          </a:p>
        </p:txBody>
      </p:sp>
      <p:sp>
        <p:nvSpPr>
          <p:cNvPr id="28" name="object 28"/>
          <p:cNvSpPr txBox="1"/>
          <p:nvPr/>
        </p:nvSpPr>
        <p:spPr>
          <a:xfrm>
            <a:off x="5635003" y="4704431"/>
            <a:ext cx="135255" cy="180340"/>
          </a:xfrm>
          <a:prstGeom prst="rect">
            <a:avLst/>
          </a:prstGeom>
        </p:spPr>
        <p:txBody>
          <a:bodyPr vert="horz" wrap="square" lIns="0" tIns="14604" rIns="0" bIns="0" rtlCol="0">
            <a:spAutoFit/>
          </a:bodyPr>
          <a:lstStyle/>
          <a:p>
            <a:pPr marL="12700">
              <a:lnSpc>
                <a:spcPct val="100000"/>
              </a:lnSpc>
              <a:spcBef>
                <a:spcPts val="114"/>
              </a:spcBef>
            </a:pPr>
            <a:r>
              <a:rPr sz="1000" i="1" spc="145" dirty="0">
                <a:solidFill>
                  <a:srgbClr val="24292E"/>
                </a:solidFill>
                <a:latin typeface="Palatino Linotype"/>
                <a:cs typeface="Palatino Linotype"/>
              </a:rPr>
              <a:t>K</a:t>
            </a:r>
            <a:endParaRPr sz="1000">
              <a:latin typeface="Palatino Linotype"/>
              <a:cs typeface="Palatino Linotype"/>
            </a:endParaRPr>
          </a:p>
        </p:txBody>
      </p:sp>
      <p:sp>
        <p:nvSpPr>
          <p:cNvPr id="29" name="object 29"/>
          <p:cNvSpPr txBox="1"/>
          <p:nvPr/>
        </p:nvSpPr>
        <p:spPr>
          <a:xfrm>
            <a:off x="1706901" y="5154044"/>
            <a:ext cx="3975735" cy="247015"/>
          </a:xfrm>
          <a:prstGeom prst="rect">
            <a:avLst/>
          </a:prstGeom>
        </p:spPr>
        <p:txBody>
          <a:bodyPr vert="horz" wrap="square" lIns="0" tIns="12700" rIns="0" bIns="0" rtlCol="0">
            <a:spAutoFit/>
          </a:bodyPr>
          <a:lstStyle/>
          <a:p>
            <a:pPr marL="12700">
              <a:lnSpc>
                <a:spcPct val="100000"/>
              </a:lnSpc>
              <a:spcBef>
                <a:spcPts val="100"/>
              </a:spcBef>
            </a:pPr>
            <a:r>
              <a:rPr sz="1200" b="1" spc="-10" dirty="0">
                <a:solidFill>
                  <a:srgbClr val="24292E"/>
                </a:solidFill>
                <a:latin typeface="Microsoft YaHei"/>
                <a:cs typeface="Microsoft YaHei"/>
              </a:rPr>
              <a:t>主题词语比例 </a:t>
            </a:r>
            <a:r>
              <a:rPr sz="1450" b="1" i="1" dirty="0">
                <a:solidFill>
                  <a:srgbClr val="24292E"/>
                </a:solidFill>
                <a:latin typeface="Arial"/>
                <a:cs typeface="Arial"/>
              </a:rPr>
              <a:t>ϕ</a:t>
            </a:r>
            <a:r>
              <a:rPr sz="1200" spc="-15" dirty="0">
                <a:solidFill>
                  <a:srgbClr val="24292E"/>
                </a:solidFill>
                <a:latin typeface="Segoe UI Semibold"/>
                <a:cs typeface="Segoe UI Semibold"/>
              </a:rPr>
              <a:t>: </a:t>
            </a:r>
            <a:r>
              <a:rPr sz="1200" spc="-10" dirty="0">
                <a:solidFill>
                  <a:srgbClr val="24292E"/>
                </a:solidFill>
                <a:latin typeface="Microsoft YaHei"/>
                <a:cs typeface="Microsoft YaHei"/>
              </a:rPr>
              <a:t>一个主题必须 </a:t>
            </a:r>
            <a:r>
              <a:rPr sz="1200" dirty="0">
                <a:solidFill>
                  <a:srgbClr val="24292E"/>
                </a:solidFill>
                <a:latin typeface="Segoe UI"/>
                <a:cs typeface="Segoe UI"/>
              </a:rPr>
              <a:t>100%</a:t>
            </a:r>
            <a:r>
              <a:rPr sz="1200" spc="-25" dirty="0">
                <a:solidFill>
                  <a:srgbClr val="24292E"/>
                </a:solidFill>
                <a:latin typeface="Segoe UI"/>
                <a:cs typeface="Segoe UI"/>
              </a:rPr>
              <a:t> </a:t>
            </a:r>
            <a:r>
              <a:rPr sz="1200" spc="-5" dirty="0">
                <a:solidFill>
                  <a:srgbClr val="24292E"/>
                </a:solidFill>
                <a:latin typeface="Microsoft YaHei"/>
                <a:cs typeface="Microsoft YaHei"/>
              </a:rPr>
              <a:t>由所有词汇构成。</a:t>
            </a:r>
            <a:r>
              <a:rPr sz="1450" spc="434" dirty="0">
                <a:solidFill>
                  <a:srgbClr val="24292E"/>
                </a:solidFill>
                <a:latin typeface="Times New Roman"/>
                <a:cs typeface="Times New Roman"/>
              </a:rPr>
              <a:t>∑</a:t>
            </a:r>
            <a:endParaRPr sz="1450">
              <a:latin typeface="Times New Roman"/>
              <a:cs typeface="Times New Roman"/>
            </a:endParaRPr>
          </a:p>
        </p:txBody>
      </p:sp>
      <p:sp>
        <p:nvSpPr>
          <p:cNvPr id="30" name="object 30"/>
          <p:cNvSpPr txBox="1"/>
          <p:nvPr/>
        </p:nvSpPr>
        <p:spPr>
          <a:xfrm>
            <a:off x="5656887" y="5257039"/>
            <a:ext cx="257810" cy="180340"/>
          </a:xfrm>
          <a:prstGeom prst="rect">
            <a:avLst/>
          </a:prstGeom>
        </p:spPr>
        <p:txBody>
          <a:bodyPr vert="horz" wrap="square" lIns="0" tIns="14604" rIns="0" bIns="0" rtlCol="0">
            <a:spAutoFit/>
          </a:bodyPr>
          <a:lstStyle/>
          <a:p>
            <a:pPr marL="12700">
              <a:lnSpc>
                <a:spcPct val="100000"/>
              </a:lnSpc>
              <a:spcBef>
                <a:spcPts val="114"/>
              </a:spcBef>
            </a:pPr>
            <a:r>
              <a:rPr sz="1000" i="1" spc="45" dirty="0">
                <a:solidFill>
                  <a:srgbClr val="24292E"/>
                </a:solidFill>
                <a:latin typeface="Palatino Linotype"/>
                <a:cs typeface="Palatino Linotype"/>
              </a:rPr>
              <a:t>v</a:t>
            </a:r>
            <a:r>
              <a:rPr sz="1000" spc="45" dirty="0">
                <a:solidFill>
                  <a:srgbClr val="24292E"/>
                </a:solidFill>
                <a:latin typeface="Cambria"/>
                <a:cs typeface="Cambria"/>
              </a:rPr>
              <a:t>=1</a:t>
            </a:r>
            <a:endParaRPr sz="1000">
              <a:latin typeface="Cambria"/>
              <a:cs typeface="Cambria"/>
            </a:endParaRPr>
          </a:p>
        </p:txBody>
      </p:sp>
      <p:sp>
        <p:nvSpPr>
          <p:cNvPr id="31" name="object 31"/>
          <p:cNvSpPr txBox="1"/>
          <p:nvPr/>
        </p:nvSpPr>
        <p:spPr>
          <a:xfrm>
            <a:off x="5656887" y="5114123"/>
            <a:ext cx="100965" cy="180340"/>
          </a:xfrm>
          <a:prstGeom prst="rect">
            <a:avLst/>
          </a:prstGeom>
        </p:spPr>
        <p:txBody>
          <a:bodyPr vert="horz" wrap="square" lIns="0" tIns="14604" rIns="0" bIns="0" rtlCol="0">
            <a:spAutoFit/>
          </a:bodyPr>
          <a:lstStyle/>
          <a:p>
            <a:pPr marL="12700">
              <a:lnSpc>
                <a:spcPct val="100000"/>
              </a:lnSpc>
              <a:spcBef>
                <a:spcPts val="114"/>
              </a:spcBef>
            </a:pPr>
            <a:r>
              <a:rPr sz="1000" i="1" spc="-50" dirty="0">
                <a:solidFill>
                  <a:srgbClr val="24292E"/>
                </a:solidFill>
                <a:latin typeface="Palatino Linotype"/>
                <a:cs typeface="Palatino Linotype"/>
              </a:rPr>
              <a:t>V</a:t>
            </a:r>
            <a:endParaRPr sz="1000">
              <a:latin typeface="Palatino Linotype"/>
              <a:cs typeface="Palatino Linotype"/>
            </a:endParaRPr>
          </a:p>
        </p:txBody>
      </p:sp>
      <p:sp>
        <p:nvSpPr>
          <p:cNvPr id="32" name="object 32"/>
          <p:cNvSpPr txBox="1"/>
          <p:nvPr/>
        </p:nvSpPr>
        <p:spPr>
          <a:xfrm>
            <a:off x="5887991" y="4744352"/>
            <a:ext cx="785495" cy="656590"/>
          </a:xfrm>
          <a:prstGeom prst="rect">
            <a:avLst/>
          </a:prstGeom>
        </p:spPr>
        <p:txBody>
          <a:bodyPr vert="horz" wrap="square" lIns="0" tIns="12700" rIns="0" bIns="0" rtlCol="0">
            <a:spAutoFit/>
          </a:bodyPr>
          <a:lstStyle/>
          <a:p>
            <a:pPr marL="38100">
              <a:lnSpc>
                <a:spcPct val="100000"/>
              </a:lnSpc>
              <a:spcBef>
                <a:spcPts val="100"/>
              </a:spcBef>
            </a:pPr>
            <a:r>
              <a:rPr sz="1450" i="1" dirty="0">
                <a:solidFill>
                  <a:srgbClr val="24292E"/>
                </a:solidFill>
                <a:latin typeface="Palatino Linotype"/>
                <a:cs typeface="Palatino Linotype"/>
              </a:rPr>
              <a:t>θ</a:t>
            </a:r>
            <a:r>
              <a:rPr sz="1500" i="1" baseline="-13888" dirty="0">
                <a:solidFill>
                  <a:srgbClr val="24292E"/>
                </a:solidFill>
                <a:latin typeface="Palatino Linotype"/>
                <a:cs typeface="Palatino Linotype"/>
              </a:rPr>
              <a:t>k</a:t>
            </a:r>
            <a:r>
              <a:rPr sz="1500" i="1" spc="270" baseline="-13888" dirty="0">
                <a:solidFill>
                  <a:srgbClr val="24292E"/>
                </a:solidFill>
                <a:latin typeface="Palatino Linotype"/>
                <a:cs typeface="Palatino Linotype"/>
              </a:rPr>
              <a:t> </a:t>
            </a:r>
            <a:r>
              <a:rPr sz="1450" spc="175" dirty="0">
                <a:solidFill>
                  <a:srgbClr val="24292E"/>
                </a:solidFill>
                <a:latin typeface="Cambria"/>
                <a:cs typeface="Cambria"/>
              </a:rPr>
              <a:t>= </a:t>
            </a:r>
            <a:r>
              <a:rPr sz="1450" spc="-80" dirty="0">
                <a:solidFill>
                  <a:srgbClr val="24292E"/>
                </a:solidFill>
                <a:latin typeface="Cambria"/>
                <a:cs typeface="Cambria"/>
              </a:rPr>
              <a:t>1</a:t>
            </a:r>
            <a:r>
              <a:rPr sz="1200" spc="-50" dirty="0">
                <a:solidFill>
                  <a:srgbClr val="24292E"/>
                </a:solidFill>
                <a:latin typeface="Microsoft YaHei"/>
                <a:cs typeface="Microsoft YaHei"/>
              </a:rPr>
              <a:t>。</a:t>
            </a:r>
            <a:endParaRPr sz="1200">
              <a:latin typeface="Microsoft YaHei"/>
              <a:cs typeface="Microsoft YaHei"/>
            </a:endParaRPr>
          </a:p>
          <a:p>
            <a:pPr marL="59690">
              <a:lnSpc>
                <a:spcPct val="100000"/>
              </a:lnSpc>
              <a:spcBef>
                <a:spcPts val="1485"/>
              </a:spcBef>
            </a:pPr>
            <a:r>
              <a:rPr sz="1450" i="1" dirty="0">
                <a:solidFill>
                  <a:srgbClr val="24292E"/>
                </a:solidFill>
                <a:latin typeface="Palatino Linotype"/>
                <a:cs typeface="Palatino Linotype"/>
              </a:rPr>
              <a:t>ϕ</a:t>
            </a:r>
            <a:r>
              <a:rPr sz="1500" i="1" baseline="-8333" dirty="0">
                <a:solidFill>
                  <a:srgbClr val="24292E"/>
                </a:solidFill>
                <a:latin typeface="Palatino Linotype"/>
                <a:cs typeface="Palatino Linotype"/>
              </a:rPr>
              <a:t>v</a:t>
            </a:r>
            <a:r>
              <a:rPr sz="1500" i="1" spc="397" baseline="-8333" dirty="0">
                <a:solidFill>
                  <a:srgbClr val="24292E"/>
                </a:solidFill>
                <a:latin typeface="Palatino Linotype"/>
                <a:cs typeface="Palatino Linotype"/>
              </a:rPr>
              <a:t> </a:t>
            </a:r>
            <a:r>
              <a:rPr sz="1450" spc="180" dirty="0">
                <a:solidFill>
                  <a:srgbClr val="24292E"/>
                </a:solidFill>
                <a:latin typeface="Cambria"/>
                <a:cs typeface="Cambria"/>
              </a:rPr>
              <a:t>= </a:t>
            </a:r>
            <a:r>
              <a:rPr sz="1450" spc="-80" dirty="0">
                <a:solidFill>
                  <a:srgbClr val="24292E"/>
                </a:solidFill>
                <a:latin typeface="Cambria"/>
                <a:cs typeface="Cambria"/>
              </a:rPr>
              <a:t>1</a:t>
            </a:r>
            <a:r>
              <a:rPr sz="1200" spc="-50" dirty="0">
                <a:solidFill>
                  <a:srgbClr val="24292E"/>
                </a:solidFill>
                <a:latin typeface="Microsoft YaHei"/>
                <a:cs typeface="Microsoft YaHei"/>
              </a:rPr>
              <a:t>。</a:t>
            </a:r>
            <a:endParaRPr sz="1200">
              <a:latin typeface="Microsoft YaHei"/>
              <a:cs typeface="Microsoft YaHe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19478" y="491292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3" name="object 3"/>
          <p:cNvSpPr txBox="1"/>
          <p:nvPr/>
        </p:nvSpPr>
        <p:spPr>
          <a:xfrm>
            <a:off x="1325814" y="671821"/>
            <a:ext cx="9441815" cy="3646170"/>
          </a:xfrm>
          <a:prstGeom prst="rect">
            <a:avLst/>
          </a:prstGeom>
        </p:spPr>
        <p:txBody>
          <a:bodyPr vert="horz" wrap="square" lIns="0" tIns="12700" rIns="0" bIns="0" rtlCol="0">
            <a:spAutoFit/>
          </a:bodyPr>
          <a:lstStyle/>
          <a:p>
            <a:pPr marL="88900" marR="77470" algn="just">
              <a:lnSpc>
                <a:spcPct val="125000"/>
              </a:lnSpc>
              <a:spcBef>
                <a:spcPts val="100"/>
              </a:spcBef>
            </a:pPr>
            <a:r>
              <a:rPr sz="1200" dirty="0">
                <a:solidFill>
                  <a:srgbClr val="24292E"/>
                </a:solidFill>
                <a:latin typeface="Microsoft YaHei"/>
                <a:cs typeface="Microsoft YaHei"/>
              </a:rPr>
              <a:t>实际上，使用</a:t>
            </a:r>
            <a:r>
              <a:rPr sz="1200" spc="-20" dirty="0">
                <a:solidFill>
                  <a:srgbClr val="24292E"/>
                </a:solidFill>
                <a:latin typeface="Segoe UI"/>
                <a:cs typeface="Segoe UI"/>
              </a:rPr>
              <a:t>LDA</a:t>
            </a:r>
            <a:r>
              <a:rPr sz="1200" dirty="0">
                <a:solidFill>
                  <a:srgbClr val="24292E"/>
                </a:solidFill>
                <a:latin typeface="Microsoft YaHei"/>
                <a:cs typeface="Microsoft YaHei"/>
              </a:rPr>
              <a:t>等主题模型分析文本时，模型推断出的结果（文档主题比例）</a:t>
            </a:r>
            <a:r>
              <a:rPr sz="1200" spc="-5" dirty="0">
                <a:solidFill>
                  <a:srgbClr val="24292E"/>
                </a:solidFill>
                <a:latin typeface="Microsoft YaHei"/>
                <a:cs typeface="Microsoft YaHei"/>
              </a:rPr>
              <a:t>只是模型对真相的猜测，猜测准确度未知。我采用统计模拟</a:t>
            </a:r>
            <a:r>
              <a:rPr sz="1200" dirty="0">
                <a:solidFill>
                  <a:srgbClr val="24292E"/>
                </a:solidFill>
                <a:latin typeface="Microsoft YaHei"/>
                <a:cs typeface="Microsoft YaHei"/>
              </a:rPr>
              <a:t>的方式对模型的性能进行科学量化，检验</a:t>
            </a:r>
            <a:r>
              <a:rPr sz="1200" spc="-20" dirty="0">
                <a:solidFill>
                  <a:srgbClr val="24292E"/>
                </a:solidFill>
                <a:latin typeface="Segoe UI"/>
                <a:cs typeface="Segoe UI"/>
              </a:rPr>
              <a:t>LDA</a:t>
            </a:r>
            <a:r>
              <a:rPr sz="1200" dirty="0">
                <a:solidFill>
                  <a:srgbClr val="24292E"/>
                </a:solidFill>
                <a:latin typeface="Microsoft YaHei"/>
                <a:cs typeface="Microsoft YaHei"/>
              </a:rPr>
              <a:t>模型推断的准确度如何，从而为</a:t>
            </a:r>
            <a:r>
              <a:rPr sz="1200" spc="-20" dirty="0">
                <a:solidFill>
                  <a:srgbClr val="24292E"/>
                </a:solidFill>
                <a:latin typeface="Segoe UI"/>
                <a:cs typeface="Segoe UI"/>
              </a:rPr>
              <a:t>LDA</a:t>
            </a:r>
            <a:r>
              <a:rPr sz="1200" spc="-5" dirty="0">
                <a:solidFill>
                  <a:srgbClr val="24292E"/>
                </a:solidFill>
                <a:latin typeface="Microsoft YaHei"/>
                <a:cs typeface="Microsoft YaHei"/>
              </a:rPr>
              <a:t>在推荐系统、文本挖掘等领域的可靠使用提供坚实的统计</a:t>
            </a:r>
            <a:r>
              <a:rPr sz="1200" spc="-15" dirty="0">
                <a:solidFill>
                  <a:srgbClr val="24292E"/>
                </a:solidFill>
                <a:latin typeface="Microsoft YaHei"/>
                <a:cs typeface="Microsoft YaHei"/>
              </a:rPr>
              <a:t>学基础。</a:t>
            </a:r>
            <a:endParaRPr sz="1200">
              <a:latin typeface="Microsoft YaHei"/>
              <a:cs typeface="Microsoft YaHei"/>
            </a:endParaRPr>
          </a:p>
          <a:p>
            <a:pPr marL="88900">
              <a:lnSpc>
                <a:spcPct val="100000"/>
              </a:lnSpc>
              <a:spcBef>
                <a:spcPts val="1560"/>
              </a:spcBef>
            </a:pPr>
            <a:r>
              <a:rPr sz="1200" spc="-10" dirty="0">
                <a:solidFill>
                  <a:srgbClr val="24292E"/>
                </a:solidFill>
                <a:latin typeface="Microsoft YaHei"/>
                <a:cs typeface="Microsoft YaHei"/>
              </a:rPr>
              <a:t>具体来说：</a:t>
            </a:r>
            <a:endParaRPr sz="1200">
              <a:latin typeface="Microsoft YaHei"/>
              <a:cs typeface="Microsoft YaHei"/>
            </a:endParaRPr>
          </a:p>
          <a:p>
            <a:pPr marL="392430" indent="-156210">
              <a:lnSpc>
                <a:spcPct val="100000"/>
              </a:lnSpc>
              <a:spcBef>
                <a:spcPts val="1310"/>
              </a:spcBef>
              <a:buFont typeface="Segoe UI"/>
              <a:buAutoNum type="arabicPeriod"/>
              <a:tabLst>
                <a:tab pos="392430" algn="l"/>
              </a:tabLst>
            </a:pPr>
            <a:r>
              <a:rPr sz="1200" dirty="0">
                <a:solidFill>
                  <a:srgbClr val="24292E"/>
                </a:solidFill>
                <a:latin typeface="Microsoft YaHei"/>
                <a:cs typeface="Microsoft YaHei"/>
              </a:rPr>
              <a:t>生成</a:t>
            </a:r>
            <a:r>
              <a:rPr sz="1450" i="1" dirty="0">
                <a:solidFill>
                  <a:srgbClr val="24292E"/>
                </a:solidFill>
                <a:latin typeface="Palatino Linotype"/>
                <a:cs typeface="Palatino Linotype"/>
              </a:rPr>
              <a:t>N</a:t>
            </a:r>
            <a:r>
              <a:rPr sz="1450" i="1" spc="220" dirty="0">
                <a:solidFill>
                  <a:srgbClr val="24292E"/>
                </a:solidFill>
                <a:latin typeface="Palatino Linotype"/>
                <a:cs typeface="Palatino Linotype"/>
              </a:rPr>
              <a:t> </a:t>
            </a:r>
            <a:r>
              <a:rPr sz="1450" spc="210" dirty="0">
                <a:solidFill>
                  <a:srgbClr val="24292E"/>
                </a:solidFill>
                <a:latin typeface="Cambria"/>
                <a:cs typeface="Cambria"/>
              </a:rPr>
              <a:t>= </a:t>
            </a:r>
            <a:r>
              <a:rPr sz="1450" spc="-80" dirty="0">
                <a:solidFill>
                  <a:srgbClr val="24292E"/>
                </a:solidFill>
                <a:latin typeface="Cambria"/>
                <a:cs typeface="Cambria"/>
              </a:rPr>
              <a:t>3000</a:t>
            </a:r>
            <a:r>
              <a:rPr sz="1200" dirty="0">
                <a:solidFill>
                  <a:srgbClr val="24292E"/>
                </a:solidFill>
                <a:latin typeface="Microsoft YaHei"/>
                <a:cs typeface="Microsoft YaHei"/>
              </a:rPr>
              <a:t>篇文档。每一篇文档都附带一个</a:t>
            </a:r>
            <a:r>
              <a:rPr sz="1200" b="1" dirty="0">
                <a:solidFill>
                  <a:srgbClr val="24292E"/>
                </a:solidFill>
                <a:latin typeface="Microsoft YaHei"/>
                <a:cs typeface="Microsoft YaHei"/>
              </a:rPr>
              <a:t>已知的</a:t>
            </a:r>
            <a:r>
              <a:rPr sz="1200" dirty="0">
                <a:solidFill>
                  <a:srgbClr val="24292E"/>
                </a:solidFill>
                <a:latin typeface="Microsoft YaHei"/>
                <a:cs typeface="Microsoft YaHei"/>
              </a:rPr>
              <a:t>、</a:t>
            </a:r>
            <a:r>
              <a:rPr sz="1200" b="1" dirty="0">
                <a:solidFill>
                  <a:srgbClr val="24292E"/>
                </a:solidFill>
                <a:latin typeface="Microsoft YaHei"/>
                <a:cs typeface="Microsoft YaHei"/>
              </a:rPr>
              <a:t>真实的</a:t>
            </a:r>
            <a:r>
              <a:rPr sz="1200" spc="-5" dirty="0">
                <a:solidFill>
                  <a:srgbClr val="24292E"/>
                </a:solidFill>
                <a:latin typeface="Microsoft YaHei"/>
                <a:cs typeface="Microsoft YaHei"/>
              </a:rPr>
              <a:t>主题比例向量 </a:t>
            </a:r>
            <a:r>
              <a:rPr sz="1200" spc="45" dirty="0">
                <a:solidFill>
                  <a:srgbClr val="24292E"/>
                </a:solidFill>
                <a:latin typeface="Segoe UI"/>
                <a:cs typeface="Segoe UI"/>
              </a:rPr>
              <a:t>(</a:t>
            </a:r>
            <a:r>
              <a:rPr sz="1450" b="1" i="1" spc="45" dirty="0">
                <a:solidFill>
                  <a:srgbClr val="24292E"/>
                </a:solidFill>
                <a:latin typeface="Arial"/>
                <a:cs typeface="Arial"/>
              </a:rPr>
              <a:t>θ</a:t>
            </a:r>
            <a:r>
              <a:rPr sz="1500" b="1" i="1" spc="67" baseline="-13888" dirty="0">
                <a:solidFill>
                  <a:srgbClr val="24292E"/>
                </a:solidFill>
                <a:latin typeface="Arial"/>
                <a:cs typeface="Arial"/>
              </a:rPr>
              <a:t>true</a:t>
            </a:r>
            <a:r>
              <a:rPr sz="1200" spc="45" dirty="0">
                <a:solidFill>
                  <a:srgbClr val="24292E"/>
                </a:solidFill>
                <a:latin typeface="Segoe UI"/>
                <a:cs typeface="Segoe UI"/>
              </a:rPr>
              <a:t>)</a:t>
            </a:r>
            <a:r>
              <a:rPr sz="1200" spc="-5" dirty="0">
                <a:solidFill>
                  <a:srgbClr val="24292E"/>
                </a:solidFill>
                <a:latin typeface="Microsoft YaHei"/>
                <a:cs typeface="Microsoft YaHei"/>
              </a:rPr>
              <a:t>，并存储在数据库中，作为验证的基础。</a:t>
            </a:r>
            <a:endParaRPr sz="1200">
              <a:latin typeface="Microsoft YaHei"/>
              <a:cs typeface="Microsoft YaHei"/>
            </a:endParaRPr>
          </a:p>
          <a:p>
            <a:pPr marL="392430" indent="-156210">
              <a:lnSpc>
                <a:spcPct val="100000"/>
              </a:lnSpc>
              <a:spcBef>
                <a:spcPts val="1335"/>
              </a:spcBef>
              <a:buFont typeface="Segoe UI"/>
              <a:buAutoNum type="arabicPeriod"/>
              <a:tabLst>
                <a:tab pos="392430" algn="l"/>
              </a:tabLst>
            </a:pPr>
            <a:r>
              <a:rPr sz="1200" dirty="0">
                <a:solidFill>
                  <a:srgbClr val="24292E"/>
                </a:solidFill>
                <a:latin typeface="Microsoft YaHei"/>
                <a:cs typeface="Microsoft YaHei"/>
              </a:rPr>
              <a:t>以这</a:t>
            </a:r>
            <a:r>
              <a:rPr sz="1200" spc="-10" dirty="0">
                <a:solidFill>
                  <a:srgbClr val="24292E"/>
                </a:solidFill>
                <a:latin typeface="Segoe UI"/>
                <a:cs typeface="Segoe UI"/>
              </a:rPr>
              <a:t>3000</a:t>
            </a:r>
            <a:r>
              <a:rPr sz="1200" dirty="0">
                <a:solidFill>
                  <a:srgbClr val="24292E"/>
                </a:solidFill>
                <a:latin typeface="Microsoft YaHei"/>
                <a:cs typeface="Microsoft YaHei"/>
              </a:rPr>
              <a:t>篇文档作为输入数据，利用</a:t>
            </a:r>
            <a:r>
              <a:rPr sz="1200" dirty="0">
                <a:solidFill>
                  <a:srgbClr val="24292E"/>
                </a:solidFill>
                <a:latin typeface="Segoe UI"/>
                <a:cs typeface="Segoe UI"/>
              </a:rPr>
              <a:t>Python</a:t>
            </a:r>
            <a:r>
              <a:rPr sz="1200" dirty="0">
                <a:solidFill>
                  <a:srgbClr val="24292E"/>
                </a:solidFill>
                <a:latin typeface="Microsoft YaHei"/>
                <a:cs typeface="Microsoft YaHei"/>
              </a:rPr>
              <a:t>训练</a:t>
            </a:r>
            <a:r>
              <a:rPr sz="1200" spc="-20" dirty="0">
                <a:solidFill>
                  <a:srgbClr val="24292E"/>
                </a:solidFill>
                <a:latin typeface="Segoe UI"/>
                <a:cs typeface="Segoe UI"/>
              </a:rPr>
              <a:t>LDA</a:t>
            </a:r>
            <a:r>
              <a:rPr sz="1200" dirty="0">
                <a:solidFill>
                  <a:srgbClr val="24292E"/>
                </a:solidFill>
                <a:latin typeface="Microsoft YaHei"/>
                <a:cs typeface="Microsoft YaHei"/>
              </a:rPr>
              <a:t>模型，推断出每篇文档的预测主题分布</a:t>
            </a:r>
            <a:r>
              <a:rPr sz="1200" dirty="0">
                <a:solidFill>
                  <a:srgbClr val="24292E"/>
                </a:solidFill>
                <a:latin typeface="Segoe UI"/>
                <a:cs typeface="Segoe UI"/>
              </a:rPr>
              <a:t>(</a:t>
            </a:r>
            <a:r>
              <a:rPr sz="1450" b="1" i="1" dirty="0">
                <a:solidFill>
                  <a:srgbClr val="24292E"/>
                </a:solidFill>
                <a:latin typeface="Arial"/>
                <a:cs typeface="Arial"/>
              </a:rPr>
              <a:t>θ</a:t>
            </a:r>
            <a:r>
              <a:rPr sz="1500" b="1" i="1" baseline="-13888" dirty="0">
                <a:solidFill>
                  <a:srgbClr val="24292E"/>
                </a:solidFill>
                <a:latin typeface="Arial"/>
                <a:cs typeface="Arial"/>
              </a:rPr>
              <a:t>pred</a:t>
            </a:r>
            <a:r>
              <a:rPr sz="1500" b="1" i="1" spc="30" baseline="-13888" dirty="0">
                <a:solidFill>
                  <a:srgbClr val="24292E"/>
                </a:solidFill>
                <a:latin typeface="Arial"/>
                <a:cs typeface="Arial"/>
              </a:rPr>
              <a:t> </a:t>
            </a:r>
            <a:r>
              <a:rPr sz="1200" spc="-10" dirty="0">
                <a:solidFill>
                  <a:srgbClr val="24292E"/>
                </a:solidFill>
                <a:latin typeface="Segoe UI"/>
                <a:cs typeface="Segoe UI"/>
              </a:rPr>
              <a:t>)</a:t>
            </a:r>
            <a:r>
              <a:rPr sz="1200" spc="-50" dirty="0">
                <a:solidFill>
                  <a:srgbClr val="24292E"/>
                </a:solidFill>
                <a:latin typeface="Microsoft YaHei"/>
                <a:cs typeface="Microsoft YaHei"/>
              </a:rPr>
              <a:t>。</a:t>
            </a:r>
            <a:endParaRPr sz="1200">
              <a:latin typeface="Microsoft YaHei"/>
              <a:cs typeface="Microsoft YaHei"/>
            </a:endParaRPr>
          </a:p>
          <a:p>
            <a:pPr marL="392430" marR="81280" indent="-156210">
              <a:lnSpc>
                <a:spcPct val="126499"/>
              </a:lnSpc>
              <a:spcBef>
                <a:spcPts val="875"/>
              </a:spcBef>
              <a:buFont typeface="Segoe UI"/>
              <a:buAutoNum type="arabicPeriod"/>
              <a:tabLst>
                <a:tab pos="393700" algn="l"/>
              </a:tabLst>
            </a:pPr>
            <a:r>
              <a:rPr sz="1200" dirty="0">
                <a:solidFill>
                  <a:srgbClr val="24292E"/>
                </a:solidFill>
                <a:latin typeface="Microsoft YaHei"/>
                <a:cs typeface="Microsoft YaHei"/>
              </a:rPr>
              <a:t>使用两个向量的</a:t>
            </a:r>
            <a:r>
              <a:rPr sz="1200" b="1" dirty="0">
                <a:solidFill>
                  <a:srgbClr val="24292E"/>
                </a:solidFill>
                <a:latin typeface="Microsoft YaHei"/>
                <a:cs typeface="Microsoft YaHei"/>
              </a:rPr>
              <a:t>余弦相似度</a:t>
            </a:r>
            <a:r>
              <a:rPr sz="1200" spc="-5" dirty="0">
                <a:solidFill>
                  <a:srgbClr val="24292E"/>
                </a:solidFill>
                <a:latin typeface="Microsoft YaHei"/>
                <a:cs typeface="Microsoft YaHei"/>
              </a:rPr>
              <a:t>作为量化指标，对比 </a:t>
            </a:r>
            <a:r>
              <a:rPr sz="1450" b="1" i="1" spc="60" dirty="0">
                <a:solidFill>
                  <a:srgbClr val="24292E"/>
                </a:solidFill>
                <a:latin typeface="Arial"/>
                <a:cs typeface="Arial"/>
              </a:rPr>
              <a:t>θ</a:t>
            </a:r>
            <a:r>
              <a:rPr sz="1500" b="1" i="1" spc="89" baseline="-13888" dirty="0">
                <a:solidFill>
                  <a:srgbClr val="24292E"/>
                </a:solidFill>
                <a:latin typeface="Arial"/>
                <a:cs typeface="Arial"/>
              </a:rPr>
              <a:t>true </a:t>
            </a:r>
            <a:r>
              <a:rPr sz="1200" b="1" spc="-5" dirty="0">
                <a:solidFill>
                  <a:srgbClr val="24292E"/>
                </a:solidFill>
                <a:latin typeface="Microsoft YaHei"/>
                <a:cs typeface="Microsoft YaHei"/>
              </a:rPr>
              <a:t>向量 </a:t>
            </a:r>
            <a:r>
              <a:rPr sz="1200" spc="-10" dirty="0">
                <a:solidFill>
                  <a:srgbClr val="24292E"/>
                </a:solidFill>
                <a:latin typeface="Microsoft YaHei"/>
                <a:cs typeface="Microsoft YaHei"/>
              </a:rPr>
              <a:t>和 </a:t>
            </a:r>
            <a:r>
              <a:rPr sz="1450" b="1" i="1" dirty="0">
                <a:solidFill>
                  <a:srgbClr val="24292E"/>
                </a:solidFill>
                <a:latin typeface="Arial"/>
                <a:cs typeface="Arial"/>
              </a:rPr>
              <a:t>θ</a:t>
            </a:r>
            <a:r>
              <a:rPr sz="1500" b="1" i="1" baseline="-13888" dirty="0">
                <a:solidFill>
                  <a:srgbClr val="24292E"/>
                </a:solidFill>
                <a:latin typeface="Arial"/>
                <a:cs typeface="Arial"/>
              </a:rPr>
              <a:t>pred</a:t>
            </a:r>
            <a:r>
              <a:rPr sz="1500" b="1" i="1" spc="270" baseline="-13888" dirty="0">
                <a:solidFill>
                  <a:srgbClr val="24292E"/>
                </a:solidFill>
                <a:latin typeface="Arial"/>
                <a:cs typeface="Arial"/>
              </a:rPr>
              <a:t> </a:t>
            </a:r>
            <a:r>
              <a:rPr sz="1200" b="1" spc="-5" dirty="0">
                <a:solidFill>
                  <a:srgbClr val="24292E"/>
                </a:solidFill>
                <a:latin typeface="Microsoft YaHei"/>
                <a:cs typeface="Microsoft YaHei"/>
              </a:rPr>
              <a:t>向量 </a:t>
            </a:r>
            <a:r>
              <a:rPr sz="1200" dirty="0">
                <a:solidFill>
                  <a:srgbClr val="24292E"/>
                </a:solidFill>
                <a:latin typeface="Microsoft YaHei"/>
                <a:cs typeface="Microsoft YaHei"/>
              </a:rPr>
              <a:t>在向量空间中的夹角。夹角越小，相似度（</a:t>
            </a:r>
            <a:r>
              <a:rPr sz="1200" spc="-5" dirty="0">
                <a:solidFill>
                  <a:srgbClr val="24292E"/>
                </a:solidFill>
                <a:latin typeface="Microsoft YaHei"/>
                <a:cs typeface="Microsoft YaHei"/>
              </a:rPr>
              <a:t>分数越接近 </a:t>
            </a:r>
            <a:r>
              <a:rPr sz="1200" spc="-25" dirty="0">
                <a:solidFill>
                  <a:srgbClr val="24292E"/>
                </a:solidFill>
                <a:latin typeface="Segoe UI"/>
                <a:cs typeface="Segoe UI"/>
              </a:rPr>
              <a:t>1</a:t>
            </a:r>
            <a:r>
              <a:rPr sz="1200" spc="-25" dirty="0">
                <a:solidFill>
                  <a:srgbClr val="24292E"/>
                </a:solidFill>
                <a:latin typeface="Microsoft YaHei"/>
                <a:cs typeface="Microsoft YaHei"/>
              </a:rPr>
              <a:t>）	</a:t>
            </a:r>
            <a:r>
              <a:rPr sz="1200" spc="-5" dirty="0">
                <a:solidFill>
                  <a:srgbClr val="24292E"/>
                </a:solidFill>
                <a:latin typeface="Microsoft YaHei"/>
                <a:cs typeface="Microsoft YaHei"/>
              </a:rPr>
              <a:t>越高，表明模型推断越准确。</a:t>
            </a:r>
            <a:endParaRPr sz="1200">
              <a:latin typeface="Microsoft YaHei"/>
              <a:cs typeface="Microsoft YaHei"/>
            </a:endParaRPr>
          </a:p>
          <a:p>
            <a:pPr marL="88900" marR="198120" indent="303530">
              <a:lnSpc>
                <a:spcPct val="208400"/>
              </a:lnSpc>
              <a:buFont typeface="Segoe UI"/>
              <a:buAutoNum type="arabicPeriod"/>
              <a:tabLst>
                <a:tab pos="392430" algn="l"/>
              </a:tabLst>
            </a:pPr>
            <a:r>
              <a:rPr sz="1200" spc="-5" dirty="0">
                <a:solidFill>
                  <a:srgbClr val="24292E"/>
                </a:solidFill>
                <a:latin typeface="Microsoft YaHei"/>
                <a:cs typeface="Microsoft YaHei"/>
              </a:rPr>
              <a:t>将数据生成、存储、模型推断、结果验证等一系列工程产生的所需的样本和产生的结果完整地储存在数据库中，以便批量进行分析。</a:t>
            </a:r>
            <a:r>
              <a:rPr sz="1200" spc="-25" dirty="0">
                <a:solidFill>
                  <a:srgbClr val="24292E"/>
                </a:solidFill>
                <a:latin typeface="Microsoft YaHei"/>
                <a:cs typeface="Microsoft YaHei"/>
              </a:rPr>
              <a:t>注：</a:t>
            </a:r>
            <a:endParaRPr sz="1200">
              <a:latin typeface="Microsoft YaHei"/>
              <a:cs typeface="Microsoft YaHei"/>
            </a:endParaRPr>
          </a:p>
          <a:p>
            <a:pPr marL="392430" indent="-156210">
              <a:lnSpc>
                <a:spcPct val="100000"/>
              </a:lnSpc>
              <a:spcBef>
                <a:spcPts val="1560"/>
              </a:spcBef>
              <a:buFont typeface="Segoe UI"/>
              <a:buAutoNum type="arabicPeriod"/>
              <a:tabLst>
                <a:tab pos="392430" algn="l"/>
              </a:tabLst>
            </a:pPr>
            <a:r>
              <a:rPr sz="1200" dirty="0">
                <a:solidFill>
                  <a:srgbClr val="24292E"/>
                </a:solidFill>
                <a:latin typeface="Microsoft YaHei"/>
                <a:cs typeface="Microsoft YaHei"/>
              </a:rPr>
              <a:t>本项目主要用到</a:t>
            </a:r>
            <a:r>
              <a:rPr sz="1200" dirty="0">
                <a:solidFill>
                  <a:srgbClr val="24292E"/>
                </a:solidFill>
                <a:latin typeface="Segoe UI"/>
                <a:cs typeface="Segoe UI"/>
              </a:rPr>
              <a:t>Python </a:t>
            </a:r>
            <a:r>
              <a:rPr sz="1200" dirty="0">
                <a:solidFill>
                  <a:srgbClr val="24292E"/>
                </a:solidFill>
                <a:latin typeface="Microsoft YaHei"/>
                <a:cs typeface="Microsoft YaHei"/>
              </a:rPr>
              <a:t>、</a:t>
            </a:r>
            <a:r>
              <a:rPr sz="1200" dirty="0">
                <a:solidFill>
                  <a:srgbClr val="24292E"/>
                </a:solidFill>
                <a:latin typeface="Segoe UI"/>
                <a:cs typeface="Segoe UI"/>
              </a:rPr>
              <a:t>MySQL</a:t>
            </a:r>
            <a:r>
              <a:rPr sz="1200" spc="-5" dirty="0">
                <a:solidFill>
                  <a:srgbClr val="24292E"/>
                </a:solidFill>
                <a:latin typeface="Microsoft YaHei"/>
                <a:cs typeface="Microsoft YaHei"/>
              </a:rPr>
              <a:t>。本项目所用方法为统计模拟。</a:t>
            </a:r>
            <a:endParaRPr sz="1200">
              <a:latin typeface="Microsoft YaHei"/>
              <a:cs typeface="Microsoft YaHei"/>
            </a:endParaRPr>
          </a:p>
        </p:txBody>
      </p:sp>
      <p:sp>
        <p:nvSpPr>
          <p:cNvPr id="4" name="object 4"/>
          <p:cNvSpPr txBox="1"/>
          <p:nvPr/>
        </p:nvSpPr>
        <p:spPr>
          <a:xfrm>
            <a:off x="1402014" y="4557227"/>
            <a:ext cx="2541270" cy="300355"/>
          </a:xfrm>
          <a:prstGeom prst="rect">
            <a:avLst/>
          </a:prstGeom>
        </p:spPr>
        <p:txBody>
          <a:bodyPr vert="horz" wrap="square" lIns="0" tIns="12700" rIns="0" bIns="0" rtlCol="0">
            <a:spAutoFit/>
          </a:bodyPr>
          <a:lstStyle/>
          <a:p>
            <a:pPr marL="12700">
              <a:lnSpc>
                <a:spcPct val="100000"/>
              </a:lnSpc>
              <a:spcBef>
                <a:spcPts val="100"/>
              </a:spcBef>
            </a:pPr>
            <a:r>
              <a:rPr sz="1800" b="1" spc="-5" dirty="0">
                <a:solidFill>
                  <a:srgbClr val="24292E"/>
                </a:solidFill>
                <a:latin typeface="Microsoft YaHei"/>
                <a:cs typeface="Microsoft YaHei"/>
              </a:rPr>
              <a:t>四、本项目流程具体介绍</a:t>
            </a:r>
            <a:endParaRPr sz="1800">
              <a:latin typeface="Microsoft YaHei"/>
              <a:cs typeface="Microsoft YaHei"/>
            </a:endParaRPr>
          </a:p>
        </p:txBody>
      </p:sp>
      <p:sp>
        <p:nvSpPr>
          <p:cNvPr id="5" name="object 5"/>
          <p:cNvSpPr/>
          <p:nvPr/>
        </p:nvSpPr>
        <p:spPr>
          <a:xfrm>
            <a:off x="1571921" y="5560810"/>
            <a:ext cx="734060" cy="210185"/>
          </a:xfrm>
          <a:custGeom>
            <a:avLst/>
            <a:gdLst/>
            <a:ahLst/>
            <a:cxnLst/>
            <a:rect l="l" t="t" r="r" b="b"/>
            <a:pathLst>
              <a:path w="734060" h="210185">
                <a:moveTo>
                  <a:pt x="708841" y="209608"/>
                </a:moveTo>
                <a:lnTo>
                  <a:pt x="24792" y="209608"/>
                </a:lnTo>
                <a:lnTo>
                  <a:pt x="21146" y="208881"/>
                </a:lnTo>
                <a:lnTo>
                  <a:pt x="0" y="184816"/>
                </a:lnTo>
                <a:lnTo>
                  <a:pt x="0" y="181026"/>
                </a:lnTo>
                <a:lnTo>
                  <a:pt x="0" y="24791"/>
                </a:lnTo>
                <a:lnTo>
                  <a:pt x="24792" y="0"/>
                </a:lnTo>
                <a:lnTo>
                  <a:pt x="708841" y="0"/>
                </a:lnTo>
                <a:lnTo>
                  <a:pt x="733634" y="24791"/>
                </a:lnTo>
                <a:lnTo>
                  <a:pt x="733634" y="184816"/>
                </a:lnTo>
                <a:lnTo>
                  <a:pt x="712487" y="208883"/>
                </a:lnTo>
                <a:lnTo>
                  <a:pt x="708841" y="209608"/>
                </a:lnTo>
                <a:close/>
              </a:path>
            </a:pathLst>
          </a:custGeom>
          <a:solidFill>
            <a:srgbClr val="1B1F23">
              <a:alpha val="5099"/>
            </a:srgbClr>
          </a:solidFill>
        </p:spPr>
        <p:txBody>
          <a:bodyPr wrap="square" lIns="0" tIns="0" rIns="0" bIns="0" rtlCol="0"/>
          <a:lstStyle/>
          <a:p>
            <a:endParaRPr/>
          </a:p>
        </p:txBody>
      </p:sp>
      <p:sp>
        <p:nvSpPr>
          <p:cNvPr id="6" name="object 6"/>
          <p:cNvSpPr/>
          <p:nvPr/>
        </p:nvSpPr>
        <p:spPr>
          <a:xfrm>
            <a:off x="5840341" y="5560810"/>
            <a:ext cx="591185" cy="210185"/>
          </a:xfrm>
          <a:custGeom>
            <a:avLst/>
            <a:gdLst/>
            <a:ahLst/>
            <a:cxnLst/>
            <a:rect l="l" t="t" r="r" b="b"/>
            <a:pathLst>
              <a:path w="591185" h="210185">
                <a:moveTo>
                  <a:pt x="565926" y="209608"/>
                </a:moveTo>
                <a:lnTo>
                  <a:pt x="24792" y="209608"/>
                </a:lnTo>
                <a:lnTo>
                  <a:pt x="21146" y="208881"/>
                </a:lnTo>
                <a:lnTo>
                  <a:pt x="0" y="184816"/>
                </a:lnTo>
                <a:lnTo>
                  <a:pt x="0" y="181026"/>
                </a:lnTo>
                <a:lnTo>
                  <a:pt x="0" y="24791"/>
                </a:lnTo>
                <a:lnTo>
                  <a:pt x="24792" y="0"/>
                </a:lnTo>
                <a:lnTo>
                  <a:pt x="565926" y="0"/>
                </a:lnTo>
                <a:lnTo>
                  <a:pt x="590718" y="24791"/>
                </a:lnTo>
                <a:lnTo>
                  <a:pt x="590718" y="184816"/>
                </a:lnTo>
                <a:lnTo>
                  <a:pt x="569572" y="208883"/>
                </a:lnTo>
                <a:lnTo>
                  <a:pt x="565926" y="209608"/>
                </a:lnTo>
                <a:close/>
              </a:path>
            </a:pathLst>
          </a:custGeom>
          <a:solidFill>
            <a:srgbClr val="1B1F23">
              <a:alpha val="5099"/>
            </a:srgbClr>
          </a:solidFill>
        </p:spPr>
        <p:txBody>
          <a:bodyPr wrap="square" lIns="0" tIns="0" rIns="0" bIns="0" rtlCol="0"/>
          <a:lstStyle/>
          <a:p>
            <a:endParaRPr/>
          </a:p>
        </p:txBody>
      </p:sp>
      <p:sp>
        <p:nvSpPr>
          <p:cNvPr id="7" name="object 7"/>
          <p:cNvSpPr/>
          <p:nvPr/>
        </p:nvSpPr>
        <p:spPr>
          <a:xfrm>
            <a:off x="6583503" y="5560810"/>
            <a:ext cx="600710" cy="210185"/>
          </a:xfrm>
          <a:custGeom>
            <a:avLst/>
            <a:gdLst/>
            <a:ahLst/>
            <a:cxnLst/>
            <a:rect l="l" t="t" r="r" b="b"/>
            <a:pathLst>
              <a:path w="600709" h="210185">
                <a:moveTo>
                  <a:pt x="575453" y="209608"/>
                </a:moveTo>
                <a:lnTo>
                  <a:pt x="24792" y="209608"/>
                </a:lnTo>
                <a:lnTo>
                  <a:pt x="21146" y="208881"/>
                </a:lnTo>
                <a:lnTo>
                  <a:pt x="0" y="184816"/>
                </a:lnTo>
                <a:lnTo>
                  <a:pt x="0" y="181026"/>
                </a:lnTo>
                <a:lnTo>
                  <a:pt x="0" y="24791"/>
                </a:lnTo>
                <a:lnTo>
                  <a:pt x="24792" y="0"/>
                </a:lnTo>
                <a:lnTo>
                  <a:pt x="575453" y="0"/>
                </a:lnTo>
                <a:lnTo>
                  <a:pt x="600246" y="24791"/>
                </a:lnTo>
                <a:lnTo>
                  <a:pt x="600246" y="184816"/>
                </a:lnTo>
                <a:lnTo>
                  <a:pt x="579099" y="208883"/>
                </a:lnTo>
                <a:lnTo>
                  <a:pt x="575453" y="209608"/>
                </a:lnTo>
                <a:close/>
              </a:path>
            </a:pathLst>
          </a:custGeom>
          <a:solidFill>
            <a:srgbClr val="1B1F23">
              <a:alpha val="5099"/>
            </a:srgbClr>
          </a:solidFill>
        </p:spPr>
        <p:txBody>
          <a:bodyPr wrap="square" lIns="0" tIns="0" rIns="0" bIns="0" rtlCol="0"/>
          <a:lstStyle/>
          <a:p>
            <a:endParaRPr/>
          </a:p>
        </p:txBody>
      </p:sp>
      <p:sp>
        <p:nvSpPr>
          <p:cNvPr id="8" name="object 8"/>
          <p:cNvSpPr txBox="1"/>
          <p:nvPr/>
        </p:nvSpPr>
        <p:spPr>
          <a:xfrm>
            <a:off x="1402014" y="5147946"/>
            <a:ext cx="9256395" cy="847090"/>
          </a:xfrm>
          <a:prstGeom prst="rect">
            <a:avLst/>
          </a:prstGeom>
        </p:spPr>
        <p:txBody>
          <a:bodyPr vert="horz" wrap="square" lIns="0" tIns="12700" rIns="0" bIns="0" rtlCol="0">
            <a:spAutoFit/>
          </a:bodyPr>
          <a:lstStyle/>
          <a:p>
            <a:pPr marL="12700">
              <a:lnSpc>
                <a:spcPct val="100000"/>
              </a:lnSpc>
              <a:spcBef>
                <a:spcPts val="100"/>
              </a:spcBef>
            </a:pPr>
            <a:r>
              <a:rPr sz="1500" dirty="0">
                <a:solidFill>
                  <a:srgbClr val="24292E"/>
                </a:solidFill>
                <a:latin typeface="Segoe UI Semibold"/>
                <a:cs typeface="Segoe UI Semibold"/>
              </a:rPr>
              <a:t>1</a:t>
            </a:r>
            <a:r>
              <a:rPr sz="1500" b="1" spc="-10" dirty="0">
                <a:solidFill>
                  <a:srgbClr val="24292E"/>
                </a:solidFill>
                <a:latin typeface="Microsoft YaHei"/>
                <a:cs typeface="Microsoft YaHei"/>
              </a:rPr>
              <a:t>、初始化与参数</a:t>
            </a:r>
            <a:endParaRPr sz="1500">
              <a:latin typeface="Microsoft YaHei"/>
              <a:cs typeface="Microsoft YaHei"/>
            </a:endParaRPr>
          </a:p>
          <a:p>
            <a:pPr marL="12700" marR="5080">
              <a:lnSpc>
                <a:spcPct val="122200"/>
              </a:lnSpc>
              <a:spcBef>
                <a:spcPts val="715"/>
              </a:spcBef>
            </a:pPr>
            <a:r>
              <a:rPr sz="1200" dirty="0">
                <a:solidFill>
                  <a:srgbClr val="24292E"/>
                </a:solidFill>
                <a:latin typeface="Microsoft YaHei"/>
                <a:cs typeface="Microsoft YaHei"/>
              </a:rPr>
              <a:t>在 </a:t>
            </a:r>
            <a:r>
              <a:rPr sz="1000" dirty="0">
                <a:solidFill>
                  <a:srgbClr val="24292E"/>
                </a:solidFill>
                <a:latin typeface="Consolas"/>
                <a:cs typeface="Consolas"/>
              </a:rPr>
              <a:t>config.py</a:t>
            </a:r>
            <a:r>
              <a:rPr sz="1000" spc="-175" dirty="0">
                <a:solidFill>
                  <a:srgbClr val="24292E"/>
                </a:solidFill>
                <a:latin typeface="Consolas"/>
                <a:cs typeface="Consolas"/>
              </a:rPr>
              <a:t> </a:t>
            </a:r>
            <a:r>
              <a:rPr sz="1200" dirty="0">
                <a:solidFill>
                  <a:srgbClr val="24292E"/>
                </a:solidFill>
                <a:latin typeface="Microsoft YaHei"/>
                <a:cs typeface="Microsoft YaHei"/>
              </a:rPr>
              <a:t>定义了</a:t>
            </a:r>
            <a:r>
              <a:rPr sz="1450" i="1" spc="365" dirty="0">
                <a:solidFill>
                  <a:srgbClr val="24292E"/>
                </a:solidFill>
                <a:latin typeface="Palatino Linotype"/>
                <a:cs typeface="Palatino Linotype"/>
              </a:rPr>
              <a:t>K</a:t>
            </a:r>
            <a:r>
              <a:rPr sz="1200" dirty="0">
                <a:solidFill>
                  <a:srgbClr val="24292E"/>
                </a:solidFill>
                <a:latin typeface="Microsoft YaHei"/>
                <a:cs typeface="Microsoft YaHei"/>
              </a:rPr>
              <a:t>个主题、</a:t>
            </a:r>
            <a:r>
              <a:rPr sz="1450" i="1" spc="-110" dirty="0">
                <a:solidFill>
                  <a:srgbClr val="24292E"/>
                </a:solidFill>
                <a:latin typeface="Palatino Linotype"/>
                <a:cs typeface="Palatino Linotype"/>
              </a:rPr>
              <a:t>V</a:t>
            </a:r>
            <a:r>
              <a:rPr sz="1450" i="1" spc="-35" dirty="0">
                <a:solidFill>
                  <a:srgbClr val="24292E"/>
                </a:solidFill>
                <a:latin typeface="Palatino Linotype"/>
                <a:cs typeface="Palatino Linotype"/>
              </a:rPr>
              <a:t> </a:t>
            </a:r>
            <a:r>
              <a:rPr sz="1200" dirty="0">
                <a:solidFill>
                  <a:srgbClr val="24292E"/>
                </a:solidFill>
                <a:latin typeface="Microsoft YaHei"/>
                <a:cs typeface="Microsoft YaHei"/>
              </a:rPr>
              <a:t>个词汇，</a:t>
            </a:r>
            <a:r>
              <a:rPr sz="1450" i="1" dirty="0">
                <a:solidFill>
                  <a:srgbClr val="24292E"/>
                </a:solidFill>
                <a:latin typeface="Palatino Linotype"/>
                <a:cs typeface="Palatino Linotype"/>
              </a:rPr>
              <a:t>N</a:t>
            </a:r>
            <a:r>
              <a:rPr sz="1450" i="1" spc="-204" dirty="0">
                <a:solidFill>
                  <a:srgbClr val="24292E"/>
                </a:solidFill>
                <a:latin typeface="Palatino Linotype"/>
                <a:cs typeface="Palatino Linotype"/>
              </a:rPr>
              <a:t> </a:t>
            </a:r>
            <a:r>
              <a:rPr sz="1200" dirty="0">
                <a:solidFill>
                  <a:srgbClr val="24292E"/>
                </a:solidFill>
                <a:latin typeface="Microsoft YaHei"/>
                <a:cs typeface="Microsoft YaHei"/>
              </a:rPr>
              <a:t>篇文档等实验常量和 </a:t>
            </a:r>
            <a:r>
              <a:rPr sz="1000" dirty="0">
                <a:solidFill>
                  <a:srgbClr val="24292E"/>
                </a:solidFill>
                <a:latin typeface="Consolas"/>
                <a:cs typeface="Consolas"/>
              </a:rPr>
              <a:t>DB_HOST</a:t>
            </a:r>
            <a:r>
              <a:rPr sz="1000" spc="-175" dirty="0">
                <a:solidFill>
                  <a:srgbClr val="24292E"/>
                </a:solidFill>
                <a:latin typeface="Consolas"/>
                <a:cs typeface="Consolas"/>
              </a:rPr>
              <a:t> </a:t>
            </a:r>
            <a:r>
              <a:rPr sz="1200" dirty="0">
                <a:solidFill>
                  <a:srgbClr val="24292E"/>
                </a:solidFill>
                <a:latin typeface="Microsoft YaHei"/>
                <a:cs typeface="Microsoft YaHei"/>
              </a:rPr>
              <a:t>、 </a:t>
            </a:r>
            <a:r>
              <a:rPr sz="1000" dirty="0">
                <a:solidFill>
                  <a:srgbClr val="24292E"/>
                </a:solidFill>
                <a:latin typeface="Consolas"/>
                <a:cs typeface="Consolas"/>
              </a:rPr>
              <a:t>DB_USER</a:t>
            </a:r>
            <a:r>
              <a:rPr sz="1000" spc="-175" dirty="0">
                <a:solidFill>
                  <a:srgbClr val="24292E"/>
                </a:solidFill>
                <a:latin typeface="Consolas"/>
                <a:cs typeface="Consolas"/>
              </a:rPr>
              <a:t> </a:t>
            </a:r>
            <a:r>
              <a:rPr sz="1200" dirty="0">
                <a:solidFill>
                  <a:srgbClr val="24292E"/>
                </a:solidFill>
                <a:latin typeface="Microsoft YaHei"/>
                <a:cs typeface="Microsoft YaHei"/>
              </a:rPr>
              <a:t>等数据库连接常量，生成</a:t>
            </a:r>
            <a:r>
              <a:rPr sz="1450" i="1" dirty="0">
                <a:solidFill>
                  <a:srgbClr val="24292E"/>
                </a:solidFill>
                <a:latin typeface="Palatino Linotype"/>
                <a:cs typeface="Palatino Linotype"/>
              </a:rPr>
              <a:t>V</a:t>
            </a:r>
            <a:r>
              <a:rPr sz="1450" i="1" spc="295" dirty="0">
                <a:solidFill>
                  <a:srgbClr val="24292E"/>
                </a:solidFill>
                <a:latin typeface="Palatino Linotype"/>
                <a:cs typeface="Palatino Linotype"/>
              </a:rPr>
              <a:t> </a:t>
            </a:r>
            <a:r>
              <a:rPr sz="1200" dirty="0">
                <a:solidFill>
                  <a:srgbClr val="24292E"/>
                </a:solidFill>
                <a:latin typeface="Segoe UI"/>
                <a:cs typeface="Segoe UI"/>
              </a:rPr>
              <a:t>= </a:t>
            </a:r>
            <a:r>
              <a:rPr sz="1200" spc="-10" dirty="0">
                <a:solidFill>
                  <a:srgbClr val="24292E"/>
                </a:solidFill>
                <a:latin typeface="Segoe UI"/>
                <a:cs typeface="Segoe UI"/>
              </a:rPr>
              <a:t>1000</a:t>
            </a:r>
            <a:r>
              <a:rPr sz="1200" dirty="0">
                <a:solidFill>
                  <a:srgbClr val="24292E"/>
                </a:solidFill>
                <a:latin typeface="Microsoft YaHei"/>
                <a:cs typeface="Microsoft YaHei"/>
              </a:rPr>
              <a:t>个词汇，并用</a:t>
            </a:r>
            <a:r>
              <a:rPr sz="1200" dirty="0">
                <a:solidFill>
                  <a:srgbClr val="24292E"/>
                </a:solidFill>
                <a:latin typeface="Segoe UI"/>
                <a:cs typeface="Segoe UI"/>
              </a:rPr>
              <a:t>“</a:t>
            </a:r>
            <a:r>
              <a:rPr sz="1200" spc="-50" dirty="0">
                <a:solidFill>
                  <a:srgbClr val="24292E"/>
                </a:solidFill>
                <a:latin typeface="Microsoft YaHei"/>
                <a:cs typeface="Microsoft YaHei"/>
              </a:rPr>
              <a:t>主</a:t>
            </a:r>
            <a:r>
              <a:rPr sz="1200" dirty="0">
                <a:solidFill>
                  <a:srgbClr val="24292E"/>
                </a:solidFill>
                <a:latin typeface="Microsoft YaHei"/>
                <a:cs typeface="Microsoft YaHei"/>
              </a:rPr>
              <a:t>题</a:t>
            </a:r>
            <a:r>
              <a:rPr sz="1200" spc="-10" dirty="0">
                <a:solidFill>
                  <a:srgbClr val="24292E"/>
                </a:solidFill>
                <a:latin typeface="Segoe UI"/>
                <a:cs typeface="Segoe UI"/>
              </a:rPr>
              <a:t>+</a:t>
            </a:r>
            <a:r>
              <a:rPr sz="1200" dirty="0">
                <a:solidFill>
                  <a:srgbClr val="24292E"/>
                </a:solidFill>
                <a:latin typeface="Microsoft YaHei"/>
                <a:cs typeface="Microsoft YaHei"/>
              </a:rPr>
              <a:t>编号</a:t>
            </a:r>
            <a:r>
              <a:rPr sz="1200" dirty="0">
                <a:solidFill>
                  <a:srgbClr val="24292E"/>
                </a:solidFill>
                <a:latin typeface="Segoe UI"/>
                <a:cs typeface="Segoe UI"/>
              </a:rPr>
              <a:t>”</a:t>
            </a:r>
            <a:r>
              <a:rPr sz="1200" spc="-5" dirty="0">
                <a:solidFill>
                  <a:srgbClr val="24292E"/>
                </a:solidFill>
                <a:latin typeface="Microsoft YaHei"/>
                <a:cs typeface="Microsoft YaHei"/>
              </a:rPr>
              <a:t>的格式对词汇编码以作区分。</a:t>
            </a:r>
            <a:endParaRPr sz="1200">
              <a:latin typeface="Microsoft YaHei"/>
              <a:cs typeface="Microsoft YaHe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19466" y="730262"/>
            <a:ext cx="1172210" cy="438784"/>
          </a:xfrm>
          <a:custGeom>
            <a:avLst/>
            <a:gdLst/>
            <a:ahLst/>
            <a:cxnLst/>
            <a:rect l="l" t="t" r="r" b="b"/>
            <a:pathLst>
              <a:path w="1172210" h="438784">
                <a:moveTo>
                  <a:pt x="752690" y="253453"/>
                </a:moveTo>
                <a:lnTo>
                  <a:pt x="727900" y="228663"/>
                </a:lnTo>
                <a:lnTo>
                  <a:pt x="0" y="228663"/>
                </a:lnTo>
                <a:lnTo>
                  <a:pt x="0" y="438277"/>
                </a:lnTo>
                <a:lnTo>
                  <a:pt x="727900" y="438277"/>
                </a:lnTo>
                <a:lnTo>
                  <a:pt x="752690" y="413473"/>
                </a:lnTo>
                <a:lnTo>
                  <a:pt x="752690" y="253453"/>
                </a:lnTo>
                <a:close/>
              </a:path>
              <a:path w="1172210" h="438784">
                <a:moveTo>
                  <a:pt x="1171917" y="24790"/>
                </a:moveTo>
                <a:lnTo>
                  <a:pt x="1147127" y="0"/>
                </a:lnTo>
                <a:lnTo>
                  <a:pt x="177241" y="0"/>
                </a:lnTo>
                <a:lnTo>
                  <a:pt x="152450" y="24790"/>
                </a:lnTo>
                <a:lnTo>
                  <a:pt x="152450" y="181025"/>
                </a:lnTo>
                <a:lnTo>
                  <a:pt x="152450" y="184810"/>
                </a:lnTo>
                <a:lnTo>
                  <a:pt x="177241" y="209613"/>
                </a:lnTo>
                <a:lnTo>
                  <a:pt x="1147127" y="209613"/>
                </a:lnTo>
                <a:lnTo>
                  <a:pt x="1171917" y="184810"/>
                </a:lnTo>
                <a:lnTo>
                  <a:pt x="1171917" y="24790"/>
                </a:lnTo>
                <a:close/>
              </a:path>
            </a:pathLst>
          </a:custGeom>
          <a:solidFill>
            <a:srgbClr val="1B1F23">
              <a:alpha val="5099"/>
            </a:srgbClr>
          </a:solidFill>
        </p:spPr>
        <p:txBody>
          <a:bodyPr wrap="square" lIns="0" tIns="0" rIns="0" bIns="0" rtlCol="0"/>
          <a:lstStyle/>
          <a:p>
            <a:endParaRPr/>
          </a:p>
        </p:txBody>
      </p:sp>
      <p:sp>
        <p:nvSpPr>
          <p:cNvPr id="3" name="object 3"/>
          <p:cNvSpPr/>
          <p:nvPr/>
        </p:nvSpPr>
        <p:spPr>
          <a:xfrm>
            <a:off x="4420710" y="730254"/>
            <a:ext cx="1305560" cy="210185"/>
          </a:xfrm>
          <a:custGeom>
            <a:avLst/>
            <a:gdLst/>
            <a:ahLst/>
            <a:cxnLst/>
            <a:rect l="l" t="t" r="r" b="b"/>
            <a:pathLst>
              <a:path w="1305560" h="210184">
                <a:moveTo>
                  <a:pt x="1280505" y="209609"/>
                </a:moveTo>
                <a:lnTo>
                  <a:pt x="24792" y="209609"/>
                </a:lnTo>
                <a:lnTo>
                  <a:pt x="21146" y="208883"/>
                </a:lnTo>
                <a:lnTo>
                  <a:pt x="0" y="184815"/>
                </a:lnTo>
                <a:lnTo>
                  <a:pt x="0" y="181026"/>
                </a:lnTo>
                <a:lnTo>
                  <a:pt x="0" y="24793"/>
                </a:lnTo>
                <a:lnTo>
                  <a:pt x="24792" y="0"/>
                </a:lnTo>
                <a:lnTo>
                  <a:pt x="1280505" y="0"/>
                </a:lnTo>
                <a:lnTo>
                  <a:pt x="1305297" y="24793"/>
                </a:lnTo>
                <a:lnTo>
                  <a:pt x="1305297" y="184815"/>
                </a:lnTo>
                <a:lnTo>
                  <a:pt x="1284151" y="208883"/>
                </a:lnTo>
                <a:lnTo>
                  <a:pt x="1280505" y="209609"/>
                </a:lnTo>
                <a:close/>
              </a:path>
            </a:pathLst>
          </a:custGeom>
          <a:solidFill>
            <a:srgbClr val="1B1F23">
              <a:alpha val="5099"/>
            </a:srgbClr>
          </a:solidFill>
        </p:spPr>
        <p:txBody>
          <a:bodyPr wrap="square" lIns="0" tIns="0" rIns="0" bIns="0" rtlCol="0"/>
          <a:lstStyle/>
          <a:p>
            <a:endParaRPr/>
          </a:p>
        </p:txBody>
      </p:sp>
      <p:sp>
        <p:nvSpPr>
          <p:cNvPr id="4" name="object 4"/>
          <p:cNvSpPr/>
          <p:nvPr/>
        </p:nvSpPr>
        <p:spPr>
          <a:xfrm>
            <a:off x="8946380" y="730254"/>
            <a:ext cx="1334135" cy="210185"/>
          </a:xfrm>
          <a:custGeom>
            <a:avLst/>
            <a:gdLst/>
            <a:ahLst/>
            <a:cxnLst/>
            <a:rect l="l" t="t" r="r" b="b"/>
            <a:pathLst>
              <a:path w="1334134" h="210184">
                <a:moveTo>
                  <a:pt x="1333880" y="209609"/>
                </a:moveTo>
                <a:lnTo>
                  <a:pt x="24786" y="209609"/>
                </a:lnTo>
                <a:lnTo>
                  <a:pt x="21145" y="208883"/>
                </a:lnTo>
                <a:lnTo>
                  <a:pt x="0" y="184815"/>
                </a:lnTo>
                <a:lnTo>
                  <a:pt x="0" y="24793"/>
                </a:lnTo>
                <a:lnTo>
                  <a:pt x="24791" y="0"/>
                </a:lnTo>
                <a:lnTo>
                  <a:pt x="1333880" y="0"/>
                </a:lnTo>
                <a:lnTo>
                  <a:pt x="1333880" y="209609"/>
                </a:lnTo>
                <a:close/>
              </a:path>
            </a:pathLst>
          </a:custGeom>
          <a:solidFill>
            <a:srgbClr val="1B1F23">
              <a:alpha val="5099"/>
            </a:srgbClr>
          </a:solidFill>
        </p:spPr>
        <p:txBody>
          <a:bodyPr wrap="square" lIns="0" tIns="0" rIns="0" bIns="0" rtlCol="0"/>
          <a:lstStyle/>
          <a:p>
            <a:endParaRPr/>
          </a:p>
        </p:txBody>
      </p:sp>
      <p:sp>
        <p:nvSpPr>
          <p:cNvPr id="5" name="object 5"/>
          <p:cNvSpPr/>
          <p:nvPr/>
        </p:nvSpPr>
        <p:spPr>
          <a:xfrm>
            <a:off x="2181695" y="1340029"/>
            <a:ext cx="876935" cy="210185"/>
          </a:xfrm>
          <a:custGeom>
            <a:avLst/>
            <a:gdLst/>
            <a:ahLst/>
            <a:cxnLst/>
            <a:rect l="l" t="t" r="r" b="b"/>
            <a:pathLst>
              <a:path w="876935" h="210184">
                <a:moveTo>
                  <a:pt x="851757" y="209608"/>
                </a:moveTo>
                <a:lnTo>
                  <a:pt x="24792" y="209608"/>
                </a:lnTo>
                <a:lnTo>
                  <a:pt x="21146" y="208883"/>
                </a:lnTo>
                <a:lnTo>
                  <a:pt x="0" y="184815"/>
                </a:lnTo>
                <a:lnTo>
                  <a:pt x="0" y="181026"/>
                </a:lnTo>
                <a:lnTo>
                  <a:pt x="0" y="24792"/>
                </a:lnTo>
                <a:lnTo>
                  <a:pt x="24792" y="0"/>
                </a:lnTo>
                <a:lnTo>
                  <a:pt x="851757" y="0"/>
                </a:lnTo>
                <a:lnTo>
                  <a:pt x="876550" y="24792"/>
                </a:lnTo>
                <a:lnTo>
                  <a:pt x="876550" y="184815"/>
                </a:lnTo>
                <a:lnTo>
                  <a:pt x="855403" y="208883"/>
                </a:lnTo>
                <a:lnTo>
                  <a:pt x="851757" y="209608"/>
                </a:lnTo>
                <a:close/>
              </a:path>
            </a:pathLst>
          </a:custGeom>
          <a:solidFill>
            <a:srgbClr val="1B1F23">
              <a:alpha val="5099"/>
            </a:srgbClr>
          </a:solidFill>
        </p:spPr>
        <p:txBody>
          <a:bodyPr wrap="square" lIns="0" tIns="0" rIns="0" bIns="0" rtlCol="0"/>
          <a:lstStyle/>
          <a:p>
            <a:endParaRPr/>
          </a:p>
        </p:txBody>
      </p:sp>
      <p:sp>
        <p:nvSpPr>
          <p:cNvPr id="6" name="object 6"/>
          <p:cNvSpPr/>
          <p:nvPr/>
        </p:nvSpPr>
        <p:spPr>
          <a:xfrm>
            <a:off x="1571921" y="2187996"/>
            <a:ext cx="876935" cy="210185"/>
          </a:xfrm>
          <a:custGeom>
            <a:avLst/>
            <a:gdLst/>
            <a:ahLst/>
            <a:cxnLst/>
            <a:rect l="l" t="t" r="r" b="b"/>
            <a:pathLst>
              <a:path w="876935" h="210185">
                <a:moveTo>
                  <a:pt x="851757" y="209608"/>
                </a:moveTo>
                <a:lnTo>
                  <a:pt x="24792" y="209608"/>
                </a:lnTo>
                <a:lnTo>
                  <a:pt x="21146" y="208882"/>
                </a:lnTo>
                <a:lnTo>
                  <a:pt x="0" y="184815"/>
                </a:lnTo>
                <a:lnTo>
                  <a:pt x="0" y="181026"/>
                </a:lnTo>
                <a:lnTo>
                  <a:pt x="0" y="24790"/>
                </a:lnTo>
                <a:lnTo>
                  <a:pt x="24792" y="0"/>
                </a:lnTo>
                <a:lnTo>
                  <a:pt x="851757" y="0"/>
                </a:lnTo>
                <a:lnTo>
                  <a:pt x="876550" y="24790"/>
                </a:lnTo>
                <a:lnTo>
                  <a:pt x="876550" y="184815"/>
                </a:lnTo>
                <a:lnTo>
                  <a:pt x="855403" y="208882"/>
                </a:lnTo>
                <a:lnTo>
                  <a:pt x="851757" y="209608"/>
                </a:lnTo>
                <a:close/>
              </a:path>
            </a:pathLst>
          </a:custGeom>
          <a:solidFill>
            <a:srgbClr val="1B1F23">
              <a:alpha val="5099"/>
            </a:srgbClr>
          </a:solidFill>
        </p:spPr>
        <p:txBody>
          <a:bodyPr wrap="square" lIns="0" tIns="0" rIns="0" bIns="0" rtlCol="0"/>
          <a:lstStyle/>
          <a:p>
            <a:endParaRPr/>
          </a:p>
        </p:txBody>
      </p:sp>
      <p:sp>
        <p:nvSpPr>
          <p:cNvPr id="7" name="object 7"/>
          <p:cNvSpPr/>
          <p:nvPr/>
        </p:nvSpPr>
        <p:spPr>
          <a:xfrm>
            <a:off x="1571921" y="2816826"/>
            <a:ext cx="876935" cy="200660"/>
          </a:xfrm>
          <a:custGeom>
            <a:avLst/>
            <a:gdLst/>
            <a:ahLst/>
            <a:cxnLst/>
            <a:rect l="l" t="t" r="r" b="b"/>
            <a:pathLst>
              <a:path w="876935" h="200660">
                <a:moveTo>
                  <a:pt x="851757" y="200081"/>
                </a:moveTo>
                <a:lnTo>
                  <a:pt x="24792" y="200081"/>
                </a:lnTo>
                <a:lnTo>
                  <a:pt x="21146" y="199354"/>
                </a:lnTo>
                <a:lnTo>
                  <a:pt x="0" y="175288"/>
                </a:lnTo>
                <a:lnTo>
                  <a:pt x="0" y="171499"/>
                </a:lnTo>
                <a:lnTo>
                  <a:pt x="0" y="24790"/>
                </a:lnTo>
                <a:lnTo>
                  <a:pt x="24792" y="0"/>
                </a:lnTo>
                <a:lnTo>
                  <a:pt x="851757" y="0"/>
                </a:lnTo>
                <a:lnTo>
                  <a:pt x="876550" y="24790"/>
                </a:lnTo>
                <a:lnTo>
                  <a:pt x="876550" y="175288"/>
                </a:lnTo>
                <a:lnTo>
                  <a:pt x="855403" y="199354"/>
                </a:lnTo>
                <a:lnTo>
                  <a:pt x="851757" y="200081"/>
                </a:lnTo>
                <a:close/>
              </a:path>
            </a:pathLst>
          </a:custGeom>
          <a:solidFill>
            <a:srgbClr val="1B1F23">
              <a:alpha val="5099"/>
            </a:srgbClr>
          </a:solidFill>
        </p:spPr>
        <p:txBody>
          <a:bodyPr wrap="square" lIns="0" tIns="0" rIns="0" bIns="0" rtlCol="0"/>
          <a:lstStyle/>
          <a:p>
            <a:endParaRPr/>
          </a:p>
        </p:txBody>
      </p:sp>
      <p:sp>
        <p:nvSpPr>
          <p:cNvPr id="8" name="object 8"/>
          <p:cNvSpPr/>
          <p:nvPr/>
        </p:nvSpPr>
        <p:spPr>
          <a:xfrm>
            <a:off x="3058246" y="2816826"/>
            <a:ext cx="1372235" cy="200660"/>
          </a:xfrm>
          <a:custGeom>
            <a:avLst/>
            <a:gdLst/>
            <a:ahLst/>
            <a:cxnLst/>
            <a:rect l="l" t="t" r="r" b="b"/>
            <a:pathLst>
              <a:path w="1372235" h="200660">
                <a:moveTo>
                  <a:pt x="1347199" y="200081"/>
                </a:moveTo>
                <a:lnTo>
                  <a:pt x="24792" y="200081"/>
                </a:lnTo>
                <a:lnTo>
                  <a:pt x="21146" y="199354"/>
                </a:lnTo>
                <a:lnTo>
                  <a:pt x="0" y="175288"/>
                </a:lnTo>
                <a:lnTo>
                  <a:pt x="0" y="171499"/>
                </a:lnTo>
                <a:lnTo>
                  <a:pt x="0" y="24790"/>
                </a:lnTo>
                <a:lnTo>
                  <a:pt x="24792" y="0"/>
                </a:lnTo>
                <a:lnTo>
                  <a:pt x="1347199" y="0"/>
                </a:lnTo>
                <a:lnTo>
                  <a:pt x="1371992" y="24790"/>
                </a:lnTo>
                <a:lnTo>
                  <a:pt x="1371992" y="175288"/>
                </a:lnTo>
                <a:lnTo>
                  <a:pt x="1350845" y="199354"/>
                </a:lnTo>
                <a:lnTo>
                  <a:pt x="1347199" y="200081"/>
                </a:lnTo>
                <a:close/>
              </a:path>
            </a:pathLst>
          </a:custGeom>
          <a:solidFill>
            <a:srgbClr val="1B1F23">
              <a:alpha val="5099"/>
            </a:srgbClr>
          </a:solidFill>
        </p:spPr>
        <p:txBody>
          <a:bodyPr wrap="square" lIns="0" tIns="0" rIns="0" bIns="0" rtlCol="0"/>
          <a:lstStyle/>
          <a:p>
            <a:endParaRPr/>
          </a:p>
        </p:txBody>
      </p:sp>
      <p:sp>
        <p:nvSpPr>
          <p:cNvPr id="9" name="object 9"/>
          <p:cNvSpPr/>
          <p:nvPr/>
        </p:nvSpPr>
        <p:spPr>
          <a:xfrm>
            <a:off x="1571921" y="4293623"/>
            <a:ext cx="1019810" cy="200660"/>
          </a:xfrm>
          <a:custGeom>
            <a:avLst/>
            <a:gdLst/>
            <a:ahLst/>
            <a:cxnLst/>
            <a:rect l="l" t="t" r="r" b="b"/>
            <a:pathLst>
              <a:path w="1019810" h="200660">
                <a:moveTo>
                  <a:pt x="994673" y="200080"/>
                </a:moveTo>
                <a:lnTo>
                  <a:pt x="24792" y="200080"/>
                </a:lnTo>
                <a:lnTo>
                  <a:pt x="21146" y="199354"/>
                </a:lnTo>
                <a:lnTo>
                  <a:pt x="0" y="175288"/>
                </a:lnTo>
                <a:lnTo>
                  <a:pt x="0" y="171499"/>
                </a:lnTo>
                <a:lnTo>
                  <a:pt x="0" y="24792"/>
                </a:lnTo>
                <a:lnTo>
                  <a:pt x="24792" y="0"/>
                </a:lnTo>
                <a:lnTo>
                  <a:pt x="994673" y="0"/>
                </a:lnTo>
                <a:lnTo>
                  <a:pt x="1019466" y="24792"/>
                </a:lnTo>
                <a:lnTo>
                  <a:pt x="1019466" y="175288"/>
                </a:lnTo>
                <a:lnTo>
                  <a:pt x="998319" y="199354"/>
                </a:lnTo>
                <a:lnTo>
                  <a:pt x="994673" y="200080"/>
                </a:lnTo>
                <a:close/>
              </a:path>
            </a:pathLst>
          </a:custGeom>
          <a:solidFill>
            <a:srgbClr val="1B1F23">
              <a:alpha val="5099"/>
            </a:srgbClr>
          </a:solidFill>
        </p:spPr>
        <p:txBody>
          <a:bodyPr wrap="square" lIns="0" tIns="0" rIns="0" bIns="0" rtlCol="0"/>
          <a:lstStyle/>
          <a:p>
            <a:endParaRPr/>
          </a:p>
        </p:txBody>
      </p:sp>
      <p:sp>
        <p:nvSpPr>
          <p:cNvPr id="10" name="object 10"/>
          <p:cNvSpPr/>
          <p:nvPr/>
        </p:nvSpPr>
        <p:spPr>
          <a:xfrm>
            <a:off x="3201162" y="4293623"/>
            <a:ext cx="1591310" cy="200660"/>
          </a:xfrm>
          <a:custGeom>
            <a:avLst/>
            <a:gdLst/>
            <a:ahLst/>
            <a:cxnLst/>
            <a:rect l="l" t="t" r="r" b="b"/>
            <a:pathLst>
              <a:path w="1591310" h="200660">
                <a:moveTo>
                  <a:pt x="1566337" y="200080"/>
                </a:moveTo>
                <a:lnTo>
                  <a:pt x="24793" y="200080"/>
                </a:lnTo>
                <a:lnTo>
                  <a:pt x="21146" y="199354"/>
                </a:lnTo>
                <a:lnTo>
                  <a:pt x="0" y="175288"/>
                </a:lnTo>
                <a:lnTo>
                  <a:pt x="0" y="171499"/>
                </a:lnTo>
                <a:lnTo>
                  <a:pt x="0" y="24792"/>
                </a:lnTo>
                <a:lnTo>
                  <a:pt x="24793" y="0"/>
                </a:lnTo>
                <a:lnTo>
                  <a:pt x="1566337" y="0"/>
                </a:lnTo>
                <a:lnTo>
                  <a:pt x="1591129" y="24792"/>
                </a:lnTo>
                <a:lnTo>
                  <a:pt x="1591129" y="175288"/>
                </a:lnTo>
                <a:lnTo>
                  <a:pt x="1569983" y="199354"/>
                </a:lnTo>
                <a:lnTo>
                  <a:pt x="1566337" y="200080"/>
                </a:lnTo>
                <a:close/>
              </a:path>
            </a:pathLst>
          </a:custGeom>
          <a:solidFill>
            <a:srgbClr val="1B1F23">
              <a:alpha val="5099"/>
            </a:srgbClr>
          </a:solidFill>
        </p:spPr>
        <p:txBody>
          <a:bodyPr wrap="square" lIns="0" tIns="0" rIns="0" bIns="0" rtlCol="0"/>
          <a:lstStyle/>
          <a:p>
            <a:endParaRPr/>
          </a:p>
        </p:txBody>
      </p:sp>
      <p:sp>
        <p:nvSpPr>
          <p:cNvPr id="11" name="object 11"/>
          <p:cNvSpPr/>
          <p:nvPr/>
        </p:nvSpPr>
        <p:spPr>
          <a:xfrm>
            <a:off x="1571921" y="5379784"/>
            <a:ext cx="1019810" cy="210185"/>
          </a:xfrm>
          <a:custGeom>
            <a:avLst/>
            <a:gdLst/>
            <a:ahLst/>
            <a:cxnLst/>
            <a:rect l="l" t="t" r="r" b="b"/>
            <a:pathLst>
              <a:path w="1019810" h="210185">
                <a:moveTo>
                  <a:pt x="994673" y="209608"/>
                </a:moveTo>
                <a:lnTo>
                  <a:pt x="24792" y="209608"/>
                </a:lnTo>
                <a:lnTo>
                  <a:pt x="21146" y="208882"/>
                </a:lnTo>
                <a:lnTo>
                  <a:pt x="0" y="184815"/>
                </a:lnTo>
                <a:lnTo>
                  <a:pt x="0" y="181026"/>
                </a:lnTo>
                <a:lnTo>
                  <a:pt x="0" y="24792"/>
                </a:lnTo>
                <a:lnTo>
                  <a:pt x="24792" y="0"/>
                </a:lnTo>
                <a:lnTo>
                  <a:pt x="994673" y="0"/>
                </a:lnTo>
                <a:lnTo>
                  <a:pt x="1019466" y="24792"/>
                </a:lnTo>
                <a:lnTo>
                  <a:pt x="1019466" y="184815"/>
                </a:lnTo>
                <a:lnTo>
                  <a:pt x="998319" y="208882"/>
                </a:lnTo>
                <a:lnTo>
                  <a:pt x="994673" y="209608"/>
                </a:lnTo>
                <a:close/>
              </a:path>
            </a:pathLst>
          </a:custGeom>
          <a:solidFill>
            <a:srgbClr val="1B1F23">
              <a:alpha val="5099"/>
            </a:srgbClr>
          </a:solidFill>
        </p:spPr>
        <p:txBody>
          <a:bodyPr wrap="square" lIns="0" tIns="0" rIns="0" bIns="0" rtlCol="0"/>
          <a:lstStyle/>
          <a:p>
            <a:endParaRPr/>
          </a:p>
        </p:txBody>
      </p:sp>
      <p:sp>
        <p:nvSpPr>
          <p:cNvPr id="12" name="object 12"/>
          <p:cNvSpPr/>
          <p:nvPr/>
        </p:nvSpPr>
        <p:spPr>
          <a:xfrm>
            <a:off x="3201162" y="5379784"/>
            <a:ext cx="2086610" cy="210185"/>
          </a:xfrm>
          <a:custGeom>
            <a:avLst/>
            <a:gdLst/>
            <a:ahLst/>
            <a:cxnLst/>
            <a:rect l="l" t="t" r="r" b="b"/>
            <a:pathLst>
              <a:path w="2086610" h="210185">
                <a:moveTo>
                  <a:pt x="2061778" y="209608"/>
                </a:moveTo>
                <a:lnTo>
                  <a:pt x="24793" y="209608"/>
                </a:lnTo>
                <a:lnTo>
                  <a:pt x="21146" y="208882"/>
                </a:lnTo>
                <a:lnTo>
                  <a:pt x="0" y="184815"/>
                </a:lnTo>
                <a:lnTo>
                  <a:pt x="0" y="181026"/>
                </a:lnTo>
                <a:lnTo>
                  <a:pt x="0" y="24792"/>
                </a:lnTo>
                <a:lnTo>
                  <a:pt x="24793" y="0"/>
                </a:lnTo>
                <a:lnTo>
                  <a:pt x="2061778" y="0"/>
                </a:lnTo>
                <a:lnTo>
                  <a:pt x="2086571" y="24792"/>
                </a:lnTo>
                <a:lnTo>
                  <a:pt x="2086571" y="184815"/>
                </a:lnTo>
                <a:lnTo>
                  <a:pt x="2065424" y="208882"/>
                </a:lnTo>
                <a:lnTo>
                  <a:pt x="2061778" y="209608"/>
                </a:lnTo>
                <a:close/>
              </a:path>
            </a:pathLst>
          </a:custGeom>
          <a:solidFill>
            <a:srgbClr val="1B1F23">
              <a:alpha val="5099"/>
            </a:srgbClr>
          </a:solidFill>
        </p:spPr>
        <p:txBody>
          <a:bodyPr wrap="square" lIns="0" tIns="0" rIns="0" bIns="0" rtlCol="0"/>
          <a:lstStyle/>
          <a:p>
            <a:endParaRPr/>
          </a:p>
        </p:txBody>
      </p:sp>
      <p:sp>
        <p:nvSpPr>
          <p:cNvPr id="13" name="object 13"/>
          <p:cNvSpPr txBox="1"/>
          <p:nvPr/>
        </p:nvSpPr>
        <p:spPr>
          <a:xfrm>
            <a:off x="1402014" y="671822"/>
            <a:ext cx="9248140" cy="4904105"/>
          </a:xfrm>
          <a:prstGeom prst="rect">
            <a:avLst/>
          </a:prstGeom>
        </p:spPr>
        <p:txBody>
          <a:bodyPr vert="horz" wrap="square" lIns="0" tIns="12700" rIns="0" bIns="0" rtlCol="0">
            <a:spAutoFit/>
          </a:bodyPr>
          <a:lstStyle/>
          <a:p>
            <a:pPr marL="12700" marR="365125">
              <a:lnSpc>
                <a:spcPct val="125000"/>
              </a:lnSpc>
              <a:spcBef>
                <a:spcPts val="100"/>
              </a:spcBef>
            </a:pPr>
            <a:r>
              <a:rPr sz="1200" spc="25" dirty="0">
                <a:solidFill>
                  <a:srgbClr val="24292E"/>
                </a:solidFill>
                <a:latin typeface="Microsoft YaHei"/>
                <a:cs typeface="Microsoft YaHei"/>
              </a:rPr>
              <a:t>在 </a:t>
            </a:r>
            <a:r>
              <a:rPr sz="1000" dirty="0">
                <a:solidFill>
                  <a:srgbClr val="24292E"/>
                </a:solidFill>
                <a:latin typeface="Consolas"/>
                <a:cs typeface="Consolas"/>
              </a:rPr>
              <a:t>db_manager.py</a:t>
            </a:r>
            <a:r>
              <a:rPr sz="1000" spc="-140" dirty="0">
                <a:solidFill>
                  <a:srgbClr val="24292E"/>
                </a:solidFill>
                <a:latin typeface="Consolas"/>
                <a:cs typeface="Consolas"/>
              </a:rPr>
              <a:t> </a:t>
            </a:r>
            <a:r>
              <a:rPr sz="1200" dirty="0">
                <a:solidFill>
                  <a:srgbClr val="24292E"/>
                </a:solidFill>
                <a:latin typeface="Microsoft YaHei"/>
                <a:cs typeface="Microsoft YaHei"/>
              </a:rPr>
              <a:t>中，定义了数据库连接函数 </a:t>
            </a:r>
            <a:r>
              <a:rPr sz="1000" dirty="0">
                <a:solidFill>
                  <a:srgbClr val="24292E"/>
                </a:solidFill>
                <a:latin typeface="Consolas"/>
                <a:cs typeface="Consolas"/>
              </a:rPr>
              <a:t>get_db_connection</a:t>
            </a:r>
            <a:r>
              <a:rPr sz="1000" spc="-145" dirty="0">
                <a:solidFill>
                  <a:srgbClr val="24292E"/>
                </a:solidFill>
                <a:latin typeface="Consolas"/>
                <a:cs typeface="Consolas"/>
              </a:rPr>
              <a:t> </a:t>
            </a:r>
            <a:r>
              <a:rPr sz="1200" dirty="0">
                <a:solidFill>
                  <a:srgbClr val="24292E"/>
                </a:solidFill>
                <a:latin typeface="Microsoft YaHei"/>
                <a:cs typeface="Microsoft YaHei"/>
              </a:rPr>
              <a:t>为项目与本地</a:t>
            </a:r>
            <a:r>
              <a:rPr sz="1200" dirty="0">
                <a:solidFill>
                  <a:srgbClr val="24292E"/>
                </a:solidFill>
                <a:latin typeface="Segoe UI"/>
                <a:cs typeface="Segoe UI"/>
              </a:rPr>
              <a:t>MySQL</a:t>
            </a:r>
            <a:r>
              <a:rPr sz="1200" dirty="0">
                <a:solidFill>
                  <a:srgbClr val="24292E"/>
                </a:solidFill>
                <a:latin typeface="Microsoft YaHei"/>
                <a:cs typeface="Microsoft YaHei"/>
              </a:rPr>
              <a:t>数据库交互作准备；定义了 </a:t>
            </a:r>
            <a:r>
              <a:rPr sz="1000" spc="-10" dirty="0">
                <a:solidFill>
                  <a:srgbClr val="24292E"/>
                </a:solidFill>
                <a:latin typeface="Consolas"/>
                <a:cs typeface="Consolas"/>
              </a:rPr>
              <a:t>record_simulation- </a:t>
            </a:r>
            <a:r>
              <a:rPr sz="1000" dirty="0">
                <a:solidFill>
                  <a:srgbClr val="24292E"/>
                </a:solidFill>
                <a:latin typeface="Consolas"/>
                <a:cs typeface="Consolas"/>
              </a:rPr>
              <a:t>parameters</a:t>
            </a:r>
            <a:r>
              <a:rPr sz="1000" spc="-125" dirty="0">
                <a:solidFill>
                  <a:srgbClr val="24292E"/>
                </a:solidFill>
                <a:latin typeface="Consolas"/>
                <a:cs typeface="Consolas"/>
              </a:rPr>
              <a:t> </a:t>
            </a:r>
            <a:r>
              <a:rPr sz="1200" dirty="0">
                <a:solidFill>
                  <a:srgbClr val="24292E"/>
                </a:solidFill>
                <a:latin typeface="Microsoft YaHei"/>
                <a:cs typeface="Microsoft YaHei"/>
              </a:rPr>
              <a:t>函数，通过</a:t>
            </a:r>
            <a:r>
              <a:rPr sz="1200" dirty="0">
                <a:solidFill>
                  <a:srgbClr val="24292E"/>
                </a:solidFill>
                <a:latin typeface="Segoe UI"/>
                <a:cs typeface="Segoe UI"/>
              </a:rPr>
              <a:t>SQL</a:t>
            </a:r>
            <a:r>
              <a:rPr sz="1200" spc="-5" dirty="0">
                <a:solidFill>
                  <a:srgbClr val="24292E"/>
                </a:solidFill>
                <a:latin typeface="Microsoft YaHei"/>
                <a:cs typeface="Microsoft YaHei"/>
              </a:rPr>
              <a:t>语句将本次模拟实验的所有配置参数记录在数据库。</a:t>
            </a:r>
            <a:endParaRPr sz="1200">
              <a:latin typeface="Microsoft YaHei"/>
              <a:cs typeface="Microsoft YaHei"/>
            </a:endParaRPr>
          </a:p>
          <a:p>
            <a:pPr marL="12700">
              <a:lnSpc>
                <a:spcPct val="100000"/>
              </a:lnSpc>
              <a:spcBef>
                <a:spcPts val="1560"/>
              </a:spcBef>
            </a:pPr>
            <a:r>
              <a:rPr sz="1200" spc="5" dirty="0">
                <a:solidFill>
                  <a:srgbClr val="24292E"/>
                </a:solidFill>
                <a:latin typeface="Microsoft YaHei"/>
                <a:cs typeface="Microsoft YaHei"/>
              </a:rPr>
              <a:t>在主控程序 </a:t>
            </a:r>
            <a:r>
              <a:rPr sz="1000" dirty="0">
                <a:solidFill>
                  <a:srgbClr val="24292E"/>
                </a:solidFill>
                <a:latin typeface="Consolas"/>
                <a:cs typeface="Consolas"/>
              </a:rPr>
              <a:t>main_run.py</a:t>
            </a:r>
            <a:r>
              <a:rPr sz="1000" spc="-145" dirty="0">
                <a:solidFill>
                  <a:srgbClr val="24292E"/>
                </a:solidFill>
                <a:latin typeface="Consolas"/>
                <a:cs typeface="Consolas"/>
              </a:rPr>
              <a:t> </a:t>
            </a:r>
            <a:r>
              <a:rPr sz="1200" dirty="0">
                <a:solidFill>
                  <a:srgbClr val="24292E"/>
                </a:solidFill>
                <a:latin typeface="Microsoft YaHei"/>
                <a:cs typeface="Microsoft YaHei"/>
              </a:rPr>
              <a:t>中，启动本次模拟项目，连接数据库，并获取实验编号</a:t>
            </a:r>
            <a:r>
              <a:rPr sz="1200" spc="-10" dirty="0">
                <a:solidFill>
                  <a:srgbClr val="24292E"/>
                </a:solidFill>
                <a:latin typeface="Microsoft YaHei"/>
                <a:cs typeface="Microsoft YaHei"/>
              </a:rPr>
              <a:t>（</a:t>
            </a:r>
            <a:r>
              <a:rPr sz="1200" spc="-10" dirty="0">
                <a:solidFill>
                  <a:srgbClr val="24292E"/>
                </a:solidFill>
                <a:latin typeface="Segoe UI"/>
                <a:cs typeface="Segoe UI"/>
              </a:rPr>
              <a:t>run_id)</a:t>
            </a:r>
            <a:endParaRPr sz="1200">
              <a:latin typeface="Segoe UI"/>
              <a:cs typeface="Segoe UI"/>
            </a:endParaRPr>
          </a:p>
          <a:p>
            <a:pPr>
              <a:lnSpc>
                <a:spcPct val="100000"/>
              </a:lnSpc>
              <a:spcBef>
                <a:spcPts val="490"/>
              </a:spcBef>
            </a:pPr>
            <a:endParaRPr sz="1200">
              <a:latin typeface="Segoe UI"/>
              <a:cs typeface="Segoe UI"/>
            </a:endParaRPr>
          </a:p>
          <a:p>
            <a:pPr marL="12700">
              <a:lnSpc>
                <a:spcPct val="100000"/>
              </a:lnSpc>
            </a:pPr>
            <a:r>
              <a:rPr sz="1500" spc="-10" dirty="0">
                <a:solidFill>
                  <a:srgbClr val="24292E"/>
                </a:solidFill>
                <a:latin typeface="Segoe UI Semibold"/>
                <a:cs typeface="Segoe UI Semibold"/>
              </a:rPr>
              <a:t>2</a:t>
            </a:r>
            <a:r>
              <a:rPr sz="1500" b="1" dirty="0">
                <a:solidFill>
                  <a:srgbClr val="24292E"/>
                </a:solidFill>
                <a:latin typeface="Microsoft YaHei"/>
                <a:cs typeface="Microsoft YaHei"/>
              </a:rPr>
              <a:t>、统计模拟（核心步骤</a:t>
            </a:r>
            <a:r>
              <a:rPr sz="1500" b="1" spc="-50" dirty="0">
                <a:solidFill>
                  <a:srgbClr val="24292E"/>
                </a:solidFill>
                <a:latin typeface="Microsoft YaHei"/>
                <a:cs typeface="Microsoft YaHei"/>
              </a:rPr>
              <a:t>）</a:t>
            </a:r>
            <a:endParaRPr sz="1500">
              <a:latin typeface="Microsoft YaHei"/>
              <a:cs typeface="Microsoft YaHei"/>
            </a:endParaRPr>
          </a:p>
          <a:p>
            <a:pPr marL="12700" marR="24130">
              <a:lnSpc>
                <a:spcPct val="122200"/>
              </a:lnSpc>
              <a:spcBef>
                <a:spcPts val="715"/>
              </a:spcBef>
            </a:pPr>
            <a:r>
              <a:rPr sz="1200" dirty="0">
                <a:solidFill>
                  <a:srgbClr val="24292E"/>
                </a:solidFill>
                <a:latin typeface="Microsoft YaHei"/>
                <a:cs typeface="Microsoft YaHei"/>
              </a:rPr>
              <a:t>在 </a:t>
            </a:r>
            <a:r>
              <a:rPr sz="1000" dirty="0">
                <a:solidFill>
                  <a:srgbClr val="24292E"/>
                </a:solidFill>
                <a:latin typeface="Consolas"/>
                <a:cs typeface="Consolas"/>
              </a:rPr>
              <a:t>stat_sim.py</a:t>
            </a:r>
            <a:r>
              <a:rPr sz="1000" spc="-150" dirty="0">
                <a:solidFill>
                  <a:srgbClr val="24292E"/>
                </a:solidFill>
                <a:latin typeface="Consolas"/>
                <a:cs typeface="Consolas"/>
              </a:rPr>
              <a:t> </a:t>
            </a:r>
            <a:r>
              <a:rPr sz="1200" dirty="0">
                <a:solidFill>
                  <a:srgbClr val="24292E"/>
                </a:solidFill>
                <a:latin typeface="Microsoft YaHei"/>
                <a:cs typeface="Microsoft YaHei"/>
              </a:rPr>
              <a:t>中，构建</a:t>
            </a:r>
            <a:r>
              <a:rPr sz="1450" i="1" spc="365" dirty="0">
                <a:solidFill>
                  <a:srgbClr val="24292E"/>
                </a:solidFill>
                <a:latin typeface="Palatino Linotype"/>
                <a:cs typeface="Palatino Linotype"/>
              </a:rPr>
              <a:t>K</a:t>
            </a:r>
            <a:r>
              <a:rPr sz="1200" dirty="0">
                <a:solidFill>
                  <a:srgbClr val="24292E"/>
                </a:solidFill>
                <a:latin typeface="Microsoft YaHei"/>
                <a:cs typeface="Microsoft YaHei"/>
              </a:rPr>
              <a:t>行</a:t>
            </a:r>
            <a:r>
              <a:rPr sz="1450" i="1" spc="-110" dirty="0">
                <a:solidFill>
                  <a:srgbClr val="24292E"/>
                </a:solidFill>
                <a:latin typeface="Palatino Linotype"/>
                <a:cs typeface="Palatino Linotype"/>
              </a:rPr>
              <a:t>V</a:t>
            </a:r>
            <a:r>
              <a:rPr sz="1450" i="1" spc="-20" dirty="0">
                <a:solidFill>
                  <a:srgbClr val="24292E"/>
                </a:solidFill>
                <a:latin typeface="Palatino Linotype"/>
                <a:cs typeface="Palatino Linotype"/>
              </a:rPr>
              <a:t> </a:t>
            </a:r>
            <a:r>
              <a:rPr sz="1200" dirty="0">
                <a:solidFill>
                  <a:srgbClr val="24292E"/>
                </a:solidFill>
                <a:latin typeface="Microsoft YaHei"/>
                <a:cs typeface="Microsoft YaHei"/>
              </a:rPr>
              <a:t>列的</a:t>
            </a:r>
            <a:r>
              <a:rPr sz="1450" i="1" spc="-114" dirty="0">
                <a:solidFill>
                  <a:srgbClr val="24292E"/>
                </a:solidFill>
                <a:latin typeface="Palatino Linotype"/>
                <a:cs typeface="Palatino Linotype"/>
              </a:rPr>
              <a:t>ϕ</a:t>
            </a:r>
            <a:r>
              <a:rPr sz="1200" dirty="0">
                <a:solidFill>
                  <a:srgbClr val="24292E"/>
                </a:solidFill>
                <a:latin typeface="Microsoft YaHei"/>
                <a:cs typeface="Microsoft YaHei"/>
              </a:rPr>
              <a:t>矩阵，模拟主题</a:t>
            </a:r>
            <a:r>
              <a:rPr sz="1200" dirty="0">
                <a:solidFill>
                  <a:srgbClr val="24292E"/>
                </a:solidFill>
                <a:latin typeface="Segoe UI"/>
                <a:cs typeface="Segoe UI"/>
              </a:rPr>
              <a:t>—</a:t>
            </a:r>
            <a:r>
              <a:rPr sz="1200" dirty="0">
                <a:solidFill>
                  <a:srgbClr val="24292E"/>
                </a:solidFill>
                <a:latin typeface="Microsoft YaHei"/>
                <a:cs typeface="Microsoft YaHei"/>
              </a:rPr>
              <a:t>词汇概率分布。</a:t>
            </a:r>
            <a:r>
              <a:rPr sz="1200" b="1" dirty="0">
                <a:solidFill>
                  <a:srgbClr val="24292E"/>
                </a:solidFill>
                <a:latin typeface="Microsoft YaHei"/>
                <a:cs typeface="Microsoft YaHei"/>
              </a:rPr>
              <a:t>分配策略</a:t>
            </a:r>
            <a:r>
              <a:rPr sz="1200" dirty="0">
                <a:solidFill>
                  <a:srgbClr val="24292E"/>
                </a:solidFill>
                <a:latin typeface="Microsoft YaHei"/>
                <a:cs typeface="Microsoft YaHei"/>
              </a:rPr>
              <a:t>：将</a:t>
            </a:r>
            <a:r>
              <a:rPr sz="1200" spc="-10" dirty="0">
                <a:solidFill>
                  <a:srgbClr val="24292E"/>
                </a:solidFill>
                <a:latin typeface="Segoe UI"/>
                <a:cs typeface="Segoe UI"/>
              </a:rPr>
              <a:t>90%</a:t>
            </a:r>
            <a:r>
              <a:rPr sz="1200" dirty="0">
                <a:solidFill>
                  <a:srgbClr val="24292E"/>
                </a:solidFill>
                <a:latin typeface="Microsoft YaHei"/>
                <a:cs typeface="Microsoft YaHei"/>
              </a:rPr>
              <a:t>的概率分配给某个主题的专属词汇，将</a:t>
            </a:r>
            <a:r>
              <a:rPr sz="1200" spc="-10" dirty="0">
                <a:solidFill>
                  <a:srgbClr val="24292E"/>
                </a:solidFill>
                <a:latin typeface="Segoe UI"/>
                <a:cs typeface="Segoe UI"/>
              </a:rPr>
              <a:t>10%</a:t>
            </a:r>
            <a:r>
              <a:rPr sz="1200" spc="-25" dirty="0">
                <a:solidFill>
                  <a:srgbClr val="24292E"/>
                </a:solidFill>
                <a:latin typeface="Microsoft YaHei"/>
                <a:cs typeface="Microsoft YaHei"/>
              </a:rPr>
              <a:t>的概</a:t>
            </a:r>
            <a:r>
              <a:rPr sz="1200" spc="-5" dirty="0">
                <a:solidFill>
                  <a:srgbClr val="24292E"/>
                </a:solidFill>
                <a:latin typeface="Microsoft YaHei"/>
                <a:cs typeface="Microsoft YaHei"/>
              </a:rPr>
              <a:t>率分配给其它词汇，保证归一化。</a:t>
            </a:r>
            <a:endParaRPr sz="1200">
              <a:latin typeface="Microsoft YaHei"/>
              <a:cs typeface="Microsoft YaHei"/>
            </a:endParaRPr>
          </a:p>
          <a:p>
            <a:pPr marL="12700" marR="34925">
              <a:lnSpc>
                <a:spcPct val="107800"/>
              </a:lnSpc>
              <a:spcBef>
                <a:spcPts val="1175"/>
              </a:spcBef>
            </a:pPr>
            <a:r>
              <a:rPr sz="1200" dirty="0">
                <a:solidFill>
                  <a:srgbClr val="24292E"/>
                </a:solidFill>
                <a:latin typeface="Microsoft YaHei"/>
                <a:cs typeface="Microsoft YaHei"/>
              </a:rPr>
              <a:t>在 </a:t>
            </a:r>
            <a:r>
              <a:rPr sz="1000" dirty="0">
                <a:solidFill>
                  <a:srgbClr val="24292E"/>
                </a:solidFill>
                <a:latin typeface="Consolas"/>
                <a:cs typeface="Consolas"/>
              </a:rPr>
              <a:t>stat_sim.py</a:t>
            </a:r>
            <a:r>
              <a:rPr sz="1000" spc="-125" dirty="0">
                <a:solidFill>
                  <a:srgbClr val="24292E"/>
                </a:solidFill>
                <a:latin typeface="Consolas"/>
                <a:cs typeface="Consolas"/>
              </a:rPr>
              <a:t> </a:t>
            </a:r>
            <a:r>
              <a:rPr sz="1200" dirty="0">
                <a:solidFill>
                  <a:srgbClr val="24292E"/>
                </a:solidFill>
                <a:latin typeface="Microsoft YaHei"/>
                <a:cs typeface="Microsoft YaHei"/>
              </a:rPr>
              <a:t>中，定义 </a:t>
            </a:r>
            <a:r>
              <a:rPr sz="1000" dirty="0">
                <a:solidFill>
                  <a:srgbClr val="24292E"/>
                </a:solidFill>
                <a:latin typeface="Consolas"/>
                <a:cs typeface="Consolas"/>
              </a:rPr>
              <a:t>generate_documents</a:t>
            </a:r>
            <a:r>
              <a:rPr sz="1000" spc="-130" dirty="0">
                <a:solidFill>
                  <a:srgbClr val="24292E"/>
                </a:solidFill>
                <a:latin typeface="Consolas"/>
                <a:cs typeface="Consolas"/>
              </a:rPr>
              <a:t> </a:t>
            </a:r>
            <a:r>
              <a:rPr sz="1200" dirty="0">
                <a:solidFill>
                  <a:srgbClr val="24292E"/>
                </a:solidFill>
                <a:latin typeface="Microsoft YaHei"/>
                <a:cs typeface="Microsoft YaHei"/>
              </a:rPr>
              <a:t>函数，根据</a:t>
            </a:r>
            <a:r>
              <a:rPr sz="1200" spc="-20" dirty="0">
                <a:solidFill>
                  <a:srgbClr val="24292E"/>
                </a:solidFill>
                <a:latin typeface="Segoe UI"/>
                <a:cs typeface="Segoe UI"/>
              </a:rPr>
              <a:t>LDA</a:t>
            </a:r>
            <a:r>
              <a:rPr sz="1200" spc="-5" dirty="0">
                <a:solidFill>
                  <a:srgbClr val="24292E"/>
                </a:solidFill>
                <a:latin typeface="Microsoft YaHei"/>
                <a:cs typeface="Microsoft YaHei"/>
              </a:rPr>
              <a:t>原理进行狄利克雷抽样，生成</a:t>
            </a:r>
            <a:r>
              <a:rPr sz="1450" i="1" dirty="0">
                <a:solidFill>
                  <a:srgbClr val="24292E"/>
                </a:solidFill>
                <a:latin typeface="Palatino Linotype"/>
                <a:cs typeface="Palatino Linotype"/>
              </a:rPr>
              <a:t>N</a:t>
            </a:r>
            <a:r>
              <a:rPr sz="1450" i="1" spc="-185" dirty="0">
                <a:solidFill>
                  <a:srgbClr val="24292E"/>
                </a:solidFill>
                <a:latin typeface="Palatino Linotype"/>
                <a:cs typeface="Palatino Linotype"/>
              </a:rPr>
              <a:t> </a:t>
            </a:r>
            <a:r>
              <a:rPr sz="1200" dirty="0">
                <a:solidFill>
                  <a:srgbClr val="24292E"/>
                </a:solidFill>
                <a:latin typeface="Microsoft YaHei"/>
                <a:cs typeface="Microsoft YaHei"/>
              </a:rPr>
              <a:t>篇文档和对应的真实</a:t>
            </a:r>
            <a:r>
              <a:rPr sz="1450" i="1" spc="-180" dirty="0">
                <a:solidFill>
                  <a:srgbClr val="24292E"/>
                </a:solidFill>
                <a:latin typeface="Palatino Linotype"/>
                <a:cs typeface="Palatino Linotype"/>
              </a:rPr>
              <a:t>θ</a:t>
            </a:r>
            <a:r>
              <a:rPr sz="1200" spc="-5" dirty="0">
                <a:solidFill>
                  <a:srgbClr val="24292E"/>
                </a:solidFill>
                <a:latin typeface="Microsoft YaHei"/>
                <a:cs typeface="Microsoft YaHei"/>
              </a:rPr>
              <a:t>向量。最后再进行数据</a:t>
            </a:r>
            <a:r>
              <a:rPr sz="1200" dirty="0">
                <a:solidFill>
                  <a:srgbClr val="24292E"/>
                </a:solidFill>
                <a:latin typeface="Microsoft YaHei"/>
                <a:cs typeface="Microsoft YaHei"/>
              </a:rPr>
              <a:t>格式化处理，如将词语连接成完整字符串文本、将实验序号和真实</a:t>
            </a:r>
            <a:r>
              <a:rPr sz="1450" i="1" spc="-180" dirty="0">
                <a:solidFill>
                  <a:srgbClr val="24292E"/>
                </a:solidFill>
                <a:latin typeface="Palatino Linotype"/>
                <a:cs typeface="Palatino Linotype"/>
              </a:rPr>
              <a:t>θ</a:t>
            </a:r>
            <a:r>
              <a:rPr sz="1200" spc="-10" dirty="0">
                <a:solidFill>
                  <a:srgbClr val="24292E"/>
                </a:solidFill>
                <a:latin typeface="Microsoft YaHei"/>
                <a:cs typeface="Microsoft YaHei"/>
              </a:rPr>
              <a:t>打包成元组。</a:t>
            </a:r>
            <a:endParaRPr sz="1200">
              <a:latin typeface="Microsoft YaHei"/>
              <a:cs typeface="Microsoft YaHei"/>
            </a:endParaRPr>
          </a:p>
          <a:p>
            <a:pPr marL="12700">
              <a:lnSpc>
                <a:spcPct val="100000"/>
              </a:lnSpc>
              <a:spcBef>
                <a:spcPts val="1660"/>
              </a:spcBef>
            </a:pPr>
            <a:r>
              <a:rPr sz="1200" spc="-5" dirty="0">
                <a:solidFill>
                  <a:srgbClr val="24292E"/>
                </a:solidFill>
                <a:latin typeface="Microsoft YaHei"/>
                <a:cs typeface="Microsoft YaHei"/>
              </a:rPr>
              <a:t>在主控程序中调用上述函数。</a:t>
            </a:r>
            <a:endParaRPr sz="1200">
              <a:latin typeface="Microsoft YaHei"/>
              <a:cs typeface="Microsoft YaHei"/>
            </a:endParaRPr>
          </a:p>
          <a:p>
            <a:pPr marL="12700">
              <a:lnSpc>
                <a:spcPct val="100000"/>
              </a:lnSpc>
              <a:spcBef>
                <a:spcPts val="2085"/>
              </a:spcBef>
            </a:pPr>
            <a:r>
              <a:rPr sz="1500" spc="-10" dirty="0">
                <a:solidFill>
                  <a:srgbClr val="24292E"/>
                </a:solidFill>
                <a:latin typeface="Segoe UI Semibold"/>
                <a:cs typeface="Segoe UI Semibold"/>
              </a:rPr>
              <a:t>3</a:t>
            </a:r>
            <a:r>
              <a:rPr sz="1500" b="1" spc="-10" dirty="0">
                <a:solidFill>
                  <a:srgbClr val="24292E"/>
                </a:solidFill>
                <a:latin typeface="Microsoft YaHei"/>
                <a:cs typeface="Microsoft YaHei"/>
              </a:rPr>
              <a:t>、数据入库</a:t>
            </a:r>
            <a:endParaRPr sz="1500">
              <a:latin typeface="Microsoft YaHei"/>
              <a:cs typeface="Microsoft YaHei"/>
            </a:endParaRPr>
          </a:p>
          <a:p>
            <a:pPr marL="12700" marR="5080">
              <a:lnSpc>
                <a:spcPct val="122200"/>
              </a:lnSpc>
              <a:spcBef>
                <a:spcPts val="715"/>
              </a:spcBef>
            </a:pPr>
            <a:r>
              <a:rPr sz="1200" dirty="0">
                <a:solidFill>
                  <a:srgbClr val="24292E"/>
                </a:solidFill>
                <a:latin typeface="Microsoft YaHei"/>
                <a:cs typeface="Microsoft YaHei"/>
              </a:rPr>
              <a:t>在 </a:t>
            </a:r>
            <a:r>
              <a:rPr sz="1000" dirty="0">
                <a:solidFill>
                  <a:srgbClr val="24292E"/>
                </a:solidFill>
                <a:latin typeface="Consolas"/>
                <a:cs typeface="Consolas"/>
              </a:rPr>
              <a:t>db_manager.py</a:t>
            </a:r>
            <a:r>
              <a:rPr sz="1000" spc="-130" dirty="0">
                <a:solidFill>
                  <a:srgbClr val="24292E"/>
                </a:solidFill>
                <a:latin typeface="Consolas"/>
                <a:cs typeface="Consolas"/>
              </a:rPr>
              <a:t> </a:t>
            </a:r>
            <a:r>
              <a:rPr sz="1200" dirty="0">
                <a:solidFill>
                  <a:srgbClr val="24292E"/>
                </a:solidFill>
                <a:latin typeface="Microsoft YaHei"/>
                <a:cs typeface="Microsoft YaHei"/>
              </a:rPr>
              <a:t>中，定义 </a:t>
            </a:r>
            <a:r>
              <a:rPr sz="1000" dirty="0">
                <a:solidFill>
                  <a:srgbClr val="24292E"/>
                </a:solidFill>
                <a:latin typeface="Consolas"/>
                <a:cs typeface="Consolas"/>
              </a:rPr>
              <a:t>bulk_insert_documents</a:t>
            </a:r>
            <a:r>
              <a:rPr sz="1000" spc="-135" dirty="0">
                <a:solidFill>
                  <a:srgbClr val="24292E"/>
                </a:solidFill>
                <a:latin typeface="Consolas"/>
                <a:cs typeface="Consolas"/>
              </a:rPr>
              <a:t> </a:t>
            </a:r>
            <a:r>
              <a:rPr sz="1200" dirty="0">
                <a:solidFill>
                  <a:srgbClr val="24292E"/>
                </a:solidFill>
                <a:latin typeface="Microsoft YaHei"/>
                <a:cs typeface="Microsoft YaHei"/>
              </a:rPr>
              <a:t>函数，通过</a:t>
            </a:r>
            <a:r>
              <a:rPr sz="1200" dirty="0">
                <a:solidFill>
                  <a:srgbClr val="24292E"/>
                </a:solidFill>
                <a:latin typeface="Segoe UI"/>
                <a:cs typeface="Segoe UI"/>
              </a:rPr>
              <a:t>SQL</a:t>
            </a:r>
            <a:r>
              <a:rPr sz="1200" dirty="0">
                <a:solidFill>
                  <a:srgbClr val="24292E"/>
                </a:solidFill>
                <a:latin typeface="Microsoft YaHei"/>
                <a:cs typeface="Microsoft YaHei"/>
              </a:rPr>
              <a:t>语句，将生成的文档和真实</a:t>
            </a:r>
            <a:r>
              <a:rPr sz="1450" i="1" spc="-180" dirty="0">
                <a:solidFill>
                  <a:srgbClr val="24292E"/>
                </a:solidFill>
                <a:latin typeface="Palatino Linotype"/>
                <a:cs typeface="Palatino Linotype"/>
              </a:rPr>
              <a:t>θ</a:t>
            </a:r>
            <a:r>
              <a:rPr sz="1200" spc="-5" dirty="0">
                <a:solidFill>
                  <a:srgbClr val="24292E"/>
                </a:solidFill>
                <a:latin typeface="Microsoft YaHei"/>
                <a:cs typeface="Microsoft YaHei"/>
              </a:rPr>
              <a:t>向量批量导入数据库保存。在主控程序中调</a:t>
            </a:r>
            <a:r>
              <a:rPr sz="1200" spc="-10" dirty="0">
                <a:solidFill>
                  <a:srgbClr val="24292E"/>
                </a:solidFill>
                <a:latin typeface="Microsoft YaHei"/>
                <a:cs typeface="Microsoft YaHei"/>
              </a:rPr>
              <a:t>用该函数。</a:t>
            </a:r>
            <a:endParaRPr sz="1200">
              <a:latin typeface="Microsoft YaHei"/>
              <a:cs typeface="Microsoft YaHei"/>
            </a:endParaRPr>
          </a:p>
          <a:p>
            <a:pPr marL="12700">
              <a:lnSpc>
                <a:spcPct val="100000"/>
              </a:lnSpc>
              <a:spcBef>
                <a:spcPts val="2085"/>
              </a:spcBef>
            </a:pPr>
            <a:r>
              <a:rPr sz="1500" dirty="0">
                <a:solidFill>
                  <a:srgbClr val="24292E"/>
                </a:solidFill>
                <a:latin typeface="Segoe UI Semibold"/>
                <a:cs typeface="Segoe UI Semibold"/>
              </a:rPr>
              <a:t>4</a:t>
            </a:r>
            <a:r>
              <a:rPr sz="1500" b="1" spc="-10" dirty="0">
                <a:solidFill>
                  <a:srgbClr val="24292E"/>
                </a:solidFill>
                <a:latin typeface="Microsoft YaHei"/>
                <a:cs typeface="Microsoft YaHei"/>
              </a:rPr>
              <a:t>、模型训练与推断</a:t>
            </a:r>
            <a:endParaRPr sz="1500">
              <a:latin typeface="Microsoft YaHei"/>
              <a:cs typeface="Microsoft YaHei"/>
            </a:endParaRPr>
          </a:p>
          <a:p>
            <a:pPr marL="12700">
              <a:lnSpc>
                <a:spcPct val="100000"/>
              </a:lnSpc>
              <a:spcBef>
                <a:spcPts val="1355"/>
              </a:spcBef>
            </a:pPr>
            <a:r>
              <a:rPr sz="1200" spc="35" dirty="0">
                <a:solidFill>
                  <a:srgbClr val="24292E"/>
                </a:solidFill>
                <a:latin typeface="Microsoft YaHei"/>
                <a:cs typeface="Microsoft YaHei"/>
              </a:rPr>
              <a:t>在 </a:t>
            </a:r>
            <a:r>
              <a:rPr sz="1000" dirty="0">
                <a:solidFill>
                  <a:srgbClr val="24292E"/>
                </a:solidFill>
                <a:latin typeface="Consolas"/>
                <a:cs typeface="Consolas"/>
              </a:rPr>
              <a:t>db_manager.py</a:t>
            </a:r>
            <a:r>
              <a:rPr sz="1000" spc="-120" dirty="0">
                <a:solidFill>
                  <a:srgbClr val="24292E"/>
                </a:solidFill>
                <a:latin typeface="Consolas"/>
                <a:cs typeface="Consolas"/>
              </a:rPr>
              <a:t> </a:t>
            </a:r>
            <a:r>
              <a:rPr sz="1200" spc="15" dirty="0">
                <a:solidFill>
                  <a:srgbClr val="24292E"/>
                </a:solidFill>
                <a:latin typeface="Microsoft YaHei"/>
                <a:cs typeface="Microsoft YaHei"/>
              </a:rPr>
              <a:t>中，定义 </a:t>
            </a:r>
            <a:r>
              <a:rPr sz="1000" dirty="0">
                <a:solidFill>
                  <a:srgbClr val="24292E"/>
                </a:solidFill>
                <a:latin typeface="Consolas"/>
                <a:cs typeface="Consolas"/>
              </a:rPr>
              <a:t>fetch_documents_for_analysis</a:t>
            </a:r>
            <a:r>
              <a:rPr sz="1000" spc="-120" dirty="0">
                <a:solidFill>
                  <a:srgbClr val="24292E"/>
                </a:solidFill>
                <a:latin typeface="Consolas"/>
                <a:cs typeface="Consolas"/>
              </a:rPr>
              <a:t> </a:t>
            </a:r>
            <a:r>
              <a:rPr sz="1200" dirty="0">
                <a:solidFill>
                  <a:srgbClr val="24292E"/>
                </a:solidFill>
                <a:latin typeface="Microsoft YaHei"/>
                <a:cs typeface="Microsoft YaHei"/>
              </a:rPr>
              <a:t>函数，通过</a:t>
            </a:r>
            <a:r>
              <a:rPr sz="1200" dirty="0">
                <a:solidFill>
                  <a:srgbClr val="24292E"/>
                </a:solidFill>
                <a:latin typeface="Segoe UI"/>
                <a:cs typeface="Segoe UI"/>
              </a:rPr>
              <a:t>SQL</a:t>
            </a:r>
            <a:r>
              <a:rPr sz="1200" spc="-5" dirty="0">
                <a:solidFill>
                  <a:srgbClr val="24292E"/>
                </a:solidFill>
                <a:latin typeface="Microsoft YaHei"/>
                <a:cs typeface="Microsoft YaHei"/>
              </a:rPr>
              <a:t>语句从数据库中提取第三步的文档和向量作为比对。</a:t>
            </a:r>
            <a:endParaRPr sz="1200">
              <a:latin typeface="Microsoft YaHei"/>
              <a:cs typeface="Microsoft YaHe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19478" y="323604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a:endParaRPr/>
          </a:p>
        </p:txBody>
      </p:sp>
      <p:sp>
        <p:nvSpPr>
          <p:cNvPr id="3" name="object 3"/>
          <p:cNvSpPr/>
          <p:nvPr/>
        </p:nvSpPr>
        <p:spPr>
          <a:xfrm>
            <a:off x="1724365" y="730254"/>
            <a:ext cx="2439670" cy="210185"/>
          </a:xfrm>
          <a:custGeom>
            <a:avLst/>
            <a:gdLst/>
            <a:ahLst/>
            <a:cxnLst/>
            <a:rect l="l" t="t" r="r" b="b"/>
            <a:pathLst>
              <a:path w="2439670" h="210184">
                <a:moveTo>
                  <a:pt x="2414304" y="209608"/>
                </a:moveTo>
                <a:lnTo>
                  <a:pt x="24792" y="209608"/>
                </a:lnTo>
                <a:lnTo>
                  <a:pt x="21146" y="208882"/>
                </a:lnTo>
                <a:lnTo>
                  <a:pt x="0" y="184815"/>
                </a:lnTo>
                <a:lnTo>
                  <a:pt x="0" y="181026"/>
                </a:lnTo>
                <a:lnTo>
                  <a:pt x="0" y="24792"/>
                </a:lnTo>
                <a:lnTo>
                  <a:pt x="24792" y="0"/>
                </a:lnTo>
                <a:lnTo>
                  <a:pt x="2414304" y="0"/>
                </a:lnTo>
                <a:lnTo>
                  <a:pt x="2439097" y="24792"/>
                </a:lnTo>
                <a:lnTo>
                  <a:pt x="2439097" y="184815"/>
                </a:lnTo>
                <a:lnTo>
                  <a:pt x="2417950" y="208882"/>
                </a:lnTo>
                <a:lnTo>
                  <a:pt x="2414304" y="209608"/>
                </a:lnTo>
                <a:close/>
              </a:path>
            </a:pathLst>
          </a:custGeom>
          <a:solidFill>
            <a:srgbClr val="1B1F23">
              <a:alpha val="5099"/>
            </a:srgbClr>
          </a:solidFill>
        </p:spPr>
        <p:txBody>
          <a:bodyPr wrap="square" lIns="0" tIns="0" rIns="0" bIns="0" rtlCol="0"/>
          <a:lstStyle/>
          <a:p>
            <a:endParaRPr/>
          </a:p>
        </p:txBody>
      </p:sp>
      <p:sp>
        <p:nvSpPr>
          <p:cNvPr id="4" name="object 4"/>
          <p:cNvSpPr/>
          <p:nvPr/>
        </p:nvSpPr>
        <p:spPr>
          <a:xfrm>
            <a:off x="7669665" y="730254"/>
            <a:ext cx="1162685" cy="210185"/>
          </a:xfrm>
          <a:custGeom>
            <a:avLst/>
            <a:gdLst/>
            <a:ahLst/>
            <a:cxnLst/>
            <a:rect l="l" t="t" r="r" b="b"/>
            <a:pathLst>
              <a:path w="1162684" h="210184">
                <a:moveTo>
                  <a:pt x="1137588" y="209608"/>
                </a:moveTo>
                <a:lnTo>
                  <a:pt x="24792" y="209608"/>
                </a:lnTo>
                <a:lnTo>
                  <a:pt x="21146" y="208882"/>
                </a:lnTo>
                <a:lnTo>
                  <a:pt x="0" y="184815"/>
                </a:lnTo>
                <a:lnTo>
                  <a:pt x="0" y="181026"/>
                </a:lnTo>
                <a:lnTo>
                  <a:pt x="0" y="24792"/>
                </a:lnTo>
                <a:lnTo>
                  <a:pt x="24792" y="0"/>
                </a:lnTo>
                <a:lnTo>
                  <a:pt x="1137588" y="0"/>
                </a:lnTo>
                <a:lnTo>
                  <a:pt x="1162381" y="24792"/>
                </a:lnTo>
                <a:lnTo>
                  <a:pt x="1162381" y="184815"/>
                </a:lnTo>
                <a:lnTo>
                  <a:pt x="1141234" y="208882"/>
                </a:lnTo>
                <a:lnTo>
                  <a:pt x="1137588" y="209608"/>
                </a:lnTo>
                <a:close/>
              </a:path>
            </a:pathLst>
          </a:custGeom>
          <a:solidFill>
            <a:srgbClr val="1B1F23">
              <a:alpha val="5099"/>
            </a:srgbClr>
          </a:solidFill>
        </p:spPr>
        <p:txBody>
          <a:bodyPr wrap="square" lIns="0" tIns="0" rIns="0" bIns="0" rtlCol="0"/>
          <a:lstStyle/>
          <a:p>
            <a:endParaRPr/>
          </a:p>
        </p:txBody>
      </p:sp>
      <p:sp>
        <p:nvSpPr>
          <p:cNvPr id="5" name="object 5"/>
          <p:cNvSpPr/>
          <p:nvPr/>
        </p:nvSpPr>
        <p:spPr>
          <a:xfrm>
            <a:off x="1724365" y="1359084"/>
            <a:ext cx="2439670" cy="200660"/>
          </a:xfrm>
          <a:custGeom>
            <a:avLst/>
            <a:gdLst/>
            <a:ahLst/>
            <a:cxnLst/>
            <a:rect l="l" t="t" r="r" b="b"/>
            <a:pathLst>
              <a:path w="2439670" h="200659">
                <a:moveTo>
                  <a:pt x="2414304" y="200080"/>
                </a:moveTo>
                <a:lnTo>
                  <a:pt x="24792" y="200080"/>
                </a:lnTo>
                <a:lnTo>
                  <a:pt x="21146" y="199354"/>
                </a:lnTo>
                <a:lnTo>
                  <a:pt x="0" y="175288"/>
                </a:lnTo>
                <a:lnTo>
                  <a:pt x="0" y="171499"/>
                </a:lnTo>
                <a:lnTo>
                  <a:pt x="0" y="24789"/>
                </a:lnTo>
                <a:lnTo>
                  <a:pt x="24792" y="0"/>
                </a:lnTo>
                <a:lnTo>
                  <a:pt x="2414304" y="0"/>
                </a:lnTo>
                <a:lnTo>
                  <a:pt x="2439097" y="24789"/>
                </a:lnTo>
                <a:lnTo>
                  <a:pt x="2439097" y="175288"/>
                </a:lnTo>
                <a:lnTo>
                  <a:pt x="2417950" y="199354"/>
                </a:lnTo>
                <a:lnTo>
                  <a:pt x="2414304" y="200080"/>
                </a:lnTo>
                <a:close/>
              </a:path>
            </a:pathLst>
          </a:custGeom>
          <a:solidFill>
            <a:srgbClr val="1B1F23">
              <a:alpha val="5099"/>
            </a:srgbClr>
          </a:solidFill>
        </p:spPr>
        <p:txBody>
          <a:bodyPr wrap="square" lIns="0" tIns="0" rIns="0" bIns="0" rtlCol="0"/>
          <a:lstStyle/>
          <a:p>
            <a:endParaRPr/>
          </a:p>
        </p:txBody>
      </p:sp>
      <p:sp>
        <p:nvSpPr>
          <p:cNvPr id="6" name="object 6"/>
          <p:cNvSpPr/>
          <p:nvPr/>
        </p:nvSpPr>
        <p:spPr>
          <a:xfrm>
            <a:off x="4944735" y="1359084"/>
            <a:ext cx="953135" cy="200660"/>
          </a:xfrm>
          <a:custGeom>
            <a:avLst/>
            <a:gdLst/>
            <a:ahLst/>
            <a:cxnLst/>
            <a:rect l="l" t="t" r="r" b="b"/>
            <a:pathLst>
              <a:path w="953135" h="200659">
                <a:moveTo>
                  <a:pt x="927979" y="200080"/>
                </a:moveTo>
                <a:lnTo>
                  <a:pt x="24792" y="200080"/>
                </a:lnTo>
                <a:lnTo>
                  <a:pt x="21146" y="199354"/>
                </a:lnTo>
                <a:lnTo>
                  <a:pt x="0" y="175288"/>
                </a:lnTo>
                <a:lnTo>
                  <a:pt x="0" y="171499"/>
                </a:lnTo>
                <a:lnTo>
                  <a:pt x="0" y="24789"/>
                </a:lnTo>
                <a:lnTo>
                  <a:pt x="24792" y="0"/>
                </a:lnTo>
                <a:lnTo>
                  <a:pt x="927979" y="0"/>
                </a:lnTo>
                <a:lnTo>
                  <a:pt x="952772" y="24789"/>
                </a:lnTo>
                <a:lnTo>
                  <a:pt x="952772" y="175288"/>
                </a:lnTo>
                <a:lnTo>
                  <a:pt x="931624" y="199354"/>
                </a:lnTo>
                <a:lnTo>
                  <a:pt x="927979" y="200080"/>
                </a:lnTo>
                <a:close/>
              </a:path>
            </a:pathLst>
          </a:custGeom>
          <a:solidFill>
            <a:srgbClr val="1B1F23">
              <a:alpha val="5099"/>
            </a:srgbClr>
          </a:solidFill>
        </p:spPr>
        <p:txBody>
          <a:bodyPr wrap="square" lIns="0" tIns="0" rIns="0" bIns="0" rtlCol="0"/>
          <a:lstStyle/>
          <a:p>
            <a:endParaRPr/>
          </a:p>
        </p:txBody>
      </p:sp>
      <p:sp>
        <p:nvSpPr>
          <p:cNvPr id="7" name="object 7"/>
          <p:cNvSpPr txBox="1"/>
          <p:nvPr/>
        </p:nvSpPr>
        <p:spPr>
          <a:xfrm>
            <a:off x="1363914" y="706216"/>
            <a:ext cx="9352280" cy="1922145"/>
          </a:xfrm>
          <a:prstGeom prst="rect">
            <a:avLst/>
          </a:prstGeom>
        </p:spPr>
        <p:txBody>
          <a:bodyPr vert="horz" wrap="square" lIns="0" tIns="9525" rIns="0" bIns="0" rtlCol="0">
            <a:spAutoFit/>
          </a:bodyPr>
          <a:lstStyle/>
          <a:p>
            <a:pPr marL="50800" marR="43180">
              <a:lnSpc>
                <a:spcPct val="107700"/>
              </a:lnSpc>
              <a:spcBef>
                <a:spcPts val="75"/>
              </a:spcBef>
            </a:pPr>
            <a:r>
              <a:rPr sz="1200" dirty="0">
                <a:solidFill>
                  <a:srgbClr val="24292E"/>
                </a:solidFill>
                <a:latin typeface="Microsoft YaHei"/>
                <a:cs typeface="Microsoft YaHei"/>
              </a:rPr>
              <a:t>调用 </a:t>
            </a:r>
            <a:r>
              <a:rPr sz="1000" dirty="0">
                <a:solidFill>
                  <a:srgbClr val="24292E"/>
                </a:solidFill>
                <a:latin typeface="Consolas"/>
                <a:cs typeface="Consolas"/>
              </a:rPr>
              <a:t>sklearn.LatentDirichletAllocation</a:t>
            </a:r>
            <a:r>
              <a:rPr sz="1000" spc="-110" dirty="0">
                <a:solidFill>
                  <a:srgbClr val="24292E"/>
                </a:solidFill>
                <a:latin typeface="Consolas"/>
                <a:cs typeface="Consolas"/>
              </a:rPr>
              <a:t> </a:t>
            </a:r>
            <a:r>
              <a:rPr sz="1200" dirty="0">
                <a:solidFill>
                  <a:srgbClr val="24292E"/>
                </a:solidFill>
                <a:latin typeface="Microsoft YaHei"/>
                <a:cs typeface="Microsoft YaHei"/>
              </a:rPr>
              <a:t>函数对文本进行训练和推断。为使训练更容易，采用 </a:t>
            </a:r>
            <a:r>
              <a:rPr sz="1000" dirty="0">
                <a:solidFill>
                  <a:srgbClr val="24292E"/>
                </a:solidFill>
                <a:latin typeface="Consolas"/>
                <a:cs typeface="Consolas"/>
              </a:rPr>
              <a:t>CountVectorizer</a:t>
            </a:r>
            <a:r>
              <a:rPr sz="1000" spc="-110" dirty="0">
                <a:solidFill>
                  <a:srgbClr val="24292E"/>
                </a:solidFill>
                <a:latin typeface="Consolas"/>
                <a:cs typeface="Consolas"/>
              </a:rPr>
              <a:t> </a:t>
            </a:r>
            <a:r>
              <a:rPr sz="1200" spc="-5" dirty="0">
                <a:solidFill>
                  <a:srgbClr val="24292E"/>
                </a:solidFill>
                <a:latin typeface="Microsoft YaHei"/>
                <a:cs typeface="Microsoft YaHei"/>
              </a:rPr>
              <a:t>函数将文本转化为矩阵。从</a:t>
            </a:r>
            <a:r>
              <a:rPr sz="1200" dirty="0">
                <a:solidFill>
                  <a:srgbClr val="24292E"/>
                </a:solidFill>
                <a:latin typeface="Microsoft YaHei"/>
                <a:cs typeface="Microsoft YaHei"/>
              </a:rPr>
              <a:t>而得到</a:t>
            </a:r>
            <a:r>
              <a:rPr sz="1450" i="1" spc="-10" dirty="0">
                <a:solidFill>
                  <a:srgbClr val="24292E"/>
                </a:solidFill>
                <a:latin typeface="Palatino Linotype"/>
                <a:cs typeface="Palatino Linotype"/>
              </a:rPr>
              <a:t>θ</a:t>
            </a:r>
            <a:r>
              <a:rPr sz="1500" i="1" spc="-15" baseline="-13888" dirty="0">
                <a:solidFill>
                  <a:srgbClr val="24292E"/>
                </a:solidFill>
                <a:latin typeface="Palatino Linotype"/>
                <a:cs typeface="Palatino Linotype"/>
              </a:rPr>
              <a:t>pred</a:t>
            </a:r>
            <a:r>
              <a:rPr sz="1500" i="1" spc="-217" baseline="-13888" dirty="0">
                <a:solidFill>
                  <a:srgbClr val="24292E"/>
                </a:solidFill>
                <a:latin typeface="Palatino Linotype"/>
                <a:cs typeface="Palatino Linotype"/>
              </a:rPr>
              <a:t> </a:t>
            </a:r>
            <a:r>
              <a:rPr sz="1200" spc="-20" dirty="0">
                <a:solidFill>
                  <a:srgbClr val="24292E"/>
                </a:solidFill>
                <a:latin typeface="Microsoft YaHei"/>
                <a:cs typeface="Microsoft YaHei"/>
              </a:rPr>
              <a:t>向量。</a:t>
            </a:r>
            <a:endParaRPr sz="1200">
              <a:latin typeface="Microsoft YaHei"/>
              <a:cs typeface="Microsoft YaHei"/>
            </a:endParaRPr>
          </a:p>
          <a:p>
            <a:pPr marL="50800" marR="88900">
              <a:lnSpc>
                <a:spcPct val="125000"/>
              </a:lnSpc>
              <a:spcBef>
                <a:spcPts val="1230"/>
              </a:spcBef>
            </a:pPr>
            <a:r>
              <a:rPr sz="1200" dirty="0">
                <a:solidFill>
                  <a:srgbClr val="24292E"/>
                </a:solidFill>
                <a:latin typeface="Microsoft YaHei"/>
                <a:cs typeface="Microsoft YaHei"/>
              </a:rPr>
              <a:t>注： </a:t>
            </a:r>
            <a:r>
              <a:rPr sz="1000" dirty="0">
                <a:solidFill>
                  <a:srgbClr val="24292E"/>
                </a:solidFill>
                <a:latin typeface="Consolas"/>
                <a:cs typeface="Consolas"/>
              </a:rPr>
              <a:t>sklearn.LatentDirichletAllocation</a:t>
            </a:r>
            <a:r>
              <a:rPr sz="1000" spc="-114" dirty="0">
                <a:solidFill>
                  <a:srgbClr val="24292E"/>
                </a:solidFill>
                <a:latin typeface="Consolas"/>
                <a:cs typeface="Consolas"/>
              </a:rPr>
              <a:t> </a:t>
            </a:r>
            <a:r>
              <a:rPr sz="1200" dirty="0">
                <a:solidFill>
                  <a:srgbClr val="24292E"/>
                </a:solidFill>
                <a:latin typeface="Microsoft YaHei"/>
                <a:cs typeface="Microsoft YaHei"/>
              </a:rPr>
              <a:t>是</a:t>
            </a:r>
            <a:r>
              <a:rPr sz="1200" dirty="0">
                <a:solidFill>
                  <a:srgbClr val="24292E"/>
                </a:solidFill>
                <a:latin typeface="Segoe UI"/>
                <a:cs typeface="Segoe UI"/>
              </a:rPr>
              <a:t>Python</a:t>
            </a:r>
            <a:r>
              <a:rPr sz="1200" dirty="0">
                <a:solidFill>
                  <a:srgbClr val="24292E"/>
                </a:solidFill>
                <a:latin typeface="Microsoft YaHei"/>
                <a:cs typeface="Microsoft YaHei"/>
              </a:rPr>
              <a:t>中 </a:t>
            </a:r>
            <a:r>
              <a:rPr sz="1000" dirty="0">
                <a:solidFill>
                  <a:srgbClr val="24292E"/>
                </a:solidFill>
                <a:latin typeface="Consolas"/>
                <a:cs typeface="Consolas"/>
              </a:rPr>
              <a:t>scikit-learn</a:t>
            </a:r>
            <a:r>
              <a:rPr sz="1000" spc="-120" dirty="0">
                <a:solidFill>
                  <a:srgbClr val="24292E"/>
                </a:solidFill>
                <a:latin typeface="Consolas"/>
                <a:cs typeface="Consolas"/>
              </a:rPr>
              <a:t> </a:t>
            </a:r>
            <a:r>
              <a:rPr sz="1200" spc="-5" dirty="0">
                <a:solidFill>
                  <a:srgbClr val="24292E"/>
                </a:solidFill>
                <a:latin typeface="Microsoft YaHei"/>
                <a:cs typeface="Microsoft YaHei"/>
              </a:rPr>
              <a:t>库提供的一个类，用于实现潜在狄利克雷分配模型，即本项目中要量化</a:t>
            </a:r>
            <a:r>
              <a:rPr sz="1200" spc="-10" dirty="0">
                <a:solidFill>
                  <a:srgbClr val="24292E"/>
                </a:solidFill>
                <a:latin typeface="Microsoft YaHei"/>
                <a:cs typeface="Microsoft YaHei"/>
              </a:rPr>
              <a:t>性能的模型。</a:t>
            </a:r>
            <a:endParaRPr sz="1200">
              <a:latin typeface="Microsoft YaHei"/>
              <a:cs typeface="Microsoft YaHei"/>
            </a:endParaRPr>
          </a:p>
          <a:p>
            <a:pPr marL="50800">
              <a:lnSpc>
                <a:spcPct val="100000"/>
              </a:lnSpc>
              <a:spcBef>
                <a:spcPts val="2085"/>
              </a:spcBef>
            </a:pPr>
            <a:r>
              <a:rPr sz="1500" spc="-10" dirty="0">
                <a:solidFill>
                  <a:srgbClr val="24292E"/>
                </a:solidFill>
                <a:latin typeface="Segoe UI Semibold"/>
                <a:cs typeface="Segoe UI Semibold"/>
              </a:rPr>
              <a:t>5</a:t>
            </a:r>
            <a:r>
              <a:rPr sz="1500" b="1" spc="-10" dirty="0">
                <a:solidFill>
                  <a:srgbClr val="24292E"/>
                </a:solidFill>
                <a:latin typeface="Microsoft YaHei"/>
                <a:cs typeface="Microsoft YaHei"/>
              </a:rPr>
              <a:t>、量化检验</a:t>
            </a:r>
            <a:endParaRPr sz="1500">
              <a:latin typeface="Microsoft YaHei"/>
              <a:cs typeface="Microsoft YaHei"/>
            </a:endParaRPr>
          </a:p>
          <a:p>
            <a:pPr marL="50800">
              <a:lnSpc>
                <a:spcPct val="100000"/>
              </a:lnSpc>
              <a:spcBef>
                <a:spcPts val="1100"/>
              </a:spcBef>
            </a:pPr>
            <a:r>
              <a:rPr sz="1200" dirty="0">
                <a:solidFill>
                  <a:srgbClr val="24292E"/>
                </a:solidFill>
                <a:latin typeface="Microsoft YaHei"/>
                <a:cs typeface="Microsoft YaHei"/>
              </a:rPr>
              <a:t>在主控函数中主义对比</a:t>
            </a:r>
            <a:r>
              <a:rPr sz="1450" i="1" spc="-10" dirty="0">
                <a:solidFill>
                  <a:srgbClr val="24292E"/>
                </a:solidFill>
                <a:latin typeface="Palatino Linotype"/>
                <a:cs typeface="Palatino Linotype"/>
              </a:rPr>
              <a:t>θ</a:t>
            </a:r>
            <a:r>
              <a:rPr sz="1500" i="1" spc="-15" baseline="-13888" dirty="0">
                <a:solidFill>
                  <a:srgbClr val="24292E"/>
                </a:solidFill>
                <a:latin typeface="Palatino Linotype"/>
                <a:cs typeface="Palatino Linotype"/>
              </a:rPr>
              <a:t>pred</a:t>
            </a:r>
            <a:r>
              <a:rPr sz="1500" i="1" spc="-172" baseline="-13888" dirty="0">
                <a:solidFill>
                  <a:srgbClr val="24292E"/>
                </a:solidFill>
                <a:latin typeface="Palatino Linotype"/>
                <a:cs typeface="Palatino Linotype"/>
              </a:rPr>
              <a:t> </a:t>
            </a:r>
            <a:r>
              <a:rPr sz="1200" dirty="0">
                <a:solidFill>
                  <a:srgbClr val="24292E"/>
                </a:solidFill>
                <a:latin typeface="Microsoft YaHei"/>
                <a:cs typeface="Microsoft YaHei"/>
              </a:rPr>
              <a:t>和真实</a:t>
            </a:r>
            <a:r>
              <a:rPr sz="1450" i="1" spc="-180" dirty="0">
                <a:solidFill>
                  <a:srgbClr val="24292E"/>
                </a:solidFill>
                <a:latin typeface="Palatino Linotype"/>
                <a:cs typeface="Palatino Linotype"/>
              </a:rPr>
              <a:t>θ</a:t>
            </a:r>
            <a:r>
              <a:rPr sz="1200" dirty="0">
                <a:solidFill>
                  <a:srgbClr val="24292E"/>
                </a:solidFill>
                <a:latin typeface="Microsoft YaHei"/>
                <a:cs typeface="Microsoft YaHei"/>
              </a:rPr>
              <a:t>向量，计算余弦相似度。将结果储存在数据库中。最终结果为</a:t>
            </a:r>
            <a:r>
              <a:rPr sz="1200" spc="-10" dirty="0">
                <a:solidFill>
                  <a:srgbClr val="24292E"/>
                </a:solidFill>
                <a:latin typeface="Segoe UI"/>
                <a:cs typeface="Segoe UI"/>
              </a:rPr>
              <a:t>0.7088</a:t>
            </a:r>
            <a:r>
              <a:rPr sz="1200" spc="-50" dirty="0">
                <a:solidFill>
                  <a:srgbClr val="24292E"/>
                </a:solidFill>
                <a:latin typeface="Microsoft YaHei"/>
                <a:cs typeface="Microsoft YaHei"/>
              </a:rPr>
              <a:t>。</a:t>
            </a:r>
            <a:endParaRPr sz="1200">
              <a:latin typeface="Microsoft YaHei"/>
              <a:cs typeface="Microsoft YaHei"/>
            </a:endParaRPr>
          </a:p>
        </p:txBody>
      </p:sp>
      <p:sp>
        <p:nvSpPr>
          <p:cNvPr id="8" name="object 8"/>
          <p:cNvSpPr txBox="1"/>
          <p:nvPr/>
        </p:nvSpPr>
        <p:spPr>
          <a:xfrm>
            <a:off x="1402014" y="2870821"/>
            <a:ext cx="2083435" cy="300355"/>
          </a:xfrm>
          <a:prstGeom prst="rect">
            <a:avLst/>
          </a:prstGeom>
        </p:spPr>
        <p:txBody>
          <a:bodyPr vert="horz" wrap="square" lIns="0" tIns="12700" rIns="0" bIns="0" rtlCol="0">
            <a:spAutoFit/>
          </a:bodyPr>
          <a:lstStyle/>
          <a:p>
            <a:pPr marL="12700">
              <a:lnSpc>
                <a:spcPct val="100000"/>
              </a:lnSpc>
              <a:spcBef>
                <a:spcPts val="100"/>
              </a:spcBef>
            </a:pPr>
            <a:r>
              <a:rPr sz="1800" b="1" spc="-10" dirty="0">
                <a:solidFill>
                  <a:srgbClr val="24292E"/>
                </a:solidFill>
                <a:latin typeface="Microsoft YaHei"/>
                <a:cs typeface="Microsoft YaHei"/>
              </a:rPr>
              <a:t>五、本项目实际意义</a:t>
            </a:r>
            <a:endParaRPr sz="1800">
              <a:latin typeface="Microsoft YaHei"/>
              <a:cs typeface="Microsoft YaHei"/>
            </a:endParaRPr>
          </a:p>
        </p:txBody>
      </p:sp>
      <p:sp>
        <p:nvSpPr>
          <p:cNvPr id="9" name="object 9"/>
          <p:cNvSpPr/>
          <p:nvPr/>
        </p:nvSpPr>
        <p:spPr>
          <a:xfrm>
            <a:off x="1552866" y="3493294"/>
            <a:ext cx="57785" cy="57785"/>
          </a:xfrm>
          <a:custGeom>
            <a:avLst/>
            <a:gdLst/>
            <a:ahLst/>
            <a:cxnLst/>
            <a:rect l="l" t="t" r="r" b="b"/>
            <a:pathLst>
              <a:path w="57784" h="57785">
                <a:moveTo>
                  <a:pt x="32373" y="57164"/>
                </a:moveTo>
                <a:lnTo>
                  <a:pt x="24792" y="57164"/>
                </a:lnTo>
                <a:lnTo>
                  <a:pt x="21146" y="56438"/>
                </a:lnTo>
                <a:lnTo>
                  <a:pt x="0" y="32372"/>
                </a:lnTo>
                <a:lnTo>
                  <a:pt x="0" y="24789"/>
                </a:lnTo>
                <a:lnTo>
                  <a:pt x="24792" y="0"/>
                </a:lnTo>
                <a:lnTo>
                  <a:pt x="32373" y="0"/>
                </a:lnTo>
                <a:lnTo>
                  <a:pt x="57166" y="28583"/>
                </a:lnTo>
                <a:lnTo>
                  <a:pt x="57166" y="32372"/>
                </a:lnTo>
                <a:lnTo>
                  <a:pt x="32373" y="57164"/>
                </a:lnTo>
                <a:close/>
              </a:path>
            </a:pathLst>
          </a:custGeom>
          <a:solidFill>
            <a:srgbClr val="24292E"/>
          </a:solidFill>
        </p:spPr>
        <p:txBody>
          <a:bodyPr wrap="square" lIns="0" tIns="0" rIns="0" bIns="0" rtlCol="0"/>
          <a:lstStyle/>
          <a:p>
            <a:endParaRPr/>
          </a:p>
        </p:txBody>
      </p:sp>
      <p:sp>
        <p:nvSpPr>
          <p:cNvPr id="10" name="object 10"/>
          <p:cNvSpPr/>
          <p:nvPr/>
        </p:nvSpPr>
        <p:spPr>
          <a:xfrm>
            <a:off x="1552866" y="3874403"/>
            <a:ext cx="57785" cy="57785"/>
          </a:xfrm>
          <a:custGeom>
            <a:avLst/>
            <a:gdLst/>
            <a:ahLst/>
            <a:cxnLst/>
            <a:rect l="l" t="t" r="r" b="b"/>
            <a:pathLst>
              <a:path w="57784" h="57785">
                <a:moveTo>
                  <a:pt x="32373" y="57164"/>
                </a:moveTo>
                <a:lnTo>
                  <a:pt x="24792" y="57164"/>
                </a:lnTo>
                <a:lnTo>
                  <a:pt x="21146" y="56438"/>
                </a:lnTo>
                <a:lnTo>
                  <a:pt x="0" y="32372"/>
                </a:lnTo>
                <a:lnTo>
                  <a:pt x="0" y="24789"/>
                </a:lnTo>
                <a:lnTo>
                  <a:pt x="24792" y="0"/>
                </a:lnTo>
                <a:lnTo>
                  <a:pt x="32373" y="0"/>
                </a:lnTo>
                <a:lnTo>
                  <a:pt x="57166" y="28583"/>
                </a:lnTo>
                <a:lnTo>
                  <a:pt x="57166" y="32372"/>
                </a:lnTo>
                <a:lnTo>
                  <a:pt x="32373" y="57164"/>
                </a:lnTo>
                <a:close/>
              </a:path>
            </a:pathLst>
          </a:custGeom>
          <a:solidFill>
            <a:srgbClr val="24292E"/>
          </a:solidFill>
        </p:spPr>
        <p:txBody>
          <a:bodyPr wrap="square" lIns="0" tIns="0" rIns="0" bIns="0" rtlCol="0"/>
          <a:lstStyle/>
          <a:p>
            <a:endParaRPr/>
          </a:p>
        </p:txBody>
      </p:sp>
      <p:sp>
        <p:nvSpPr>
          <p:cNvPr id="11" name="object 11"/>
          <p:cNvSpPr txBox="1"/>
          <p:nvPr/>
        </p:nvSpPr>
        <p:spPr>
          <a:xfrm>
            <a:off x="1402014" y="3404373"/>
            <a:ext cx="9316720" cy="1209040"/>
          </a:xfrm>
          <a:prstGeom prst="rect">
            <a:avLst/>
          </a:prstGeom>
        </p:spPr>
        <p:txBody>
          <a:bodyPr vert="horz" wrap="square" lIns="0" tIns="12700" rIns="0" bIns="0" rtlCol="0">
            <a:spAutoFit/>
          </a:bodyPr>
          <a:lstStyle/>
          <a:p>
            <a:pPr marL="317500">
              <a:lnSpc>
                <a:spcPct val="100000"/>
              </a:lnSpc>
              <a:spcBef>
                <a:spcPts val="100"/>
              </a:spcBef>
            </a:pPr>
            <a:r>
              <a:rPr sz="1200" spc="-25" dirty="0">
                <a:solidFill>
                  <a:srgbClr val="24292E"/>
                </a:solidFill>
                <a:latin typeface="Microsoft YaHei"/>
                <a:cs typeface="Microsoft YaHei"/>
              </a:rPr>
              <a:t>为 </a:t>
            </a:r>
            <a:r>
              <a:rPr sz="1200" dirty="0">
                <a:solidFill>
                  <a:srgbClr val="24292E"/>
                </a:solidFill>
                <a:latin typeface="Segoe UI"/>
                <a:cs typeface="Segoe UI"/>
              </a:rPr>
              <a:t>LDA</a:t>
            </a:r>
            <a:r>
              <a:rPr sz="1200" spc="-20" dirty="0">
                <a:solidFill>
                  <a:srgbClr val="24292E"/>
                </a:solidFill>
                <a:latin typeface="Segoe UI"/>
                <a:cs typeface="Segoe UI"/>
              </a:rPr>
              <a:t> </a:t>
            </a:r>
            <a:r>
              <a:rPr sz="1200" dirty="0">
                <a:solidFill>
                  <a:srgbClr val="24292E"/>
                </a:solidFill>
                <a:latin typeface="Microsoft YaHei"/>
                <a:cs typeface="Microsoft YaHei"/>
              </a:rPr>
              <a:t>模型的应用提供统计可靠性背书（主要</a:t>
            </a:r>
            <a:r>
              <a:rPr sz="1200" spc="-50" dirty="0">
                <a:solidFill>
                  <a:srgbClr val="24292E"/>
                </a:solidFill>
                <a:latin typeface="Microsoft YaHei"/>
                <a:cs typeface="Microsoft YaHei"/>
              </a:rPr>
              <a:t>）</a:t>
            </a:r>
            <a:endParaRPr sz="1200">
              <a:latin typeface="Microsoft YaHei"/>
              <a:cs typeface="Microsoft YaHei"/>
            </a:endParaRPr>
          </a:p>
          <a:p>
            <a:pPr marL="317500">
              <a:lnSpc>
                <a:spcPct val="100000"/>
              </a:lnSpc>
              <a:spcBef>
                <a:spcPts val="1310"/>
              </a:spcBef>
            </a:pPr>
            <a:r>
              <a:rPr sz="1200" dirty="0">
                <a:solidFill>
                  <a:srgbClr val="24292E"/>
                </a:solidFill>
                <a:latin typeface="Microsoft YaHei"/>
                <a:cs typeface="Microsoft YaHei"/>
              </a:rPr>
              <a:t>在推荐系统、文本聚类和情感分析等任务中，</a:t>
            </a:r>
            <a:r>
              <a:rPr sz="1450" b="1" i="1" dirty="0">
                <a:solidFill>
                  <a:srgbClr val="24292E"/>
                </a:solidFill>
                <a:latin typeface="Arial"/>
                <a:cs typeface="Arial"/>
              </a:rPr>
              <a:t>θ</a:t>
            </a:r>
            <a:r>
              <a:rPr sz="1450" b="1" i="1" spc="-30" dirty="0">
                <a:solidFill>
                  <a:srgbClr val="24292E"/>
                </a:solidFill>
                <a:latin typeface="Arial"/>
                <a:cs typeface="Arial"/>
              </a:rPr>
              <a:t> </a:t>
            </a:r>
            <a:r>
              <a:rPr sz="1200" dirty="0">
                <a:solidFill>
                  <a:srgbClr val="24292E"/>
                </a:solidFill>
                <a:latin typeface="Microsoft YaHei"/>
                <a:cs typeface="Microsoft YaHei"/>
              </a:rPr>
              <a:t>向量经常被用作文档的精简特征表示。只有经过高相似度验证（即模型推断准确）</a:t>
            </a:r>
            <a:r>
              <a:rPr sz="1200" spc="-15" dirty="0">
                <a:solidFill>
                  <a:srgbClr val="24292E"/>
                </a:solidFill>
                <a:latin typeface="Microsoft YaHei"/>
                <a:cs typeface="Microsoft YaHei"/>
              </a:rPr>
              <a:t>的 </a:t>
            </a:r>
            <a:r>
              <a:rPr sz="1450" b="1" i="1" spc="-50" dirty="0">
                <a:solidFill>
                  <a:srgbClr val="24292E"/>
                </a:solidFill>
                <a:latin typeface="Arial"/>
                <a:cs typeface="Arial"/>
              </a:rPr>
              <a:t>θ</a:t>
            </a:r>
            <a:endParaRPr sz="1450">
              <a:latin typeface="Arial"/>
              <a:cs typeface="Arial"/>
            </a:endParaRPr>
          </a:p>
          <a:p>
            <a:pPr marL="317500">
              <a:lnSpc>
                <a:spcPct val="100000"/>
              </a:lnSpc>
              <a:spcBef>
                <a:spcPts val="385"/>
              </a:spcBef>
            </a:pPr>
            <a:r>
              <a:rPr sz="1200" dirty="0">
                <a:solidFill>
                  <a:srgbClr val="24292E"/>
                </a:solidFill>
                <a:latin typeface="Microsoft YaHei"/>
                <a:cs typeface="Microsoft YaHei"/>
              </a:rPr>
              <a:t>向量，才能确保后续算法建立在高质量的数据基础之上，避免</a:t>
            </a:r>
            <a:r>
              <a:rPr sz="1200" dirty="0">
                <a:solidFill>
                  <a:srgbClr val="24292E"/>
                </a:solidFill>
                <a:latin typeface="Segoe UI"/>
                <a:cs typeface="Segoe UI"/>
              </a:rPr>
              <a:t>“</a:t>
            </a:r>
            <a:r>
              <a:rPr sz="1200" dirty="0">
                <a:solidFill>
                  <a:srgbClr val="24292E"/>
                </a:solidFill>
                <a:latin typeface="Microsoft YaHei"/>
                <a:cs typeface="Microsoft YaHei"/>
              </a:rPr>
              <a:t>垃圾输入，垃圾输出</a:t>
            </a:r>
            <a:r>
              <a:rPr sz="1200" dirty="0">
                <a:solidFill>
                  <a:srgbClr val="24292E"/>
                </a:solidFill>
                <a:latin typeface="Segoe UI"/>
                <a:cs typeface="Segoe UI"/>
              </a:rPr>
              <a:t>”</a:t>
            </a:r>
            <a:r>
              <a:rPr sz="1200" spc="-15" dirty="0">
                <a:solidFill>
                  <a:srgbClr val="24292E"/>
                </a:solidFill>
                <a:latin typeface="Microsoft YaHei"/>
                <a:cs typeface="Microsoft YaHei"/>
              </a:rPr>
              <a:t>的问题。</a:t>
            </a:r>
            <a:endParaRPr sz="1200">
              <a:latin typeface="Microsoft YaHei"/>
              <a:cs typeface="Microsoft YaHei"/>
            </a:endParaRPr>
          </a:p>
          <a:p>
            <a:pPr marL="12700">
              <a:lnSpc>
                <a:spcPct val="100000"/>
              </a:lnSpc>
              <a:spcBef>
                <a:spcPts val="1560"/>
              </a:spcBef>
            </a:pPr>
            <a:r>
              <a:rPr sz="1200" dirty="0">
                <a:solidFill>
                  <a:srgbClr val="24292E"/>
                </a:solidFill>
                <a:latin typeface="Microsoft YaHei"/>
                <a:cs typeface="Microsoft YaHei"/>
              </a:rPr>
              <a:t>注：本项目在函数的命名和输出的格式化上使用了</a:t>
            </a:r>
            <a:r>
              <a:rPr sz="1200" dirty="0">
                <a:solidFill>
                  <a:srgbClr val="24292E"/>
                </a:solidFill>
                <a:latin typeface="Segoe UI"/>
                <a:cs typeface="Segoe UI"/>
              </a:rPr>
              <a:t>AI</a:t>
            </a:r>
            <a:r>
              <a:rPr sz="1200" dirty="0">
                <a:solidFill>
                  <a:srgbClr val="24292E"/>
                </a:solidFill>
                <a:latin typeface="Microsoft YaHei"/>
                <a:cs typeface="Microsoft YaHei"/>
              </a:rPr>
              <a:t>：</a:t>
            </a:r>
            <a:r>
              <a:rPr sz="1200" dirty="0">
                <a:solidFill>
                  <a:srgbClr val="24292E"/>
                </a:solidFill>
                <a:latin typeface="Segoe UI"/>
                <a:cs typeface="Segoe UI"/>
              </a:rPr>
              <a:t>Gemini</a:t>
            </a:r>
            <a:r>
              <a:rPr sz="1200" spc="-15" dirty="0">
                <a:solidFill>
                  <a:srgbClr val="24292E"/>
                </a:solidFill>
                <a:latin typeface="Segoe UI"/>
                <a:cs typeface="Segoe UI"/>
              </a:rPr>
              <a:t> </a:t>
            </a:r>
            <a:r>
              <a:rPr sz="1200" dirty="0">
                <a:solidFill>
                  <a:srgbClr val="24292E"/>
                </a:solidFill>
                <a:latin typeface="Segoe UI"/>
                <a:cs typeface="Segoe UI"/>
              </a:rPr>
              <a:t>2.5</a:t>
            </a:r>
            <a:r>
              <a:rPr sz="1200" spc="-15" dirty="0">
                <a:solidFill>
                  <a:srgbClr val="24292E"/>
                </a:solidFill>
                <a:latin typeface="Segoe UI"/>
                <a:cs typeface="Segoe UI"/>
              </a:rPr>
              <a:t> </a:t>
            </a:r>
            <a:r>
              <a:rPr sz="1200" spc="-10" dirty="0">
                <a:solidFill>
                  <a:srgbClr val="24292E"/>
                </a:solidFill>
                <a:latin typeface="Segoe UI"/>
                <a:cs typeface="Segoe UI"/>
              </a:rPr>
              <a:t>Flash</a:t>
            </a:r>
            <a:endParaRPr sz="1200">
              <a:latin typeface="Segoe UI"/>
              <a:cs typeface="Segoe U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9ECC9E-948F-4A17-8BF9-171C60DA1B9C}"/>
              </a:ext>
            </a:extLst>
          </p:cNvPr>
          <p:cNvSpPr>
            <a:spLocks noGrp="1"/>
          </p:cNvSpPr>
          <p:nvPr>
            <p:ph type="ctrTitle"/>
          </p:nvPr>
        </p:nvSpPr>
        <p:spPr>
          <a:xfrm>
            <a:off x="912971" y="2120073"/>
            <a:ext cx="10347008" cy="615553"/>
          </a:xfrm>
        </p:spPr>
        <p:txBody>
          <a:bodyPr/>
          <a:lstStyle/>
          <a:p>
            <a:pPr algn="ctr"/>
            <a:r>
              <a:rPr lang="zh-CN" altLang="en-US" sz="4000"/>
              <a:t>谢谢</a:t>
            </a:r>
          </a:p>
        </p:txBody>
      </p:sp>
      <p:sp>
        <p:nvSpPr>
          <p:cNvPr id="3" name="副标题 2">
            <a:extLst>
              <a:ext uri="{FF2B5EF4-FFF2-40B4-BE49-F238E27FC236}">
                <a16:creationId xmlns:a16="http://schemas.microsoft.com/office/drawing/2014/main" id="{E790C6D0-D440-482C-89AD-F063D7E62B34}"/>
              </a:ext>
            </a:extLst>
          </p:cNvPr>
          <p:cNvSpPr>
            <a:spLocks noGrp="1"/>
          </p:cNvSpPr>
          <p:nvPr>
            <p:ph type="subTitle" idx="4"/>
          </p:nvPr>
        </p:nvSpPr>
        <p:spPr/>
        <p:txBody>
          <a:bodyPr/>
          <a:lstStyle/>
          <a:p>
            <a:endParaRPr lang="zh-CN" altLang="en-US"/>
          </a:p>
        </p:txBody>
      </p:sp>
    </p:spTree>
    <p:extLst>
      <p:ext uri="{BB962C8B-B14F-4D97-AF65-F5344CB8AC3E}">
        <p14:creationId xmlns:p14="http://schemas.microsoft.com/office/powerpoint/2010/main" val="1751256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751</Words>
  <Application>Microsoft Office PowerPoint</Application>
  <PresentationFormat>自定义</PresentationFormat>
  <Paragraphs>79</Paragraphs>
  <Slides>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vt:i4>
      </vt:variant>
    </vt:vector>
  </HeadingPairs>
  <TitlesOfParts>
    <vt:vector size="15" baseType="lpstr">
      <vt:lpstr>Microsoft YaHei</vt:lpstr>
      <vt:lpstr>Arial</vt:lpstr>
      <vt:lpstr>Cambria</vt:lpstr>
      <vt:lpstr>Consolas</vt:lpstr>
      <vt:lpstr>Palatino Linotype</vt:lpstr>
      <vt:lpstr>Segoe UI</vt:lpstr>
      <vt:lpstr>Segoe UI Semibold</vt:lpstr>
      <vt:lpstr>Times New Roman</vt:lpstr>
      <vt:lpstr>Office Theme</vt:lpstr>
      <vt:lpstr>利用数据库编程进行LDA模拟和检验</vt:lpstr>
      <vt:lpstr>PowerPoint 演示文稿</vt:lpstr>
      <vt:lpstr>PowerPoint 演示文稿</vt:lpstr>
      <vt:lpstr>PowerPoint 演示文稿</vt:lpstr>
      <vt:lpstr>PowerPoint 演示文稿</vt:lpstr>
      <vt:lpstr>谢谢</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利用数据库编程进行LDA模拟和检验</dc:title>
  <cp:lastModifiedBy>良煜</cp:lastModifiedBy>
  <cp:revision>1</cp:revision>
  <dcterms:created xsi:type="dcterms:W3CDTF">2025-11-17T09:15:35Z</dcterms:created>
  <dcterms:modified xsi:type="dcterms:W3CDTF">2025-11-17T09:16:59Z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2025-11-17T00:00:00Z</vt:filetime>
  </property>
  <property fmtid="{D5CDD505-2E9C-101B-9397-08002B2CF9AE}" pid="3" name="Creator">
    <vt:lpwstr>Mozilla/5.0 (Windows NT 10.0; Win64; x64) AppleWebKit/537.36 (KHTML, like Gecko) marktext/0.17.1 Chrome/98.0.4758.109 Electron/17.1.2 Safari/537.36</vt:lpwstr>
  </property>
  <property fmtid="{D5CDD505-2E9C-101B-9397-08002B2CF9AE}" pid="4" name="LastSaved">
    <vt:filetime>2025-11-17T00:00:00Z</vt:filetime>
  </property>
  <property fmtid="{D5CDD505-2E9C-101B-9397-08002B2CF9AE}" pid="5" name="Producer">
    <vt:lpwstr>Skia/PDF m98</vt:lpwstr>
  </property>
</Properties>
</file>