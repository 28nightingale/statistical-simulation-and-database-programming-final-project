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5" r:id="rId3"/>
    <p:sldId id="257" r:id="rId4"/>
    <p:sldId id="258" r:id="rId5"/>
    <p:sldId id="259" r:id="rId6"/>
    <p:sldId id="260" r:id="rId7"/>
    <p:sldId id="261" r:id="rId8"/>
    <p:sldId id="262" r:id="rId9"/>
    <p:sldId id="263" r:id="rId10"/>
    <p:sldId id="264" r:id="rId11"/>
    <p:sldId id="266" r:id="rId12"/>
    <p:sldId id="267" r:id="rId13"/>
  </p:sldIdLst>
  <p:sldSz cx="9144000" cy="5130800"/>
  <p:notesSz cx="9144000" cy="51308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1" d="100"/>
          <a:sy n="111" d="100"/>
        </p:scale>
        <p:origin x="634"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0548"/>
            <a:ext cx="7772400" cy="107746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73248"/>
            <a:ext cx="6400800" cy="12827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24292E"/>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1200" b="0" i="0">
                <a:solidFill>
                  <a:srgbClr val="24292E"/>
                </a:solidFill>
                <a:latin typeface="微软雅黑"/>
                <a:cs typeface="微软雅黑"/>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24292E"/>
                </a:solidFill>
                <a:latin typeface="微软雅黑"/>
                <a:cs typeface="微软雅黑"/>
              </a:defRPr>
            </a:lvl1pPr>
          </a:lstStyle>
          <a:p>
            <a:endParaRPr/>
          </a:p>
        </p:txBody>
      </p:sp>
      <p:sp>
        <p:nvSpPr>
          <p:cNvPr id="3" name="Holder 3"/>
          <p:cNvSpPr>
            <a:spLocks noGrp="1"/>
          </p:cNvSpPr>
          <p:nvPr>
            <p:ph sz="half" idx="2"/>
          </p:nvPr>
        </p:nvSpPr>
        <p:spPr>
          <a:xfrm>
            <a:off x="457200" y="1180084"/>
            <a:ext cx="3977640" cy="338632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0084"/>
            <a:ext cx="3977640" cy="338632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24292E"/>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25500" y="695070"/>
            <a:ext cx="3974465" cy="247015"/>
          </a:xfrm>
          <a:prstGeom prst="rect">
            <a:avLst/>
          </a:prstGeom>
        </p:spPr>
        <p:txBody>
          <a:bodyPr wrap="square" lIns="0" tIns="0" rIns="0" bIns="0">
            <a:spAutoFit/>
          </a:bodyPr>
          <a:lstStyle>
            <a:lvl1pPr>
              <a:defRPr sz="1200" b="0" i="0">
                <a:solidFill>
                  <a:srgbClr val="24292E"/>
                </a:solidFill>
                <a:latin typeface="微软雅黑"/>
                <a:cs typeface="微软雅黑"/>
              </a:defRPr>
            </a:lvl1pPr>
          </a:lstStyle>
          <a:p>
            <a:endParaRPr/>
          </a:p>
        </p:txBody>
      </p:sp>
      <p:sp>
        <p:nvSpPr>
          <p:cNvPr id="3" name="Holder 3"/>
          <p:cNvSpPr>
            <a:spLocks noGrp="1"/>
          </p:cNvSpPr>
          <p:nvPr>
            <p:ph type="body" idx="1"/>
          </p:nvPr>
        </p:nvSpPr>
        <p:spPr>
          <a:xfrm>
            <a:off x="488949" y="1671954"/>
            <a:ext cx="8166100" cy="2720975"/>
          </a:xfrm>
          <a:prstGeom prst="rect">
            <a:avLst/>
          </a:prstGeom>
        </p:spPr>
        <p:txBody>
          <a:bodyPr wrap="square" lIns="0" tIns="0" rIns="0" bIns="0">
            <a:spAutoFit/>
          </a:bodyPr>
          <a:lstStyle>
            <a:lvl1pPr>
              <a:defRPr sz="1200" b="0" i="0">
                <a:solidFill>
                  <a:srgbClr val="24292E"/>
                </a:solidFill>
                <a:latin typeface="微软雅黑"/>
                <a:cs typeface="微软雅黑"/>
              </a:defRPr>
            </a:lvl1pPr>
          </a:lstStyle>
          <a:p>
            <a:endParaRPr/>
          </a:p>
        </p:txBody>
      </p:sp>
      <p:sp>
        <p:nvSpPr>
          <p:cNvPr id="4" name="Holder 4"/>
          <p:cNvSpPr>
            <a:spLocks noGrp="1"/>
          </p:cNvSpPr>
          <p:nvPr>
            <p:ph type="ftr" sz="quarter" idx="5"/>
          </p:nvPr>
        </p:nvSpPr>
        <p:spPr>
          <a:xfrm>
            <a:off x="3108960" y="4771644"/>
            <a:ext cx="2926080" cy="25654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71644"/>
            <a:ext cx="2103120" cy="25654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a:xfrm>
            <a:off x="6583680" y="4771644"/>
            <a:ext cx="2103120" cy="25654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192212"/>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p:nvPr/>
        </p:nvSpPr>
        <p:spPr>
          <a:xfrm>
            <a:off x="533400" y="1782762"/>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5" name="object 5"/>
          <p:cNvSpPr txBox="1">
            <a:spLocks noGrp="1"/>
          </p:cNvSpPr>
          <p:nvPr>
            <p:ph type="title"/>
          </p:nvPr>
        </p:nvSpPr>
        <p:spPr>
          <a:xfrm>
            <a:off x="2141884" y="708025"/>
            <a:ext cx="486029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a:cs typeface="微软雅黑"/>
              </a:rPr>
              <a:t>利用数据库编程进行</a:t>
            </a:r>
            <a:r>
              <a:rPr sz="2400" b="1" dirty="0">
                <a:latin typeface="Segoe UI Semibold"/>
                <a:cs typeface="Segoe UI Semibold"/>
              </a:rPr>
              <a:t>L</a:t>
            </a:r>
            <a:r>
              <a:rPr sz="2400" b="1" spc="-40" dirty="0">
                <a:latin typeface="Segoe UI Semibold"/>
                <a:cs typeface="Segoe UI Semibold"/>
              </a:rPr>
              <a:t>D</a:t>
            </a:r>
            <a:r>
              <a:rPr sz="2400" b="1" dirty="0">
                <a:latin typeface="Segoe UI Semibold"/>
                <a:cs typeface="Segoe UI Semibold"/>
              </a:rPr>
              <a:t>A</a:t>
            </a:r>
            <a:r>
              <a:rPr sz="2400" b="1" dirty="0">
                <a:latin typeface="微软雅黑"/>
                <a:cs typeface="微软雅黑"/>
              </a:rPr>
              <a:t>模拟和检验</a:t>
            </a:r>
            <a:endParaRPr sz="2400">
              <a:latin typeface="微软雅黑"/>
              <a:cs typeface="微软雅黑"/>
            </a:endParaRPr>
          </a:p>
        </p:txBody>
      </p:sp>
      <p:sp>
        <p:nvSpPr>
          <p:cNvPr id="6" name="object 6"/>
          <p:cNvSpPr txBox="1"/>
          <p:nvPr/>
        </p:nvSpPr>
        <p:spPr>
          <a:xfrm>
            <a:off x="520700" y="1422400"/>
            <a:ext cx="8077200" cy="1656864"/>
          </a:xfrm>
          <a:prstGeom prst="rect">
            <a:avLst/>
          </a:prstGeom>
        </p:spPr>
        <p:txBody>
          <a:bodyPr vert="horz" wrap="square" lIns="0" tIns="12700" rIns="0" bIns="0" rtlCol="0">
            <a:spAutoFit/>
          </a:bodyPr>
          <a:lstStyle/>
          <a:p>
            <a:pPr marL="3188970">
              <a:lnSpc>
                <a:spcPct val="100000"/>
              </a:lnSpc>
              <a:spcBef>
                <a:spcPts val="100"/>
              </a:spcBef>
            </a:pPr>
            <a:r>
              <a:rPr lang="en-US" sz="1800">
                <a:solidFill>
                  <a:srgbClr val="24292E"/>
                </a:solidFill>
                <a:latin typeface="Segoe UI Semibold"/>
                <a:cs typeface="Segoe UI Semibold"/>
              </a:rPr>
              <a:t>10230327 </a:t>
            </a:r>
            <a:r>
              <a:rPr lang="zh-CN" altLang="en-US" sz="1800">
                <a:solidFill>
                  <a:srgbClr val="24292E"/>
                </a:solidFill>
                <a:latin typeface="Segoe UI Semibold"/>
                <a:cs typeface="Segoe UI Semibold"/>
              </a:rPr>
              <a:t>屈良煜</a:t>
            </a:r>
            <a:endParaRPr lang="en-US" altLang="zh-CN">
              <a:solidFill>
                <a:srgbClr val="24292E"/>
              </a:solidFill>
              <a:latin typeface="Segoe UI Semibold"/>
              <a:cs typeface="Segoe UI Semibold"/>
            </a:endParaRPr>
          </a:p>
          <a:p>
            <a:pPr marL="3188970">
              <a:lnSpc>
                <a:spcPct val="100000"/>
              </a:lnSpc>
              <a:spcBef>
                <a:spcPts val="100"/>
              </a:spcBef>
            </a:pPr>
            <a:endParaRPr lang="en-US" altLang="zh-CN" sz="1800">
              <a:solidFill>
                <a:srgbClr val="24292E"/>
              </a:solidFill>
              <a:latin typeface="Segoe UI Semibold"/>
              <a:cs typeface="Segoe UI Semibold"/>
            </a:endParaRPr>
          </a:p>
          <a:p>
            <a:pPr marL="3188970">
              <a:lnSpc>
                <a:spcPct val="100000"/>
              </a:lnSpc>
              <a:spcBef>
                <a:spcPts val="100"/>
              </a:spcBef>
            </a:pPr>
            <a:r>
              <a:rPr lang="zh-CN" altLang="en-US">
                <a:solidFill>
                  <a:srgbClr val="24292E"/>
                </a:solidFill>
                <a:latin typeface="Segoe UI Semibold"/>
                <a:cs typeface="Segoe UI Semibold"/>
              </a:rPr>
              <a:t>评分等级：</a:t>
            </a:r>
            <a:r>
              <a:rPr lang="en-US" altLang="zh-CN">
                <a:solidFill>
                  <a:srgbClr val="24292E"/>
                </a:solidFill>
                <a:latin typeface="Segoe UI Semibold"/>
                <a:cs typeface="Segoe UI Semibold"/>
              </a:rPr>
              <a:t>A</a:t>
            </a:r>
          </a:p>
          <a:p>
            <a:pPr marL="3188970">
              <a:lnSpc>
                <a:spcPct val="100000"/>
              </a:lnSpc>
              <a:spcBef>
                <a:spcPts val="100"/>
              </a:spcBef>
            </a:pPr>
            <a:endParaRPr lang="en-US" altLang="zh-CN" sz="1800">
              <a:solidFill>
                <a:srgbClr val="24292E"/>
              </a:solidFill>
              <a:latin typeface="Segoe UI Semibold"/>
              <a:cs typeface="Segoe UI Semibold"/>
            </a:endParaRPr>
          </a:p>
          <a:p>
            <a:pPr marL="3188970">
              <a:lnSpc>
                <a:spcPct val="100000"/>
              </a:lnSpc>
              <a:spcBef>
                <a:spcPts val="100"/>
              </a:spcBef>
            </a:pPr>
            <a:r>
              <a:rPr lang="zh-CN" altLang="en-US">
                <a:solidFill>
                  <a:srgbClr val="24292E"/>
                </a:solidFill>
                <a:latin typeface="Segoe UI Semibold"/>
                <a:cs typeface="Segoe UI Semibold"/>
              </a:rPr>
              <a:t>最后编辑于</a:t>
            </a:r>
            <a:r>
              <a:rPr lang="en-US" altLang="zh-CN">
                <a:solidFill>
                  <a:srgbClr val="24292E"/>
                </a:solidFill>
                <a:latin typeface="Segoe UI Semibold"/>
                <a:cs typeface="Segoe UI Semibold"/>
              </a:rPr>
              <a:t>11</a:t>
            </a:r>
            <a:r>
              <a:rPr lang="zh-CN" altLang="en-US">
                <a:solidFill>
                  <a:srgbClr val="24292E"/>
                </a:solidFill>
                <a:latin typeface="Segoe UI Semibold"/>
                <a:cs typeface="Segoe UI Semibold"/>
              </a:rPr>
              <a:t>月</a:t>
            </a:r>
            <a:r>
              <a:rPr lang="en-US" altLang="zh-CN">
                <a:solidFill>
                  <a:srgbClr val="24292E"/>
                </a:solidFill>
                <a:latin typeface="Segoe UI Semibold"/>
                <a:cs typeface="Segoe UI Semibold"/>
              </a:rPr>
              <a:t>30</a:t>
            </a:r>
            <a:r>
              <a:rPr lang="zh-CN" altLang="en-US">
                <a:solidFill>
                  <a:srgbClr val="24292E"/>
                </a:solidFill>
                <a:latin typeface="Segoe UI Semibold"/>
                <a:cs typeface="Segoe UI Semibold"/>
              </a:rPr>
              <a:t>日</a:t>
            </a:r>
            <a:endParaRPr lang="zh-CN" altLang="en-US" sz="1800">
              <a:latin typeface="微软雅黑"/>
              <a:cs typeface="微软雅黑"/>
            </a:endParaRPr>
          </a:p>
          <a:p>
            <a:pPr>
              <a:lnSpc>
                <a:spcPct val="100000"/>
              </a:lnSpc>
            </a:pPr>
            <a:endParaRPr sz="1350">
              <a:latin typeface="微软雅黑"/>
              <a:cs typeface="微软雅黑"/>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71ECB8B2-C31D-4B86-990C-E7508CB7BCA7}"/>
              </a:ext>
            </a:extLst>
          </p:cNvPr>
          <p:cNvSpPr txBox="1">
            <a:spLocks noGrp="1"/>
          </p:cNvSpPr>
          <p:nvPr>
            <p:ph type="body" idx="1"/>
          </p:nvPr>
        </p:nvSpPr>
        <p:spPr>
          <a:xfrm>
            <a:off x="528053" y="1727200"/>
            <a:ext cx="8166100" cy="497572"/>
          </a:xfrm>
          <a:prstGeom prst="rect">
            <a:avLst/>
          </a:prstGeom>
        </p:spPr>
        <p:txBody>
          <a:bodyPr vert="horz" wrap="square" lIns="0" tIns="12700" rIns="0" bIns="0" rtlCol="0">
            <a:spAutoFit/>
          </a:bodyPr>
          <a:lstStyle/>
          <a:p>
            <a:pPr>
              <a:lnSpc>
                <a:spcPct val="100000"/>
              </a:lnSpc>
            </a:pPr>
            <a:endParaRPr sz="1350">
              <a:latin typeface="微软雅黑"/>
              <a:cs typeface="微软雅黑"/>
            </a:endParaRPr>
          </a:p>
          <a:p>
            <a:pPr marL="12700">
              <a:lnSpc>
                <a:spcPct val="100000"/>
              </a:lnSpc>
            </a:pPr>
            <a:r>
              <a:rPr sz="1800" b="1" dirty="0">
                <a:solidFill>
                  <a:srgbClr val="24292E"/>
                </a:solidFill>
                <a:latin typeface="微软雅黑"/>
                <a:cs typeface="微软雅黑"/>
              </a:rPr>
              <a:t>一、本项目原理</a:t>
            </a:r>
            <a:r>
              <a:rPr sz="1800" b="1" spc="-10" dirty="0">
                <a:solidFill>
                  <a:srgbClr val="24292E"/>
                </a:solidFill>
                <a:latin typeface="微软雅黑"/>
                <a:cs typeface="微软雅黑"/>
              </a:rPr>
              <a:t>：</a:t>
            </a:r>
            <a:r>
              <a:rPr sz="1800" b="1" spc="-10" dirty="0">
                <a:solidFill>
                  <a:srgbClr val="24292E"/>
                </a:solidFill>
                <a:latin typeface="Segoe UI Semibold"/>
                <a:cs typeface="Segoe UI Semibold"/>
              </a:rPr>
              <a:t>LDA</a:t>
            </a:r>
            <a:r>
              <a:rPr sz="1800" b="1" dirty="0">
                <a:solidFill>
                  <a:srgbClr val="24292E"/>
                </a:solidFill>
                <a:latin typeface="微软雅黑"/>
                <a:cs typeface="微软雅黑"/>
              </a:rPr>
              <a:t>模型简述</a:t>
            </a:r>
            <a:endParaRPr sz="1800">
              <a:latin typeface="微软雅黑"/>
              <a:cs typeface="微软雅黑"/>
            </a:endParaRPr>
          </a:p>
        </p:txBody>
      </p:sp>
      <p:sp>
        <p:nvSpPr>
          <p:cNvPr id="5" name="object 7">
            <a:extLst>
              <a:ext uri="{FF2B5EF4-FFF2-40B4-BE49-F238E27FC236}">
                <a16:creationId xmlns:a16="http://schemas.microsoft.com/office/drawing/2014/main" id="{B78291B3-D898-459F-8811-57D96652E016}"/>
              </a:ext>
            </a:extLst>
          </p:cNvPr>
          <p:cNvSpPr txBox="1"/>
          <p:nvPr/>
        </p:nvSpPr>
        <p:spPr>
          <a:xfrm>
            <a:off x="528053" y="2582970"/>
            <a:ext cx="8133080" cy="1718034"/>
          </a:xfrm>
          <a:prstGeom prst="rect">
            <a:avLst/>
          </a:prstGeom>
        </p:spPr>
        <p:txBody>
          <a:bodyPr vert="horz" wrap="square" lIns="0" tIns="12700" rIns="0" bIns="0" rtlCol="0">
            <a:spAutoFit/>
          </a:bodyPr>
          <a:lstStyle/>
          <a:p>
            <a:pPr marL="25400" marR="206375">
              <a:lnSpc>
                <a:spcPct val="125000"/>
              </a:lnSpc>
              <a:spcBef>
                <a:spcPts val="100"/>
              </a:spcBef>
            </a:pPr>
            <a:r>
              <a:rPr sz="1200" dirty="0">
                <a:solidFill>
                  <a:srgbClr val="24292E"/>
                </a:solidFill>
                <a:latin typeface="Segoe UI"/>
                <a:cs typeface="Segoe UI"/>
              </a:rPr>
              <a:t>L</a:t>
            </a:r>
            <a:r>
              <a:rPr sz="1200" spc="-30" dirty="0">
                <a:solidFill>
                  <a:srgbClr val="24292E"/>
                </a:solidFill>
                <a:latin typeface="Segoe UI"/>
                <a:cs typeface="Segoe UI"/>
              </a:rPr>
              <a:t>D</a:t>
            </a:r>
            <a:r>
              <a:rPr sz="1200" dirty="0">
                <a:solidFill>
                  <a:srgbClr val="24292E"/>
                </a:solidFill>
                <a:latin typeface="Segoe UI"/>
                <a:cs typeface="Segoe UI"/>
              </a:rPr>
              <a:t>A</a:t>
            </a:r>
            <a:r>
              <a:rPr sz="1200" dirty="0">
                <a:solidFill>
                  <a:srgbClr val="24292E"/>
                </a:solidFill>
                <a:latin typeface="微软雅黑"/>
                <a:cs typeface="微软雅黑"/>
              </a:rPr>
              <a:t>将文档生成过程建模成一个概率图模型，即假设文档是由多个单词混合生成的，其中单词的出现是由潜在主题决定 的。具体过程如下：</a:t>
            </a:r>
            <a:endParaRPr sz="1200">
              <a:latin typeface="微软雅黑"/>
              <a:cs typeface="微软雅黑"/>
            </a:endParaRPr>
          </a:p>
          <a:p>
            <a:pPr marL="330200" marR="43180" indent="-152400">
              <a:lnSpc>
                <a:spcPct val="107800"/>
              </a:lnSpc>
              <a:spcBef>
                <a:spcPts val="1175"/>
              </a:spcBef>
              <a:buFont typeface="Segoe UI"/>
              <a:buAutoNum type="arabicPeriod"/>
              <a:tabLst>
                <a:tab pos="330200" algn="l"/>
              </a:tabLst>
            </a:pPr>
            <a:r>
              <a:rPr sz="1200" dirty="0">
                <a:solidFill>
                  <a:srgbClr val="24292E"/>
                </a:solidFill>
                <a:latin typeface="微软雅黑"/>
                <a:cs typeface="微软雅黑"/>
              </a:rPr>
              <a:t>假设每篇文档的主题分布服从一个狄利克雷分布</a:t>
            </a:r>
            <a:r>
              <a:rPr sz="1200" spc="-20" dirty="0">
                <a:solidFill>
                  <a:srgbClr val="24292E"/>
                </a:solidFill>
                <a:latin typeface="微软雅黑"/>
                <a:cs typeface="微软雅黑"/>
              </a:rPr>
              <a:t>（</a:t>
            </a:r>
            <a:r>
              <a:rPr sz="1450" i="1" spc="-20" dirty="0">
                <a:solidFill>
                  <a:srgbClr val="24292E"/>
                </a:solidFill>
                <a:latin typeface="Times New Roman"/>
                <a:cs typeface="Times New Roman"/>
              </a:rPr>
              <a:t>θ</a:t>
            </a:r>
            <a:r>
              <a:rPr sz="1450" i="1" spc="60" dirty="0">
                <a:solidFill>
                  <a:srgbClr val="24292E"/>
                </a:solidFill>
                <a:latin typeface="Times New Roman"/>
                <a:cs typeface="Times New Roman"/>
              </a:rPr>
              <a:t> </a:t>
            </a:r>
            <a:r>
              <a:rPr sz="1450" spc="95" dirty="0">
                <a:solidFill>
                  <a:srgbClr val="24292E"/>
                </a:solidFill>
                <a:latin typeface="Cambria"/>
                <a:cs typeface="Cambria"/>
              </a:rPr>
              <a:t>∼</a:t>
            </a:r>
            <a:r>
              <a:rPr sz="1450" spc="70" dirty="0">
                <a:solidFill>
                  <a:srgbClr val="24292E"/>
                </a:solidFill>
                <a:latin typeface="Cambria"/>
                <a:cs typeface="Cambria"/>
              </a:rPr>
              <a:t> </a:t>
            </a:r>
            <a:r>
              <a:rPr sz="1450" spc="20" dirty="0">
                <a:solidFill>
                  <a:srgbClr val="24292E"/>
                </a:solidFill>
                <a:latin typeface="Cambria"/>
                <a:cs typeface="Cambria"/>
              </a:rPr>
              <a:t>Dirichlet(</a:t>
            </a:r>
            <a:r>
              <a:rPr sz="1450" i="1" spc="20" dirty="0">
                <a:solidFill>
                  <a:srgbClr val="24292E"/>
                </a:solidFill>
                <a:latin typeface="Times New Roman"/>
                <a:cs typeface="Times New Roman"/>
              </a:rPr>
              <a:t>α</a:t>
            </a:r>
            <a:r>
              <a:rPr sz="1450" spc="20" dirty="0">
                <a:solidFill>
                  <a:srgbClr val="24292E"/>
                </a:solidFill>
                <a:latin typeface="Cambria"/>
                <a:cs typeface="Cambria"/>
              </a:rPr>
              <a:t>)</a:t>
            </a:r>
            <a:r>
              <a:rPr sz="1200" spc="20" dirty="0">
                <a:solidFill>
                  <a:srgbClr val="24292E"/>
                </a:solidFill>
                <a:latin typeface="Segoe UI"/>
                <a:cs typeface="Segoe UI"/>
              </a:rPr>
              <a:t>)</a:t>
            </a:r>
            <a:r>
              <a:rPr sz="1200" spc="20" dirty="0">
                <a:solidFill>
                  <a:srgbClr val="24292E"/>
                </a:solidFill>
                <a:latin typeface="微软雅黑"/>
                <a:cs typeface="微软雅黑"/>
              </a:rPr>
              <a:t>，</a:t>
            </a:r>
            <a:r>
              <a:rPr sz="1200" dirty="0">
                <a:solidFill>
                  <a:srgbClr val="24292E"/>
                </a:solidFill>
                <a:latin typeface="微软雅黑"/>
                <a:cs typeface="微软雅黑"/>
              </a:rPr>
              <a:t>每个主题的单词分布也服从一个狄利克雷分 布</a:t>
            </a:r>
            <a:r>
              <a:rPr sz="1200" spc="55" dirty="0">
                <a:solidFill>
                  <a:srgbClr val="24292E"/>
                </a:solidFill>
                <a:latin typeface="微软雅黑"/>
                <a:cs typeface="微软雅黑"/>
              </a:rPr>
              <a:t>（</a:t>
            </a:r>
            <a:r>
              <a:rPr sz="1450" i="1" spc="55" dirty="0">
                <a:solidFill>
                  <a:srgbClr val="24292E"/>
                </a:solidFill>
                <a:latin typeface="Times New Roman"/>
                <a:cs typeface="Times New Roman"/>
              </a:rPr>
              <a:t>ϕ</a:t>
            </a:r>
            <a:r>
              <a:rPr sz="1450" i="1" spc="35" dirty="0">
                <a:solidFill>
                  <a:srgbClr val="24292E"/>
                </a:solidFill>
                <a:latin typeface="Times New Roman"/>
                <a:cs typeface="Times New Roman"/>
              </a:rPr>
              <a:t> </a:t>
            </a:r>
            <a:r>
              <a:rPr sz="1450" spc="95" dirty="0">
                <a:solidFill>
                  <a:srgbClr val="24292E"/>
                </a:solidFill>
                <a:latin typeface="Cambria"/>
                <a:cs typeface="Cambria"/>
              </a:rPr>
              <a:t>∼</a:t>
            </a:r>
            <a:r>
              <a:rPr sz="1450" spc="85" dirty="0">
                <a:solidFill>
                  <a:srgbClr val="24292E"/>
                </a:solidFill>
                <a:latin typeface="Cambria"/>
                <a:cs typeface="Cambria"/>
              </a:rPr>
              <a:t> </a:t>
            </a:r>
            <a:r>
              <a:rPr sz="1450" spc="25" dirty="0">
                <a:solidFill>
                  <a:srgbClr val="24292E"/>
                </a:solidFill>
                <a:latin typeface="Cambria"/>
                <a:cs typeface="Cambria"/>
              </a:rPr>
              <a:t>Dirichlet(</a:t>
            </a:r>
            <a:r>
              <a:rPr sz="1450" i="1" spc="25" dirty="0">
                <a:solidFill>
                  <a:srgbClr val="24292E"/>
                </a:solidFill>
                <a:latin typeface="Times New Roman"/>
                <a:cs typeface="Times New Roman"/>
              </a:rPr>
              <a:t>α</a:t>
            </a:r>
            <a:r>
              <a:rPr sz="1450" spc="25" dirty="0">
                <a:solidFill>
                  <a:srgbClr val="24292E"/>
                </a:solidFill>
                <a:latin typeface="Cambria"/>
                <a:cs typeface="Cambria"/>
              </a:rPr>
              <a:t>)</a:t>
            </a:r>
            <a:r>
              <a:rPr sz="1200" spc="25" dirty="0">
                <a:solidFill>
                  <a:srgbClr val="24292E"/>
                </a:solidFill>
                <a:latin typeface="Segoe UI"/>
                <a:cs typeface="Segoe UI"/>
              </a:rPr>
              <a:t>)</a:t>
            </a:r>
            <a:endParaRPr sz="1200">
              <a:latin typeface="Segoe UI"/>
              <a:cs typeface="Segoe UI"/>
            </a:endParaRPr>
          </a:p>
          <a:p>
            <a:pPr marL="330200" marR="166370" indent="-152400">
              <a:lnSpc>
                <a:spcPct val="126400"/>
              </a:lnSpc>
              <a:spcBef>
                <a:spcPts val="875"/>
              </a:spcBef>
              <a:buFont typeface="Segoe UI"/>
              <a:buAutoNum type="arabicPeriod"/>
              <a:tabLst>
                <a:tab pos="330200" algn="l"/>
              </a:tabLst>
            </a:pPr>
            <a:r>
              <a:rPr sz="1200" dirty="0">
                <a:solidFill>
                  <a:srgbClr val="24292E"/>
                </a:solidFill>
                <a:latin typeface="微软雅黑"/>
                <a:cs typeface="微软雅黑"/>
              </a:rPr>
              <a:t>对于每篇文档，我们先从主题分布（</a:t>
            </a:r>
            <a:r>
              <a:rPr sz="1450" i="1" dirty="0">
                <a:solidFill>
                  <a:srgbClr val="24292E"/>
                </a:solidFill>
                <a:latin typeface="Times New Roman"/>
                <a:cs typeface="Times New Roman"/>
              </a:rPr>
              <a:t>θ</a:t>
            </a:r>
            <a:r>
              <a:rPr sz="1200" dirty="0">
                <a:solidFill>
                  <a:srgbClr val="24292E"/>
                </a:solidFill>
                <a:latin typeface="微软雅黑"/>
                <a:cs typeface="微软雅黑"/>
              </a:rPr>
              <a:t>）中抽取一个主题记作</a:t>
            </a:r>
            <a:r>
              <a:rPr sz="1200" spc="40" dirty="0">
                <a:solidFill>
                  <a:srgbClr val="24292E"/>
                </a:solidFill>
                <a:latin typeface="微软雅黑"/>
                <a:cs typeface="微软雅黑"/>
              </a:rPr>
              <a:t>（</a:t>
            </a:r>
            <a:r>
              <a:rPr sz="1450" i="1" spc="40" dirty="0">
                <a:solidFill>
                  <a:srgbClr val="24292E"/>
                </a:solidFill>
                <a:latin typeface="Times New Roman"/>
                <a:cs typeface="Times New Roman"/>
              </a:rPr>
              <a:t>z</a:t>
            </a:r>
            <a:r>
              <a:rPr sz="1200" spc="40" dirty="0">
                <a:solidFill>
                  <a:srgbClr val="24292E"/>
                </a:solidFill>
                <a:latin typeface="微软雅黑"/>
                <a:cs typeface="微软雅黑"/>
              </a:rPr>
              <a:t>），</a:t>
            </a:r>
            <a:r>
              <a:rPr sz="1200" dirty="0">
                <a:solidFill>
                  <a:srgbClr val="24292E"/>
                </a:solidFill>
                <a:latin typeface="微软雅黑"/>
                <a:cs typeface="微软雅黑"/>
              </a:rPr>
              <a:t>再从主题</a:t>
            </a:r>
            <a:r>
              <a:rPr sz="1200" spc="55" dirty="0">
                <a:solidFill>
                  <a:srgbClr val="24292E"/>
                </a:solidFill>
                <a:latin typeface="微软雅黑"/>
                <a:cs typeface="微软雅黑"/>
              </a:rPr>
              <a:t>（</a:t>
            </a:r>
            <a:r>
              <a:rPr sz="1450" i="1" spc="55" dirty="0">
                <a:solidFill>
                  <a:srgbClr val="24292E"/>
                </a:solidFill>
                <a:latin typeface="Times New Roman"/>
                <a:cs typeface="Times New Roman"/>
              </a:rPr>
              <a:t>z</a:t>
            </a:r>
            <a:r>
              <a:rPr sz="1200" spc="55" dirty="0">
                <a:solidFill>
                  <a:srgbClr val="24292E"/>
                </a:solidFill>
                <a:latin typeface="微软雅黑"/>
                <a:cs typeface="微软雅黑"/>
              </a:rPr>
              <a:t>）</a:t>
            </a:r>
            <a:r>
              <a:rPr sz="1200" dirty="0">
                <a:solidFill>
                  <a:srgbClr val="24292E"/>
                </a:solidFill>
                <a:latin typeface="微软雅黑"/>
                <a:cs typeface="微软雅黑"/>
              </a:rPr>
              <a:t>的单词分布</a:t>
            </a:r>
            <a:r>
              <a:rPr sz="1200" spc="60" dirty="0">
                <a:solidFill>
                  <a:srgbClr val="24292E"/>
                </a:solidFill>
                <a:latin typeface="微软雅黑"/>
                <a:cs typeface="微软雅黑"/>
              </a:rPr>
              <a:t>（</a:t>
            </a:r>
            <a:r>
              <a:rPr sz="1450" i="1" spc="60" dirty="0">
                <a:solidFill>
                  <a:srgbClr val="24292E"/>
                </a:solidFill>
                <a:latin typeface="Times New Roman"/>
                <a:cs typeface="Times New Roman"/>
              </a:rPr>
              <a:t>ϕ</a:t>
            </a:r>
            <a:r>
              <a:rPr sz="1500" i="1" spc="89" baseline="-13888" dirty="0">
                <a:solidFill>
                  <a:srgbClr val="24292E"/>
                </a:solidFill>
                <a:latin typeface="Times New Roman"/>
                <a:cs typeface="Times New Roman"/>
              </a:rPr>
              <a:t>z</a:t>
            </a:r>
            <a:r>
              <a:rPr sz="1500" i="1" spc="-262" baseline="-13888" dirty="0">
                <a:solidFill>
                  <a:srgbClr val="24292E"/>
                </a:solidFill>
                <a:latin typeface="Times New Roman"/>
                <a:cs typeface="Times New Roman"/>
              </a:rPr>
              <a:t> </a:t>
            </a:r>
            <a:r>
              <a:rPr sz="1200" dirty="0">
                <a:solidFill>
                  <a:srgbClr val="24292E"/>
                </a:solidFill>
                <a:latin typeface="微软雅黑"/>
                <a:cs typeface="微软雅黑"/>
              </a:rPr>
              <a:t>）中抽取一个 </a:t>
            </a:r>
            <a:r>
              <a:rPr sz="1200">
                <a:solidFill>
                  <a:srgbClr val="24292E"/>
                </a:solidFill>
                <a:latin typeface="微软雅黑"/>
                <a:cs typeface="微软雅黑"/>
              </a:rPr>
              <a:t>单词。</a:t>
            </a:r>
            <a:endParaRPr lang="en-US" sz="1200">
              <a:solidFill>
                <a:srgbClr val="24292E"/>
              </a:solidFill>
              <a:latin typeface="微软雅黑"/>
              <a:cs typeface="微软雅黑"/>
            </a:endParaRPr>
          </a:p>
        </p:txBody>
      </p:sp>
    </p:spTree>
    <p:extLst>
      <p:ext uri="{BB962C8B-B14F-4D97-AF65-F5344CB8AC3E}">
        <p14:creationId xmlns:p14="http://schemas.microsoft.com/office/powerpoint/2010/main" val="2464128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2325687"/>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txBox="1"/>
          <p:nvPr/>
        </p:nvSpPr>
        <p:spPr>
          <a:xfrm>
            <a:off x="825500" y="1517650"/>
            <a:ext cx="9398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微软雅黑"/>
                <a:cs typeface="微软雅黑"/>
              </a:rPr>
              <a:t>（边缘似然）</a:t>
            </a:r>
            <a:endParaRPr sz="1200">
              <a:latin typeface="微软雅黑"/>
              <a:cs typeface="微软雅黑"/>
            </a:endParaRPr>
          </a:p>
        </p:txBody>
      </p:sp>
      <p:sp>
        <p:nvSpPr>
          <p:cNvPr id="4" name="object 4"/>
          <p:cNvSpPr txBox="1"/>
          <p:nvPr/>
        </p:nvSpPr>
        <p:spPr>
          <a:xfrm>
            <a:off x="673100" y="685545"/>
            <a:ext cx="6137910" cy="2470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Segoe UI"/>
                <a:cs typeface="Segoe UI"/>
              </a:rPr>
              <a:t>3.</a:t>
            </a:r>
            <a:r>
              <a:rPr sz="1200" spc="-90" dirty="0">
                <a:solidFill>
                  <a:srgbClr val="24292E"/>
                </a:solidFill>
                <a:latin typeface="Segoe UI"/>
                <a:cs typeface="Segoe UI"/>
              </a:rPr>
              <a:t> </a:t>
            </a:r>
            <a:r>
              <a:rPr sz="1200" dirty="0">
                <a:solidFill>
                  <a:srgbClr val="24292E"/>
                </a:solidFill>
                <a:latin typeface="微软雅黑"/>
                <a:cs typeface="微软雅黑"/>
              </a:rPr>
              <a:t>则给定</a:t>
            </a:r>
            <a:r>
              <a:rPr sz="1200" spc="120" dirty="0">
                <a:solidFill>
                  <a:srgbClr val="24292E"/>
                </a:solidFill>
                <a:latin typeface="微软雅黑"/>
                <a:cs typeface="微软雅黑"/>
              </a:rPr>
              <a:t>（</a:t>
            </a:r>
            <a:r>
              <a:rPr sz="1450" i="1" spc="120" dirty="0">
                <a:solidFill>
                  <a:srgbClr val="24292E"/>
                </a:solidFill>
                <a:latin typeface="Times New Roman"/>
                <a:cs typeface="Times New Roman"/>
              </a:rPr>
              <a:t>K</a:t>
            </a:r>
            <a:r>
              <a:rPr sz="1200" spc="120" dirty="0">
                <a:solidFill>
                  <a:srgbClr val="24292E"/>
                </a:solidFill>
                <a:latin typeface="微软雅黑"/>
                <a:cs typeface="微软雅黑"/>
              </a:rPr>
              <a:t>）</a:t>
            </a:r>
            <a:r>
              <a:rPr sz="1200" dirty="0">
                <a:solidFill>
                  <a:srgbClr val="24292E"/>
                </a:solidFill>
                <a:latin typeface="微软雅黑"/>
                <a:cs typeface="微软雅黑"/>
              </a:rPr>
              <a:t>个主题和文档</a:t>
            </a:r>
            <a:r>
              <a:rPr sz="1200" spc="5" dirty="0">
                <a:solidFill>
                  <a:srgbClr val="24292E"/>
                </a:solidFill>
                <a:latin typeface="微软雅黑"/>
                <a:cs typeface="微软雅黑"/>
              </a:rPr>
              <a:t>（</a:t>
            </a:r>
            <a:r>
              <a:rPr sz="1450" i="1" spc="5" dirty="0">
                <a:solidFill>
                  <a:srgbClr val="24292E"/>
                </a:solidFill>
                <a:latin typeface="Times New Roman"/>
                <a:cs typeface="Times New Roman"/>
              </a:rPr>
              <a:t>d</a:t>
            </a:r>
            <a:r>
              <a:rPr sz="1200" spc="5" dirty="0">
                <a:solidFill>
                  <a:srgbClr val="24292E"/>
                </a:solidFill>
                <a:latin typeface="微软雅黑"/>
                <a:cs typeface="微软雅黑"/>
              </a:rPr>
              <a:t>），</a:t>
            </a:r>
            <a:r>
              <a:rPr sz="1200" dirty="0">
                <a:solidFill>
                  <a:srgbClr val="24292E"/>
                </a:solidFill>
                <a:latin typeface="微软雅黑"/>
                <a:cs typeface="微软雅黑"/>
              </a:rPr>
              <a:t>文档中由</a:t>
            </a:r>
            <a:r>
              <a:rPr sz="1200" dirty="0">
                <a:solidFill>
                  <a:srgbClr val="24292E"/>
                </a:solidFill>
                <a:latin typeface="Segoe UI"/>
                <a:cs typeface="Segoe UI"/>
              </a:rPr>
              <a:t>n</a:t>
            </a:r>
            <a:r>
              <a:rPr sz="1200" dirty="0">
                <a:solidFill>
                  <a:srgbClr val="24292E"/>
                </a:solidFill>
                <a:latin typeface="微软雅黑"/>
                <a:cs typeface="微软雅黑"/>
              </a:rPr>
              <a:t>个词语组成的文本</a:t>
            </a:r>
            <a:r>
              <a:rPr sz="1200" spc="-30" dirty="0">
                <a:solidFill>
                  <a:srgbClr val="24292E"/>
                </a:solidFill>
                <a:latin typeface="微软雅黑"/>
                <a:cs typeface="微软雅黑"/>
              </a:rPr>
              <a:t>（</a:t>
            </a:r>
            <a:r>
              <a:rPr sz="1450" i="1" spc="-30" dirty="0">
                <a:solidFill>
                  <a:srgbClr val="24292E"/>
                </a:solidFill>
                <a:latin typeface="Times New Roman"/>
                <a:cs typeface="Times New Roman"/>
              </a:rPr>
              <a:t>ω</a:t>
            </a:r>
            <a:r>
              <a:rPr sz="1200" spc="-30" dirty="0">
                <a:solidFill>
                  <a:srgbClr val="24292E"/>
                </a:solidFill>
                <a:latin typeface="微软雅黑"/>
                <a:cs typeface="微软雅黑"/>
              </a:rPr>
              <a:t>）</a:t>
            </a:r>
            <a:r>
              <a:rPr sz="1200" dirty="0">
                <a:solidFill>
                  <a:srgbClr val="24292E"/>
                </a:solidFill>
                <a:latin typeface="微软雅黑"/>
                <a:cs typeface="微软雅黑"/>
              </a:rPr>
              <a:t>被生成的概率为：</a:t>
            </a:r>
            <a:endParaRPr sz="1200">
              <a:latin typeface="微软雅黑"/>
              <a:cs typeface="微软雅黑"/>
            </a:endParaRPr>
          </a:p>
        </p:txBody>
      </p:sp>
      <p:sp>
        <p:nvSpPr>
          <p:cNvPr id="5" name="object 5"/>
          <p:cNvSpPr txBox="1"/>
          <p:nvPr/>
        </p:nvSpPr>
        <p:spPr>
          <a:xfrm>
            <a:off x="825500" y="1085595"/>
            <a:ext cx="870585" cy="247015"/>
          </a:xfrm>
          <a:prstGeom prst="rect">
            <a:avLst/>
          </a:prstGeom>
        </p:spPr>
        <p:txBody>
          <a:bodyPr vert="horz" wrap="square" lIns="0" tIns="12700" rIns="0" bIns="0" rtlCol="0">
            <a:spAutoFit/>
          </a:bodyPr>
          <a:lstStyle/>
          <a:p>
            <a:pPr marL="12700">
              <a:lnSpc>
                <a:spcPct val="100000"/>
              </a:lnSpc>
              <a:spcBef>
                <a:spcPts val="100"/>
              </a:spcBef>
            </a:pPr>
            <a:r>
              <a:rPr sz="1450" i="1" spc="45" dirty="0">
                <a:solidFill>
                  <a:srgbClr val="24292E"/>
                </a:solidFill>
                <a:latin typeface="Times New Roman"/>
                <a:cs typeface="Times New Roman"/>
              </a:rPr>
              <a:t>P </a:t>
            </a:r>
            <a:r>
              <a:rPr sz="1450" spc="40" dirty="0">
                <a:solidFill>
                  <a:srgbClr val="24292E"/>
                </a:solidFill>
                <a:latin typeface="Cambria"/>
                <a:cs typeface="Cambria"/>
              </a:rPr>
              <a:t>(</a:t>
            </a:r>
            <a:r>
              <a:rPr sz="1450" i="1" spc="40" dirty="0">
                <a:solidFill>
                  <a:srgbClr val="24292E"/>
                </a:solidFill>
                <a:latin typeface="Times New Roman"/>
                <a:cs typeface="Times New Roman"/>
              </a:rPr>
              <a:t>w</a:t>
            </a:r>
            <a:r>
              <a:rPr sz="1450" spc="40" dirty="0">
                <a:solidFill>
                  <a:srgbClr val="24292E"/>
                </a:solidFill>
                <a:latin typeface="Cambria"/>
                <a:cs typeface="Cambria"/>
              </a:rPr>
              <a:t>) </a:t>
            </a:r>
            <a:r>
              <a:rPr sz="1450" spc="325" dirty="0">
                <a:solidFill>
                  <a:srgbClr val="24292E"/>
                </a:solidFill>
                <a:latin typeface="Cambria"/>
                <a:cs typeface="Cambria"/>
              </a:rPr>
              <a:t>=</a:t>
            </a:r>
            <a:r>
              <a:rPr sz="1450" spc="-165" dirty="0">
                <a:solidFill>
                  <a:srgbClr val="24292E"/>
                </a:solidFill>
                <a:latin typeface="Cambria"/>
                <a:cs typeface="Cambria"/>
              </a:rPr>
              <a:t> </a:t>
            </a:r>
            <a:r>
              <a:rPr sz="1450" spc="175" dirty="0">
                <a:solidFill>
                  <a:srgbClr val="24292E"/>
                </a:solidFill>
                <a:latin typeface="Arial"/>
                <a:cs typeface="Arial"/>
              </a:rPr>
              <a:t>∏</a:t>
            </a:r>
            <a:endParaRPr sz="1450">
              <a:latin typeface="Arial"/>
              <a:cs typeface="Arial"/>
            </a:endParaRPr>
          </a:p>
        </p:txBody>
      </p:sp>
      <p:sp>
        <p:nvSpPr>
          <p:cNvPr id="6" name="object 6"/>
          <p:cNvSpPr txBox="1"/>
          <p:nvPr/>
        </p:nvSpPr>
        <p:spPr>
          <a:xfrm>
            <a:off x="1670248" y="1198086"/>
            <a:ext cx="738505" cy="180340"/>
          </a:xfrm>
          <a:prstGeom prst="rect">
            <a:avLst/>
          </a:prstGeom>
        </p:spPr>
        <p:txBody>
          <a:bodyPr vert="horz" wrap="square" lIns="0" tIns="14604" rIns="0" bIns="0" rtlCol="0">
            <a:spAutoFit/>
          </a:bodyPr>
          <a:lstStyle/>
          <a:p>
            <a:pPr marL="12700">
              <a:lnSpc>
                <a:spcPct val="100000"/>
              </a:lnSpc>
              <a:spcBef>
                <a:spcPts val="114"/>
              </a:spcBef>
              <a:tabLst>
                <a:tab pos="494665" algn="l"/>
              </a:tabLst>
            </a:pPr>
            <a:r>
              <a:rPr sz="1000" i="1" spc="100" dirty="0">
                <a:solidFill>
                  <a:srgbClr val="24292E"/>
                </a:solidFill>
                <a:latin typeface="Times New Roman"/>
                <a:cs typeface="Times New Roman"/>
              </a:rPr>
              <a:t>n</a:t>
            </a:r>
            <a:r>
              <a:rPr sz="1000" spc="229" dirty="0">
                <a:solidFill>
                  <a:srgbClr val="24292E"/>
                </a:solidFill>
                <a:latin typeface="Cambria"/>
                <a:cs typeface="Cambria"/>
              </a:rPr>
              <a:t>=</a:t>
            </a:r>
            <a:r>
              <a:rPr sz="1000" spc="-50" dirty="0">
                <a:solidFill>
                  <a:srgbClr val="24292E"/>
                </a:solidFill>
                <a:latin typeface="Cambria"/>
                <a:cs typeface="Cambria"/>
              </a:rPr>
              <a:t>1</a:t>
            </a:r>
            <a:r>
              <a:rPr sz="1000" dirty="0">
                <a:solidFill>
                  <a:srgbClr val="24292E"/>
                </a:solidFill>
                <a:latin typeface="Cambria"/>
                <a:cs typeface="Cambria"/>
              </a:rPr>
              <a:t>	</a:t>
            </a:r>
            <a:r>
              <a:rPr sz="1000" i="1" spc="120" dirty="0">
                <a:solidFill>
                  <a:srgbClr val="24292E"/>
                </a:solidFill>
                <a:latin typeface="Times New Roman"/>
                <a:cs typeface="Times New Roman"/>
              </a:rPr>
              <a:t>z</a:t>
            </a:r>
            <a:r>
              <a:rPr sz="1000" spc="229" dirty="0">
                <a:solidFill>
                  <a:srgbClr val="24292E"/>
                </a:solidFill>
                <a:latin typeface="Cambria"/>
                <a:cs typeface="Cambria"/>
              </a:rPr>
              <a:t>=</a:t>
            </a:r>
            <a:r>
              <a:rPr sz="1000" spc="-50" dirty="0">
                <a:solidFill>
                  <a:srgbClr val="24292E"/>
                </a:solidFill>
                <a:latin typeface="Cambria"/>
                <a:cs typeface="Cambria"/>
              </a:rPr>
              <a:t>1</a:t>
            </a:r>
            <a:endParaRPr sz="1000">
              <a:latin typeface="Cambria"/>
              <a:cs typeface="Cambria"/>
            </a:endParaRPr>
          </a:p>
        </p:txBody>
      </p:sp>
      <p:sp>
        <p:nvSpPr>
          <p:cNvPr id="7" name="object 7"/>
          <p:cNvSpPr txBox="1"/>
          <p:nvPr/>
        </p:nvSpPr>
        <p:spPr>
          <a:xfrm>
            <a:off x="1670248" y="1045686"/>
            <a:ext cx="617855" cy="180340"/>
          </a:xfrm>
          <a:prstGeom prst="rect">
            <a:avLst/>
          </a:prstGeom>
        </p:spPr>
        <p:txBody>
          <a:bodyPr vert="horz" wrap="square" lIns="0" tIns="14604" rIns="0" bIns="0" rtlCol="0">
            <a:spAutoFit/>
          </a:bodyPr>
          <a:lstStyle/>
          <a:p>
            <a:pPr marL="12700">
              <a:lnSpc>
                <a:spcPct val="100000"/>
              </a:lnSpc>
              <a:spcBef>
                <a:spcPts val="114"/>
              </a:spcBef>
              <a:tabLst>
                <a:tab pos="494665" algn="l"/>
              </a:tabLst>
            </a:pPr>
            <a:r>
              <a:rPr sz="1000" i="1" spc="145" dirty="0">
                <a:solidFill>
                  <a:srgbClr val="24292E"/>
                </a:solidFill>
                <a:latin typeface="Times New Roman"/>
                <a:cs typeface="Times New Roman"/>
              </a:rPr>
              <a:t>N	</a:t>
            </a:r>
            <a:r>
              <a:rPr sz="1000" i="1" spc="195" dirty="0">
                <a:solidFill>
                  <a:srgbClr val="24292E"/>
                </a:solidFill>
                <a:latin typeface="Times New Roman"/>
                <a:cs typeface="Times New Roman"/>
              </a:rPr>
              <a:t>K</a:t>
            </a:r>
            <a:endParaRPr sz="1000">
              <a:latin typeface="Times New Roman"/>
              <a:cs typeface="Times New Roman"/>
            </a:endParaRPr>
          </a:p>
        </p:txBody>
      </p:sp>
      <p:sp>
        <p:nvSpPr>
          <p:cNvPr id="8" name="object 8"/>
          <p:cNvSpPr txBox="1"/>
          <p:nvPr/>
        </p:nvSpPr>
        <p:spPr>
          <a:xfrm>
            <a:off x="1932682" y="1085595"/>
            <a:ext cx="2317750" cy="247015"/>
          </a:xfrm>
          <a:prstGeom prst="rect">
            <a:avLst/>
          </a:prstGeom>
        </p:spPr>
        <p:txBody>
          <a:bodyPr vert="horz" wrap="square" lIns="0" tIns="12700" rIns="0" bIns="0" rtlCol="0">
            <a:spAutoFit/>
          </a:bodyPr>
          <a:lstStyle/>
          <a:p>
            <a:pPr marL="38100">
              <a:lnSpc>
                <a:spcPct val="100000"/>
              </a:lnSpc>
              <a:spcBef>
                <a:spcPts val="100"/>
              </a:spcBef>
              <a:tabLst>
                <a:tab pos="510540" algn="l"/>
              </a:tabLst>
            </a:pPr>
            <a:r>
              <a:rPr sz="1450" spc="495" dirty="0">
                <a:solidFill>
                  <a:srgbClr val="24292E"/>
                </a:solidFill>
                <a:latin typeface="Arial"/>
                <a:cs typeface="Arial"/>
              </a:rPr>
              <a:t>∑	</a:t>
            </a:r>
            <a:r>
              <a:rPr sz="1450" i="1" spc="45" dirty="0">
                <a:solidFill>
                  <a:srgbClr val="24292E"/>
                </a:solidFill>
                <a:latin typeface="Times New Roman"/>
                <a:cs typeface="Times New Roman"/>
              </a:rPr>
              <a:t>P </a:t>
            </a:r>
            <a:r>
              <a:rPr sz="1450" spc="60" dirty="0">
                <a:solidFill>
                  <a:srgbClr val="24292E"/>
                </a:solidFill>
                <a:latin typeface="Cambria"/>
                <a:cs typeface="Cambria"/>
              </a:rPr>
              <a:t>(</a:t>
            </a:r>
            <a:r>
              <a:rPr sz="1450" i="1" spc="60" dirty="0">
                <a:solidFill>
                  <a:srgbClr val="24292E"/>
                </a:solidFill>
                <a:latin typeface="Times New Roman"/>
                <a:cs typeface="Times New Roman"/>
              </a:rPr>
              <a:t>w</a:t>
            </a:r>
            <a:r>
              <a:rPr sz="1500" i="1" spc="89" baseline="-13888" dirty="0">
                <a:solidFill>
                  <a:srgbClr val="24292E"/>
                </a:solidFill>
                <a:latin typeface="Times New Roman"/>
                <a:cs typeface="Times New Roman"/>
              </a:rPr>
              <a:t>n </a:t>
            </a:r>
            <a:r>
              <a:rPr sz="1450" spc="-25" dirty="0">
                <a:solidFill>
                  <a:srgbClr val="24292E"/>
                </a:solidFill>
                <a:latin typeface="Cambria"/>
                <a:cs typeface="Cambria"/>
              </a:rPr>
              <a:t>∣ </a:t>
            </a:r>
            <a:r>
              <a:rPr sz="1450" i="1" spc="95" dirty="0">
                <a:solidFill>
                  <a:srgbClr val="24292E"/>
                </a:solidFill>
                <a:latin typeface="Times New Roman"/>
                <a:cs typeface="Times New Roman"/>
              </a:rPr>
              <a:t>z</a:t>
            </a:r>
            <a:r>
              <a:rPr sz="1450" spc="95" dirty="0">
                <a:solidFill>
                  <a:srgbClr val="24292E"/>
                </a:solidFill>
                <a:latin typeface="Cambria"/>
                <a:cs typeface="Cambria"/>
              </a:rPr>
              <a:t>; </a:t>
            </a:r>
            <a:r>
              <a:rPr sz="1450" i="1" spc="50" dirty="0">
                <a:solidFill>
                  <a:srgbClr val="24292E"/>
                </a:solidFill>
                <a:latin typeface="Times New Roman"/>
                <a:cs typeface="Times New Roman"/>
              </a:rPr>
              <a:t>ϕ</a:t>
            </a:r>
            <a:r>
              <a:rPr sz="1450" spc="50" dirty="0">
                <a:solidFill>
                  <a:srgbClr val="24292E"/>
                </a:solidFill>
                <a:latin typeface="Cambria"/>
                <a:cs typeface="Cambria"/>
              </a:rPr>
              <a:t>)</a:t>
            </a:r>
            <a:r>
              <a:rPr sz="1450" i="1" spc="50" dirty="0">
                <a:solidFill>
                  <a:srgbClr val="24292E"/>
                </a:solidFill>
                <a:latin typeface="Times New Roman"/>
                <a:cs typeface="Times New Roman"/>
              </a:rPr>
              <a:t>P </a:t>
            </a:r>
            <a:r>
              <a:rPr sz="1450" spc="55" dirty="0">
                <a:solidFill>
                  <a:srgbClr val="24292E"/>
                </a:solidFill>
                <a:latin typeface="Cambria"/>
                <a:cs typeface="Cambria"/>
              </a:rPr>
              <a:t>(</a:t>
            </a:r>
            <a:r>
              <a:rPr sz="1450" i="1" spc="55" dirty="0">
                <a:solidFill>
                  <a:srgbClr val="24292E"/>
                </a:solidFill>
                <a:latin typeface="Times New Roman"/>
                <a:cs typeface="Times New Roman"/>
              </a:rPr>
              <a:t>z </a:t>
            </a:r>
            <a:r>
              <a:rPr sz="1450" spc="-25" dirty="0">
                <a:solidFill>
                  <a:srgbClr val="24292E"/>
                </a:solidFill>
                <a:latin typeface="Cambria"/>
                <a:cs typeface="Cambria"/>
              </a:rPr>
              <a:t>∣ </a:t>
            </a:r>
            <a:r>
              <a:rPr sz="1450" i="1" spc="20" dirty="0">
                <a:solidFill>
                  <a:srgbClr val="24292E"/>
                </a:solidFill>
                <a:latin typeface="Times New Roman"/>
                <a:cs typeface="Times New Roman"/>
              </a:rPr>
              <a:t>d</a:t>
            </a:r>
            <a:r>
              <a:rPr sz="1450" spc="20" dirty="0">
                <a:solidFill>
                  <a:srgbClr val="24292E"/>
                </a:solidFill>
                <a:latin typeface="Cambria"/>
                <a:cs typeface="Cambria"/>
              </a:rPr>
              <a:t>;</a:t>
            </a:r>
            <a:r>
              <a:rPr sz="1450" spc="-250" dirty="0">
                <a:solidFill>
                  <a:srgbClr val="24292E"/>
                </a:solidFill>
                <a:latin typeface="Cambria"/>
                <a:cs typeface="Cambria"/>
              </a:rPr>
              <a:t> </a:t>
            </a:r>
            <a:r>
              <a:rPr sz="1450" i="1" spc="5" dirty="0">
                <a:solidFill>
                  <a:srgbClr val="24292E"/>
                </a:solidFill>
                <a:latin typeface="Times New Roman"/>
                <a:cs typeface="Times New Roman"/>
              </a:rPr>
              <a:t>θ</a:t>
            </a:r>
            <a:r>
              <a:rPr sz="1450" spc="5" dirty="0">
                <a:solidFill>
                  <a:srgbClr val="24292E"/>
                </a:solidFill>
                <a:latin typeface="Cambria"/>
                <a:cs typeface="Cambria"/>
              </a:rPr>
              <a:t>)</a:t>
            </a:r>
            <a:endParaRPr sz="1450">
              <a:latin typeface="Cambria"/>
              <a:cs typeface="Cambria"/>
            </a:endParaRPr>
          </a:p>
        </p:txBody>
      </p:sp>
      <p:sp>
        <p:nvSpPr>
          <p:cNvPr id="9" name="object 9"/>
          <p:cNvSpPr txBox="1"/>
          <p:nvPr/>
        </p:nvSpPr>
        <p:spPr>
          <a:xfrm>
            <a:off x="482600" y="1965325"/>
            <a:ext cx="8170545" cy="1480277"/>
          </a:xfrm>
          <a:prstGeom prst="rect">
            <a:avLst/>
          </a:prstGeom>
        </p:spPr>
        <p:txBody>
          <a:bodyPr vert="horz" wrap="square" lIns="0" tIns="12700" rIns="0" bIns="0" rtlCol="0">
            <a:spAutoFit/>
          </a:bodyPr>
          <a:lstStyle/>
          <a:p>
            <a:pPr marL="50800">
              <a:lnSpc>
                <a:spcPct val="100000"/>
              </a:lnSpc>
              <a:spcBef>
                <a:spcPts val="100"/>
              </a:spcBef>
            </a:pPr>
            <a:r>
              <a:rPr sz="1800" b="1" dirty="0">
                <a:solidFill>
                  <a:srgbClr val="24292E"/>
                </a:solidFill>
                <a:latin typeface="微软雅黑"/>
                <a:cs typeface="微软雅黑"/>
              </a:rPr>
              <a:t>二、</a:t>
            </a:r>
            <a:r>
              <a:rPr sz="1800" b="1" dirty="0">
                <a:solidFill>
                  <a:srgbClr val="24292E"/>
                </a:solidFill>
                <a:latin typeface="Segoe UI Semibold"/>
                <a:cs typeface="Segoe UI Semibold"/>
              </a:rPr>
              <a:t>Dirichlet</a:t>
            </a:r>
            <a:r>
              <a:rPr sz="1800" b="1" spc="-5" dirty="0">
                <a:solidFill>
                  <a:srgbClr val="24292E"/>
                </a:solidFill>
                <a:latin typeface="Segoe UI Semibold"/>
                <a:cs typeface="Segoe UI Semibold"/>
              </a:rPr>
              <a:t> </a:t>
            </a:r>
            <a:r>
              <a:rPr sz="1800" b="1" dirty="0">
                <a:solidFill>
                  <a:srgbClr val="24292E"/>
                </a:solidFill>
                <a:latin typeface="Segoe UI Semibold"/>
                <a:cs typeface="Segoe UI Semibold"/>
              </a:rPr>
              <a:t>Distribution</a:t>
            </a:r>
            <a:r>
              <a:rPr sz="1800" b="1" dirty="0">
                <a:solidFill>
                  <a:srgbClr val="24292E"/>
                </a:solidFill>
                <a:latin typeface="微软雅黑"/>
                <a:cs typeface="微软雅黑"/>
              </a:rPr>
              <a:t>概述</a:t>
            </a:r>
            <a:endParaRPr sz="1800">
              <a:latin typeface="微软雅黑"/>
              <a:cs typeface="微软雅黑"/>
            </a:endParaRPr>
          </a:p>
          <a:p>
            <a:pPr>
              <a:lnSpc>
                <a:spcPct val="100000"/>
              </a:lnSpc>
            </a:pPr>
            <a:endParaRPr sz="1350">
              <a:latin typeface="微软雅黑"/>
              <a:cs typeface="微软雅黑"/>
            </a:endParaRPr>
          </a:p>
          <a:p>
            <a:pPr marL="50800">
              <a:lnSpc>
                <a:spcPct val="100000"/>
              </a:lnSpc>
            </a:pPr>
            <a:r>
              <a:rPr sz="1500" b="1" dirty="0">
                <a:solidFill>
                  <a:srgbClr val="24292E"/>
                </a:solidFill>
                <a:latin typeface="微软雅黑"/>
                <a:cs typeface="微软雅黑"/>
              </a:rPr>
              <a:t>密度函数</a:t>
            </a:r>
            <a:endParaRPr sz="1500">
              <a:latin typeface="微软雅黑"/>
              <a:cs typeface="微软雅黑"/>
            </a:endParaRPr>
          </a:p>
          <a:p>
            <a:pPr marL="50800" marR="43180">
              <a:lnSpc>
                <a:spcPct val="122100"/>
              </a:lnSpc>
              <a:spcBef>
                <a:spcPts val="715"/>
              </a:spcBef>
            </a:pPr>
            <a:r>
              <a:rPr sz="1200" dirty="0">
                <a:solidFill>
                  <a:srgbClr val="24292E"/>
                </a:solidFill>
                <a:latin typeface="微软雅黑"/>
                <a:cs typeface="微软雅黑"/>
              </a:rPr>
              <a:t>狄利克雷分布</a:t>
            </a:r>
            <a:r>
              <a:rPr sz="1200" spc="-40" dirty="0">
                <a:solidFill>
                  <a:srgbClr val="24292E"/>
                </a:solidFill>
                <a:latin typeface="微软雅黑"/>
                <a:cs typeface="微软雅黑"/>
              </a:rPr>
              <a:t> </a:t>
            </a:r>
            <a:r>
              <a:rPr sz="1450" spc="55" dirty="0">
                <a:solidFill>
                  <a:srgbClr val="24292E"/>
                </a:solidFill>
                <a:latin typeface="Cambria"/>
                <a:cs typeface="Cambria"/>
              </a:rPr>
              <a:t>Dir(</a:t>
            </a:r>
            <a:r>
              <a:rPr sz="1450" b="1" i="1" spc="55" dirty="0">
                <a:solidFill>
                  <a:srgbClr val="24292E"/>
                </a:solidFill>
                <a:latin typeface="Arial"/>
                <a:cs typeface="Arial"/>
              </a:rPr>
              <a:t>α</a:t>
            </a:r>
            <a:r>
              <a:rPr sz="1450" spc="55" dirty="0">
                <a:solidFill>
                  <a:srgbClr val="24292E"/>
                </a:solidFill>
                <a:latin typeface="Cambria"/>
                <a:cs typeface="Cambria"/>
              </a:rPr>
              <a:t>)</a:t>
            </a:r>
            <a:r>
              <a:rPr sz="1450" dirty="0">
                <a:solidFill>
                  <a:srgbClr val="24292E"/>
                </a:solidFill>
                <a:latin typeface="Cambria"/>
                <a:cs typeface="Cambria"/>
              </a:rPr>
              <a:t> </a:t>
            </a:r>
            <a:r>
              <a:rPr sz="1200" dirty="0">
                <a:solidFill>
                  <a:srgbClr val="24292E"/>
                </a:solidFill>
                <a:latin typeface="微软雅黑"/>
                <a:cs typeface="微软雅黑"/>
              </a:rPr>
              <a:t>是定义在</a:t>
            </a:r>
            <a:r>
              <a:rPr sz="1200" spc="-40" dirty="0">
                <a:solidFill>
                  <a:srgbClr val="24292E"/>
                </a:solidFill>
                <a:latin typeface="微软雅黑"/>
                <a:cs typeface="微软雅黑"/>
              </a:rPr>
              <a:t> </a:t>
            </a:r>
            <a:r>
              <a:rPr sz="1450" i="1" spc="265" dirty="0">
                <a:solidFill>
                  <a:srgbClr val="24292E"/>
                </a:solidFill>
                <a:latin typeface="Times New Roman"/>
                <a:cs typeface="Times New Roman"/>
              </a:rPr>
              <a:t>K</a:t>
            </a:r>
            <a:r>
              <a:rPr sz="1450" i="1" spc="50" dirty="0">
                <a:solidFill>
                  <a:srgbClr val="24292E"/>
                </a:solidFill>
                <a:latin typeface="Times New Roman"/>
                <a:cs typeface="Times New Roman"/>
              </a:rPr>
              <a:t> </a:t>
            </a:r>
            <a:r>
              <a:rPr sz="1450" spc="325" dirty="0">
                <a:solidFill>
                  <a:srgbClr val="24292E"/>
                </a:solidFill>
                <a:latin typeface="Cambria"/>
                <a:cs typeface="Cambria"/>
              </a:rPr>
              <a:t>−</a:t>
            </a:r>
            <a:r>
              <a:rPr sz="1450" spc="-5" dirty="0">
                <a:solidFill>
                  <a:srgbClr val="24292E"/>
                </a:solidFill>
                <a:latin typeface="Cambria"/>
                <a:cs typeface="Cambria"/>
              </a:rPr>
              <a:t> </a:t>
            </a:r>
            <a:r>
              <a:rPr sz="1450" spc="-80">
                <a:solidFill>
                  <a:srgbClr val="24292E"/>
                </a:solidFill>
                <a:latin typeface="Cambria"/>
                <a:cs typeface="Cambria"/>
              </a:rPr>
              <a:t>1</a:t>
            </a:r>
            <a:r>
              <a:rPr sz="1450">
                <a:solidFill>
                  <a:srgbClr val="24292E"/>
                </a:solidFill>
                <a:latin typeface="Cambria"/>
                <a:cs typeface="Cambria"/>
              </a:rPr>
              <a:t> </a:t>
            </a:r>
            <a:r>
              <a:rPr sz="1200">
                <a:solidFill>
                  <a:srgbClr val="24292E"/>
                </a:solidFill>
                <a:latin typeface="微软雅黑"/>
                <a:cs typeface="微软雅黑"/>
              </a:rPr>
              <a:t>维</a:t>
            </a:r>
            <a:r>
              <a:rPr lang="zh-CN" altLang="en-US" sz="1200">
                <a:solidFill>
                  <a:srgbClr val="24292E"/>
                </a:solidFill>
                <a:latin typeface="微软雅黑"/>
                <a:cs typeface="微软雅黑"/>
              </a:rPr>
              <a:t>空间</a:t>
            </a:r>
            <a:r>
              <a:rPr sz="1200">
                <a:solidFill>
                  <a:srgbClr val="24292E"/>
                </a:solidFill>
                <a:latin typeface="微软雅黑"/>
                <a:cs typeface="微软雅黑"/>
              </a:rPr>
              <a:t>上的连续概率分布</a:t>
            </a:r>
            <a:r>
              <a:rPr sz="1200" dirty="0">
                <a:solidFill>
                  <a:srgbClr val="24292E"/>
                </a:solidFill>
                <a:latin typeface="微软雅黑"/>
                <a:cs typeface="微软雅黑"/>
              </a:rPr>
              <a:t>，</a:t>
            </a:r>
            <a:r>
              <a:rPr sz="1200">
                <a:solidFill>
                  <a:srgbClr val="24292E"/>
                </a:solidFill>
                <a:latin typeface="微软雅黑"/>
                <a:cs typeface="微软雅黑"/>
              </a:rPr>
              <a:t>是</a:t>
            </a:r>
            <a:r>
              <a:rPr sz="1200" spc="-35">
                <a:solidFill>
                  <a:srgbClr val="24292E"/>
                </a:solidFill>
                <a:latin typeface="微软雅黑"/>
                <a:cs typeface="微软雅黑"/>
              </a:rPr>
              <a:t> </a:t>
            </a:r>
            <a:r>
              <a:rPr sz="1200">
                <a:solidFill>
                  <a:srgbClr val="24292E"/>
                </a:solidFill>
                <a:latin typeface="Segoe UI"/>
                <a:cs typeface="Segoe UI"/>
              </a:rPr>
              <a:t>Beta</a:t>
            </a:r>
            <a:r>
              <a:rPr sz="1200" spc="-10">
                <a:solidFill>
                  <a:srgbClr val="24292E"/>
                </a:solidFill>
                <a:latin typeface="Segoe UI"/>
                <a:cs typeface="Segoe UI"/>
              </a:rPr>
              <a:t> </a:t>
            </a:r>
            <a:r>
              <a:rPr sz="1200" dirty="0">
                <a:solidFill>
                  <a:srgbClr val="24292E"/>
                </a:solidFill>
                <a:latin typeface="微软雅黑"/>
                <a:cs typeface="微软雅黑"/>
              </a:rPr>
              <a:t>分布在多元</a:t>
            </a:r>
            <a:r>
              <a:rPr sz="1200" spc="130" dirty="0">
                <a:solidFill>
                  <a:srgbClr val="24292E"/>
                </a:solidFill>
                <a:latin typeface="微软雅黑"/>
                <a:cs typeface="微软雅黑"/>
              </a:rPr>
              <a:t>（</a:t>
            </a:r>
            <a:r>
              <a:rPr sz="1450" i="1" spc="130" dirty="0">
                <a:solidFill>
                  <a:srgbClr val="24292E"/>
                </a:solidFill>
                <a:latin typeface="Times New Roman"/>
                <a:cs typeface="Times New Roman"/>
              </a:rPr>
              <a:t>K</a:t>
            </a:r>
            <a:r>
              <a:rPr sz="1450" i="1" spc="55" dirty="0">
                <a:solidFill>
                  <a:srgbClr val="24292E"/>
                </a:solidFill>
                <a:latin typeface="Times New Roman"/>
                <a:cs typeface="Times New Roman"/>
              </a:rPr>
              <a:t> </a:t>
            </a:r>
            <a:r>
              <a:rPr sz="1200" dirty="0">
                <a:solidFill>
                  <a:srgbClr val="24292E"/>
                </a:solidFill>
                <a:latin typeface="微软雅黑"/>
                <a:cs typeface="微软雅黑"/>
              </a:rPr>
              <a:t>元）情况下的 推广。</a:t>
            </a:r>
            <a:endParaRPr sz="1200">
              <a:latin typeface="微软雅黑"/>
              <a:cs typeface="微软雅黑"/>
            </a:endParaRPr>
          </a:p>
          <a:p>
            <a:pPr marL="50800">
              <a:lnSpc>
                <a:spcPct val="100000"/>
              </a:lnSpc>
              <a:spcBef>
                <a:spcPts val="1310"/>
              </a:spcBef>
            </a:pPr>
            <a:r>
              <a:rPr sz="1200" dirty="0">
                <a:solidFill>
                  <a:srgbClr val="24292E"/>
                </a:solidFill>
                <a:latin typeface="微软雅黑"/>
                <a:cs typeface="微软雅黑"/>
              </a:rPr>
              <a:t>假设随机向量</a:t>
            </a:r>
            <a:r>
              <a:rPr sz="1200" spc="-30" dirty="0">
                <a:solidFill>
                  <a:srgbClr val="24292E"/>
                </a:solidFill>
                <a:latin typeface="微软雅黑"/>
                <a:cs typeface="微软雅黑"/>
              </a:rPr>
              <a:t> </a:t>
            </a:r>
            <a:r>
              <a:rPr sz="1450" b="1" i="1" spc="5" dirty="0">
                <a:solidFill>
                  <a:srgbClr val="24292E"/>
                </a:solidFill>
                <a:latin typeface="Arial"/>
                <a:cs typeface="Arial"/>
              </a:rPr>
              <a:t>θ</a:t>
            </a:r>
            <a:r>
              <a:rPr sz="1450" b="1" i="1" spc="45" dirty="0">
                <a:solidFill>
                  <a:srgbClr val="24292E"/>
                </a:solidFill>
                <a:latin typeface="Arial"/>
                <a:cs typeface="Arial"/>
              </a:rPr>
              <a:t> </a:t>
            </a:r>
            <a:r>
              <a:rPr sz="1450" spc="325" dirty="0">
                <a:solidFill>
                  <a:srgbClr val="24292E"/>
                </a:solidFill>
                <a:latin typeface="Cambria"/>
                <a:cs typeface="Cambria"/>
              </a:rPr>
              <a:t>=</a:t>
            </a:r>
            <a:r>
              <a:rPr sz="1450" spc="85" dirty="0">
                <a:solidFill>
                  <a:srgbClr val="24292E"/>
                </a:solidFill>
                <a:latin typeface="Cambria"/>
                <a:cs typeface="Cambria"/>
              </a:rPr>
              <a:t> </a:t>
            </a:r>
            <a:r>
              <a:rPr sz="1450" spc="-30" dirty="0">
                <a:solidFill>
                  <a:srgbClr val="24292E"/>
                </a:solidFill>
                <a:latin typeface="Cambria"/>
                <a:cs typeface="Cambria"/>
              </a:rPr>
              <a:t>(</a:t>
            </a:r>
            <a:r>
              <a:rPr sz="1450" i="1" spc="-30" dirty="0">
                <a:solidFill>
                  <a:srgbClr val="24292E"/>
                </a:solidFill>
                <a:latin typeface="Times New Roman"/>
                <a:cs typeface="Times New Roman"/>
              </a:rPr>
              <a:t>θ</a:t>
            </a:r>
            <a:r>
              <a:rPr sz="1500" spc="-44" baseline="-13888" dirty="0">
                <a:solidFill>
                  <a:srgbClr val="24292E"/>
                </a:solidFill>
                <a:latin typeface="Cambria"/>
                <a:cs typeface="Cambria"/>
              </a:rPr>
              <a:t>1</a:t>
            </a:r>
            <a:r>
              <a:rPr sz="1500" spc="-135" baseline="-13888" dirty="0">
                <a:solidFill>
                  <a:srgbClr val="24292E"/>
                </a:solidFill>
                <a:latin typeface="Cambria"/>
                <a:cs typeface="Cambria"/>
              </a:rPr>
              <a:t> </a:t>
            </a:r>
            <a:r>
              <a:rPr sz="1450" spc="105" dirty="0">
                <a:solidFill>
                  <a:srgbClr val="24292E"/>
                </a:solidFill>
                <a:latin typeface="Cambria"/>
                <a:cs typeface="Cambria"/>
              </a:rPr>
              <a:t>,</a:t>
            </a:r>
            <a:r>
              <a:rPr sz="1450" spc="-80" dirty="0">
                <a:solidFill>
                  <a:srgbClr val="24292E"/>
                </a:solidFill>
                <a:latin typeface="Cambria"/>
                <a:cs typeface="Cambria"/>
              </a:rPr>
              <a:t> </a:t>
            </a:r>
            <a:r>
              <a:rPr sz="1450" i="1" spc="-45" dirty="0">
                <a:solidFill>
                  <a:srgbClr val="24292E"/>
                </a:solidFill>
                <a:latin typeface="Times New Roman"/>
                <a:cs typeface="Times New Roman"/>
              </a:rPr>
              <a:t>θ</a:t>
            </a:r>
            <a:r>
              <a:rPr sz="1500" spc="-67" baseline="-13888" dirty="0">
                <a:solidFill>
                  <a:srgbClr val="24292E"/>
                </a:solidFill>
                <a:latin typeface="Cambria"/>
                <a:cs typeface="Cambria"/>
              </a:rPr>
              <a:t>2</a:t>
            </a:r>
            <a:r>
              <a:rPr sz="1500" spc="-135" baseline="-13888" dirty="0">
                <a:solidFill>
                  <a:srgbClr val="24292E"/>
                </a:solidFill>
                <a:latin typeface="Cambria"/>
                <a:cs typeface="Cambria"/>
              </a:rPr>
              <a:t> </a:t>
            </a:r>
            <a:r>
              <a:rPr sz="1450" spc="105" dirty="0">
                <a:solidFill>
                  <a:srgbClr val="24292E"/>
                </a:solidFill>
                <a:latin typeface="Cambria"/>
                <a:cs typeface="Cambria"/>
              </a:rPr>
              <a:t>,</a:t>
            </a:r>
            <a:r>
              <a:rPr sz="1450" spc="-75" dirty="0">
                <a:solidFill>
                  <a:srgbClr val="24292E"/>
                </a:solidFill>
                <a:latin typeface="Cambria"/>
                <a:cs typeface="Cambria"/>
              </a:rPr>
              <a:t> </a:t>
            </a:r>
            <a:r>
              <a:rPr sz="1450" spc="610" dirty="0">
                <a:solidFill>
                  <a:srgbClr val="24292E"/>
                </a:solidFill>
                <a:latin typeface="Cambria"/>
                <a:cs typeface="Cambria"/>
              </a:rPr>
              <a:t>…</a:t>
            </a:r>
            <a:r>
              <a:rPr sz="1450" spc="-80" dirty="0">
                <a:solidFill>
                  <a:srgbClr val="24292E"/>
                </a:solidFill>
                <a:latin typeface="Cambria"/>
                <a:cs typeface="Cambria"/>
              </a:rPr>
              <a:t> </a:t>
            </a:r>
            <a:r>
              <a:rPr sz="1450" spc="105" dirty="0">
                <a:solidFill>
                  <a:srgbClr val="24292E"/>
                </a:solidFill>
                <a:latin typeface="Cambria"/>
                <a:cs typeface="Cambria"/>
              </a:rPr>
              <a:t>,</a:t>
            </a:r>
            <a:r>
              <a:rPr sz="1450" spc="-80" dirty="0">
                <a:solidFill>
                  <a:srgbClr val="24292E"/>
                </a:solidFill>
                <a:latin typeface="Cambria"/>
                <a:cs typeface="Cambria"/>
              </a:rPr>
              <a:t> </a:t>
            </a:r>
            <a:r>
              <a:rPr sz="1450" i="1" spc="75" dirty="0">
                <a:solidFill>
                  <a:srgbClr val="24292E"/>
                </a:solidFill>
                <a:latin typeface="Times New Roman"/>
                <a:cs typeface="Times New Roman"/>
              </a:rPr>
              <a:t>θ</a:t>
            </a:r>
            <a:r>
              <a:rPr sz="1500" i="1" spc="112" baseline="-13888" dirty="0">
                <a:solidFill>
                  <a:srgbClr val="24292E"/>
                </a:solidFill>
                <a:latin typeface="Times New Roman"/>
                <a:cs typeface="Times New Roman"/>
              </a:rPr>
              <a:t>K</a:t>
            </a:r>
            <a:r>
              <a:rPr sz="1500" i="1" spc="-150" baseline="-13888" dirty="0">
                <a:solidFill>
                  <a:srgbClr val="24292E"/>
                </a:solidFill>
                <a:latin typeface="Times New Roman"/>
                <a:cs typeface="Times New Roman"/>
              </a:rPr>
              <a:t> </a:t>
            </a:r>
            <a:r>
              <a:rPr sz="1450" spc="10" dirty="0">
                <a:solidFill>
                  <a:srgbClr val="24292E"/>
                </a:solidFill>
                <a:latin typeface="Cambria"/>
                <a:cs typeface="Cambria"/>
              </a:rPr>
              <a:t>)</a:t>
            </a:r>
            <a:r>
              <a:rPr sz="1450" spc="20" dirty="0">
                <a:solidFill>
                  <a:srgbClr val="24292E"/>
                </a:solidFill>
                <a:latin typeface="Cambria"/>
                <a:cs typeface="Cambria"/>
              </a:rPr>
              <a:t> </a:t>
            </a:r>
            <a:r>
              <a:rPr sz="1200" dirty="0">
                <a:solidFill>
                  <a:srgbClr val="24292E"/>
                </a:solidFill>
                <a:latin typeface="微软雅黑"/>
                <a:cs typeface="微软雅黑"/>
              </a:rPr>
              <a:t>服从</a:t>
            </a:r>
            <a:r>
              <a:rPr sz="1200" spc="-30" dirty="0">
                <a:solidFill>
                  <a:srgbClr val="24292E"/>
                </a:solidFill>
                <a:latin typeface="微软雅黑"/>
                <a:cs typeface="微软雅黑"/>
              </a:rPr>
              <a:t> </a:t>
            </a:r>
            <a:r>
              <a:rPr sz="1450" spc="25" dirty="0">
                <a:solidFill>
                  <a:srgbClr val="24292E"/>
                </a:solidFill>
                <a:latin typeface="Cambria"/>
                <a:cs typeface="Cambria"/>
              </a:rPr>
              <a:t>Dirichlet(</a:t>
            </a:r>
            <a:r>
              <a:rPr sz="1450" b="1" i="1" spc="25" dirty="0">
                <a:solidFill>
                  <a:srgbClr val="24292E"/>
                </a:solidFill>
                <a:latin typeface="Arial"/>
                <a:cs typeface="Arial"/>
              </a:rPr>
              <a:t>α</a:t>
            </a:r>
            <a:r>
              <a:rPr sz="1450" spc="25" dirty="0">
                <a:solidFill>
                  <a:srgbClr val="24292E"/>
                </a:solidFill>
                <a:latin typeface="Cambria"/>
                <a:cs typeface="Cambria"/>
              </a:rPr>
              <a:t>)</a:t>
            </a:r>
            <a:r>
              <a:rPr sz="1200" spc="25" dirty="0">
                <a:solidFill>
                  <a:srgbClr val="24292E"/>
                </a:solidFill>
                <a:latin typeface="微软雅黑"/>
                <a:cs typeface="微软雅黑"/>
              </a:rPr>
              <a:t>，</a:t>
            </a:r>
            <a:r>
              <a:rPr sz="1200" dirty="0">
                <a:solidFill>
                  <a:srgbClr val="24292E"/>
                </a:solidFill>
                <a:latin typeface="微软雅黑"/>
                <a:cs typeface="微软雅黑"/>
              </a:rPr>
              <a:t>其中</a:t>
            </a:r>
            <a:r>
              <a:rPr sz="1200" spc="-30" dirty="0">
                <a:solidFill>
                  <a:srgbClr val="24292E"/>
                </a:solidFill>
                <a:latin typeface="微软雅黑"/>
                <a:cs typeface="微软雅黑"/>
              </a:rPr>
              <a:t> </a:t>
            </a:r>
            <a:r>
              <a:rPr sz="1450" b="1" i="1" spc="204" dirty="0">
                <a:solidFill>
                  <a:srgbClr val="24292E"/>
                </a:solidFill>
                <a:latin typeface="Arial"/>
                <a:cs typeface="Arial"/>
              </a:rPr>
              <a:t>α</a:t>
            </a:r>
            <a:r>
              <a:rPr sz="1450" b="1" i="1" dirty="0">
                <a:solidFill>
                  <a:srgbClr val="24292E"/>
                </a:solidFill>
                <a:latin typeface="Arial"/>
                <a:cs typeface="Arial"/>
              </a:rPr>
              <a:t> </a:t>
            </a:r>
            <a:r>
              <a:rPr sz="1450" spc="325" dirty="0">
                <a:solidFill>
                  <a:srgbClr val="24292E"/>
                </a:solidFill>
                <a:latin typeface="Cambria"/>
                <a:cs typeface="Cambria"/>
              </a:rPr>
              <a:t>=</a:t>
            </a:r>
            <a:r>
              <a:rPr sz="1450" spc="85" dirty="0">
                <a:solidFill>
                  <a:srgbClr val="24292E"/>
                </a:solidFill>
                <a:latin typeface="Cambria"/>
                <a:cs typeface="Cambria"/>
              </a:rPr>
              <a:t> </a:t>
            </a:r>
            <a:r>
              <a:rPr sz="1450" spc="40" dirty="0">
                <a:solidFill>
                  <a:srgbClr val="24292E"/>
                </a:solidFill>
                <a:latin typeface="Cambria"/>
                <a:cs typeface="Cambria"/>
              </a:rPr>
              <a:t>(</a:t>
            </a:r>
            <a:r>
              <a:rPr sz="1450" i="1" spc="40" dirty="0">
                <a:solidFill>
                  <a:srgbClr val="24292E"/>
                </a:solidFill>
                <a:latin typeface="Times New Roman"/>
                <a:cs typeface="Times New Roman"/>
              </a:rPr>
              <a:t>α</a:t>
            </a:r>
            <a:r>
              <a:rPr sz="1500" spc="60" baseline="-13888" dirty="0">
                <a:solidFill>
                  <a:srgbClr val="24292E"/>
                </a:solidFill>
                <a:latin typeface="Cambria"/>
                <a:cs typeface="Cambria"/>
              </a:rPr>
              <a:t>1</a:t>
            </a:r>
            <a:r>
              <a:rPr sz="1500" spc="-187" baseline="-13888" dirty="0">
                <a:solidFill>
                  <a:srgbClr val="24292E"/>
                </a:solidFill>
                <a:latin typeface="Cambria"/>
                <a:cs typeface="Cambria"/>
              </a:rPr>
              <a:t> </a:t>
            </a:r>
            <a:r>
              <a:rPr sz="1450" spc="105" dirty="0">
                <a:solidFill>
                  <a:srgbClr val="24292E"/>
                </a:solidFill>
                <a:latin typeface="Cambria"/>
                <a:cs typeface="Cambria"/>
              </a:rPr>
              <a:t>,</a:t>
            </a:r>
            <a:r>
              <a:rPr sz="1450" spc="-80" dirty="0">
                <a:solidFill>
                  <a:srgbClr val="24292E"/>
                </a:solidFill>
                <a:latin typeface="Cambria"/>
                <a:cs typeface="Cambria"/>
              </a:rPr>
              <a:t> </a:t>
            </a:r>
            <a:r>
              <a:rPr sz="1450" i="1" spc="55" dirty="0">
                <a:solidFill>
                  <a:srgbClr val="24292E"/>
                </a:solidFill>
                <a:latin typeface="Times New Roman"/>
                <a:cs typeface="Times New Roman"/>
              </a:rPr>
              <a:t>α</a:t>
            </a:r>
            <a:r>
              <a:rPr sz="1500" spc="82" baseline="-13888" dirty="0">
                <a:solidFill>
                  <a:srgbClr val="24292E"/>
                </a:solidFill>
                <a:latin typeface="Cambria"/>
                <a:cs typeface="Cambria"/>
              </a:rPr>
              <a:t>2</a:t>
            </a:r>
            <a:r>
              <a:rPr sz="1500" spc="-187" baseline="-13888" dirty="0">
                <a:solidFill>
                  <a:srgbClr val="24292E"/>
                </a:solidFill>
                <a:latin typeface="Cambria"/>
                <a:cs typeface="Cambria"/>
              </a:rPr>
              <a:t> </a:t>
            </a:r>
            <a:r>
              <a:rPr sz="1450" spc="105" dirty="0">
                <a:solidFill>
                  <a:srgbClr val="24292E"/>
                </a:solidFill>
                <a:latin typeface="Cambria"/>
                <a:cs typeface="Cambria"/>
              </a:rPr>
              <a:t>,</a:t>
            </a:r>
            <a:r>
              <a:rPr sz="1450" spc="-80" dirty="0">
                <a:solidFill>
                  <a:srgbClr val="24292E"/>
                </a:solidFill>
                <a:latin typeface="Cambria"/>
                <a:cs typeface="Cambria"/>
              </a:rPr>
              <a:t> </a:t>
            </a:r>
            <a:r>
              <a:rPr sz="1450" spc="610" dirty="0">
                <a:solidFill>
                  <a:srgbClr val="24292E"/>
                </a:solidFill>
                <a:latin typeface="Cambria"/>
                <a:cs typeface="Cambria"/>
              </a:rPr>
              <a:t>…</a:t>
            </a:r>
            <a:r>
              <a:rPr sz="1450" spc="-80" dirty="0">
                <a:solidFill>
                  <a:srgbClr val="24292E"/>
                </a:solidFill>
                <a:latin typeface="Cambria"/>
                <a:cs typeface="Cambria"/>
              </a:rPr>
              <a:t> </a:t>
            </a:r>
            <a:r>
              <a:rPr sz="1450" spc="105" dirty="0">
                <a:solidFill>
                  <a:srgbClr val="24292E"/>
                </a:solidFill>
                <a:latin typeface="Cambria"/>
                <a:cs typeface="Cambria"/>
              </a:rPr>
              <a:t>,</a:t>
            </a:r>
            <a:r>
              <a:rPr sz="1450" spc="-75" dirty="0">
                <a:solidFill>
                  <a:srgbClr val="24292E"/>
                </a:solidFill>
                <a:latin typeface="Cambria"/>
                <a:cs typeface="Cambria"/>
              </a:rPr>
              <a:t> </a:t>
            </a:r>
            <a:r>
              <a:rPr sz="1450" i="1" spc="175" dirty="0">
                <a:solidFill>
                  <a:srgbClr val="24292E"/>
                </a:solidFill>
                <a:latin typeface="Times New Roman"/>
                <a:cs typeface="Times New Roman"/>
              </a:rPr>
              <a:t>α</a:t>
            </a:r>
            <a:r>
              <a:rPr sz="1500" i="1" spc="262" baseline="-13888" dirty="0">
                <a:solidFill>
                  <a:srgbClr val="24292E"/>
                </a:solidFill>
                <a:latin typeface="Times New Roman"/>
                <a:cs typeface="Times New Roman"/>
              </a:rPr>
              <a:t>K</a:t>
            </a:r>
            <a:r>
              <a:rPr sz="1500" i="1" spc="-89" baseline="-13888" dirty="0">
                <a:solidFill>
                  <a:srgbClr val="24292E"/>
                </a:solidFill>
                <a:latin typeface="Times New Roman"/>
                <a:cs typeface="Times New Roman"/>
              </a:rPr>
              <a:t> </a:t>
            </a:r>
            <a:r>
              <a:rPr sz="1450" spc="10" dirty="0">
                <a:solidFill>
                  <a:srgbClr val="24292E"/>
                </a:solidFill>
                <a:latin typeface="Cambria"/>
                <a:cs typeface="Cambria"/>
              </a:rPr>
              <a:t>)</a:t>
            </a:r>
            <a:r>
              <a:rPr sz="1450" spc="20" dirty="0">
                <a:solidFill>
                  <a:srgbClr val="24292E"/>
                </a:solidFill>
                <a:latin typeface="Cambria"/>
                <a:cs typeface="Cambria"/>
              </a:rPr>
              <a:t> </a:t>
            </a:r>
            <a:r>
              <a:rPr sz="1200" dirty="0">
                <a:solidFill>
                  <a:srgbClr val="24292E"/>
                </a:solidFill>
                <a:latin typeface="微软雅黑"/>
                <a:cs typeface="微软雅黑"/>
              </a:rPr>
              <a:t>是超参数，且</a:t>
            </a:r>
            <a:r>
              <a:rPr sz="1200" spc="-30" dirty="0">
                <a:solidFill>
                  <a:srgbClr val="24292E"/>
                </a:solidFill>
                <a:latin typeface="微软雅黑"/>
                <a:cs typeface="微软雅黑"/>
              </a:rPr>
              <a:t> </a:t>
            </a:r>
            <a:r>
              <a:rPr sz="1450" i="1" spc="120" dirty="0">
                <a:solidFill>
                  <a:srgbClr val="24292E"/>
                </a:solidFill>
                <a:latin typeface="Times New Roman"/>
                <a:cs typeface="Times New Roman"/>
              </a:rPr>
              <a:t>α</a:t>
            </a:r>
            <a:r>
              <a:rPr sz="1500" i="1" spc="179" baseline="-13888" dirty="0">
                <a:solidFill>
                  <a:srgbClr val="24292E"/>
                </a:solidFill>
                <a:latin typeface="Times New Roman"/>
                <a:cs typeface="Times New Roman"/>
              </a:rPr>
              <a:t>k</a:t>
            </a:r>
            <a:r>
              <a:rPr sz="1500" i="1" spc="450" baseline="-13888" dirty="0">
                <a:solidFill>
                  <a:srgbClr val="24292E"/>
                </a:solidFill>
                <a:latin typeface="Times New Roman"/>
                <a:cs typeface="Times New Roman"/>
              </a:rPr>
              <a:t> </a:t>
            </a:r>
            <a:r>
              <a:rPr sz="1450" spc="325" dirty="0">
                <a:solidFill>
                  <a:srgbClr val="24292E"/>
                </a:solidFill>
                <a:latin typeface="Cambria"/>
                <a:cs typeface="Cambria"/>
              </a:rPr>
              <a:t>&gt;</a:t>
            </a:r>
            <a:r>
              <a:rPr sz="1450" spc="90" dirty="0">
                <a:solidFill>
                  <a:srgbClr val="24292E"/>
                </a:solidFill>
                <a:latin typeface="Cambria"/>
                <a:cs typeface="Cambria"/>
              </a:rPr>
              <a:t> </a:t>
            </a:r>
            <a:r>
              <a:rPr sz="1450" spc="-80" dirty="0">
                <a:solidFill>
                  <a:srgbClr val="24292E"/>
                </a:solidFill>
                <a:latin typeface="Cambria"/>
                <a:cs typeface="Cambria"/>
              </a:rPr>
              <a:t>0</a:t>
            </a:r>
            <a:r>
              <a:rPr sz="1200" dirty="0">
                <a:solidFill>
                  <a:srgbClr val="24292E"/>
                </a:solidFill>
                <a:latin typeface="微软雅黑"/>
                <a:cs typeface="微软雅黑"/>
              </a:rPr>
              <a:t>。</a:t>
            </a:r>
            <a:endParaRPr sz="1200">
              <a:latin typeface="微软雅黑"/>
              <a:cs typeface="微软雅黑"/>
            </a:endParaRPr>
          </a:p>
        </p:txBody>
      </p:sp>
      <p:sp>
        <p:nvSpPr>
          <p:cNvPr id="10" name="object 10"/>
          <p:cNvSpPr txBox="1"/>
          <p:nvPr/>
        </p:nvSpPr>
        <p:spPr>
          <a:xfrm>
            <a:off x="482600" y="3943096"/>
            <a:ext cx="3724910" cy="247015"/>
          </a:xfrm>
          <a:prstGeom prst="rect">
            <a:avLst/>
          </a:prstGeom>
        </p:spPr>
        <p:txBody>
          <a:bodyPr vert="horz" wrap="square" lIns="0" tIns="12700" rIns="0" bIns="0" rtlCol="0">
            <a:spAutoFit/>
          </a:bodyPr>
          <a:lstStyle/>
          <a:p>
            <a:pPr marL="50800">
              <a:lnSpc>
                <a:spcPct val="100000"/>
              </a:lnSpc>
              <a:spcBef>
                <a:spcPts val="100"/>
              </a:spcBef>
              <a:tabLst>
                <a:tab pos="3599815" algn="l"/>
              </a:tabLst>
            </a:pPr>
            <a:r>
              <a:rPr sz="1200" dirty="0">
                <a:solidFill>
                  <a:srgbClr val="24292E"/>
                </a:solidFill>
                <a:latin typeface="微软雅黑"/>
                <a:cs typeface="微软雅黑"/>
              </a:rPr>
              <a:t>其概率密度函数</a:t>
            </a:r>
            <a:r>
              <a:rPr sz="1200" spc="-30" dirty="0">
                <a:solidFill>
                  <a:srgbClr val="24292E"/>
                </a:solidFill>
                <a:latin typeface="微软雅黑"/>
                <a:cs typeface="微软雅黑"/>
              </a:rPr>
              <a:t> </a:t>
            </a:r>
            <a:r>
              <a:rPr sz="1200" dirty="0">
                <a:solidFill>
                  <a:srgbClr val="24292E"/>
                </a:solidFill>
                <a:latin typeface="Segoe UI"/>
                <a:cs typeface="Segoe UI"/>
              </a:rPr>
              <a:t>(PDF) </a:t>
            </a:r>
            <a:r>
              <a:rPr sz="1200" dirty="0">
                <a:solidFill>
                  <a:srgbClr val="24292E"/>
                </a:solidFill>
                <a:latin typeface="微软雅黑"/>
                <a:cs typeface="微软雅黑"/>
              </a:rPr>
              <a:t>为</a:t>
            </a:r>
            <a:r>
              <a:rPr sz="1200" spc="150" dirty="0">
                <a:solidFill>
                  <a:srgbClr val="24292E"/>
                </a:solidFill>
                <a:latin typeface="微软雅黑"/>
                <a:cs typeface="微软雅黑"/>
              </a:rPr>
              <a:t>：</a:t>
            </a:r>
            <a:r>
              <a:rPr sz="1450" i="1" spc="150" dirty="0">
                <a:solidFill>
                  <a:srgbClr val="24292E"/>
                </a:solidFill>
                <a:latin typeface="Times New Roman"/>
                <a:cs typeface="Times New Roman"/>
              </a:rPr>
              <a:t>f</a:t>
            </a:r>
            <a:r>
              <a:rPr sz="1450" i="1" spc="-210" dirty="0">
                <a:solidFill>
                  <a:srgbClr val="24292E"/>
                </a:solidFill>
                <a:latin typeface="Times New Roman"/>
                <a:cs typeface="Times New Roman"/>
              </a:rPr>
              <a:t> </a:t>
            </a:r>
            <a:r>
              <a:rPr sz="1450" spc="5" dirty="0">
                <a:solidFill>
                  <a:srgbClr val="24292E"/>
                </a:solidFill>
                <a:latin typeface="Cambria"/>
                <a:cs typeface="Cambria"/>
              </a:rPr>
              <a:t>(</a:t>
            </a:r>
            <a:r>
              <a:rPr sz="1450" b="1" i="1" spc="5" dirty="0">
                <a:solidFill>
                  <a:srgbClr val="24292E"/>
                </a:solidFill>
                <a:latin typeface="Arial"/>
                <a:cs typeface="Arial"/>
              </a:rPr>
              <a:t>θ</a:t>
            </a:r>
            <a:r>
              <a:rPr sz="1450" b="1" i="1" spc="50" dirty="0">
                <a:solidFill>
                  <a:srgbClr val="24292E"/>
                </a:solidFill>
                <a:latin typeface="Arial"/>
                <a:cs typeface="Arial"/>
              </a:rPr>
              <a:t> </a:t>
            </a:r>
            <a:r>
              <a:rPr sz="1450" spc="-25" dirty="0">
                <a:solidFill>
                  <a:srgbClr val="24292E"/>
                </a:solidFill>
                <a:latin typeface="Cambria"/>
                <a:cs typeface="Cambria"/>
              </a:rPr>
              <a:t>∣</a:t>
            </a:r>
            <a:r>
              <a:rPr sz="1450" spc="90" dirty="0">
                <a:solidFill>
                  <a:srgbClr val="24292E"/>
                </a:solidFill>
                <a:latin typeface="Cambria"/>
                <a:cs typeface="Cambria"/>
              </a:rPr>
              <a:t> </a:t>
            </a:r>
            <a:r>
              <a:rPr sz="1450" b="1" i="1" spc="105" dirty="0">
                <a:solidFill>
                  <a:srgbClr val="24292E"/>
                </a:solidFill>
                <a:latin typeface="Arial"/>
                <a:cs typeface="Arial"/>
              </a:rPr>
              <a:t>α</a:t>
            </a:r>
            <a:r>
              <a:rPr sz="1450" spc="105" dirty="0">
                <a:solidFill>
                  <a:srgbClr val="24292E"/>
                </a:solidFill>
                <a:latin typeface="Cambria"/>
                <a:cs typeface="Cambria"/>
              </a:rPr>
              <a:t>)</a:t>
            </a:r>
            <a:r>
              <a:rPr sz="1450" spc="80" dirty="0">
                <a:solidFill>
                  <a:srgbClr val="24292E"/>
                </a:solidFill>
                <a:latin typeface="Cambria"/>
                <a:cs typeface="Cambria"/>
              </a:rPr>
              <a:t> </a:t>
            </a:r>
            <a:r>
              <a:rPr sz="1450" spc="325" dirty="0">
                <a:solidFill>
                  <a:srgbClr val="24292E"/>
                </a:solidFill>
                <a:latin typeface="Cambria"/>
                <a:cs typeface="Cambria"/>
              </a:rPr>
              <a:t>=</a:t>
            </a:r>
            <a:r>
              <a:rPr sz="2175" u="sng" spc="487" baseline="19157" dirty="0">
                <a:solidFill>
                  <a:srgbClr val="24292E"/>
                </a:solidFill>
                <a:uFill>
                  <a:solidFill>
                    <a:srgbClr val="24292E"/>
                  </a:solidFill>
                </a:uFill>
                <a:latin typeface="Cambria"/>
                <a:cs typeface="Cambria"/>
              </a:rPr>
              <a:t> </a:t>
            </a:r>
            <a:r>
              <a:rPr sz="2175" u="sng" spc="847" baseline="19157" dirty="0">
                <a:solidFill>
                  <a:srgbClr val="24292E"/>
                </a:solidFill>
                <a:uFill>
                  <a:solidFill>
                    <a:srgbClr val="24292E"/>
                  </a:solidFill>
                </a:uFill>
                <a:latin typeface="Cambria"/>
                <a:cs typeface="Cambria"/>
              </a:rPr>
              <a:t> </a:t>
            </a:r>
            <a:r>
              <a:rPr sz="1500" u="sng" spc="-75" baseline="27777" dirty="0">
                <a:solidFill>
                  <a:srgbClr val="24292E"/>
                </a:solidFill>
                <a:uFill>
                  <a:solidFill>
                    <a:srgbClr val="24292E"/>
                  </a:solidFill>
                </a:uFill>
                <a:latin typeface="Cambria"/>
                <a:cs typeface="Cambria"/>
              </a:rPr>
              <a:t>1     </a:t>
            </a:r>
            <a:r>
              <a:rPr sz="1500" spc="-75" baseline="27777" dirty="0">
                <a:solidFill>
                  <a:srgbClr val="24292E"/>
                </a:solidFill>
                <a:latin typeface="Cambria"/>
                <a:cs typeface="Cambria"/>
              </a:rPr>
              <a:t>  </a:t>
            </a:r>
            <a:r>
              <a:rPr sz="1500" spc="-67" baseline="27777" dirty="0">
                <a:solidFill>
                  <a:srgbClr val="24292E"/>
                </a:solidFill>
                <a:latin typeface="Cambria"/>
                <a:cs typeface="Cambria"/>
              </a:rPr>
              <a:t> </a:t>
            </a:r>
            <a:r>
              <a:rPr sz="1450" spc="180" dirty="0">
                <a:solidFill>
                  <a:srgbClr val="24292E"/>
                </a:solidFill>
                <a:latin typeface="Arial"/>
                <a:cs typeface="Arial"/>
              </a:rPr>
              <a:t>∏</a:t>
            </a:r>
            <a:r>
              <a:rPr sz="1500" i="1" spc="270" baseline="36111" dirty="0">
                <a:solidFill>
                  <a:srgbClr val="24292E"/>
                </a:solidFill>
                <a:latin typeface="Times New Roman"/>
                <a:cs typeface="Times New Roman"/>
              </a:rPr>
              <a:t>K	</a:t>
            </a:r>
            <a:r>
              <a:rPr sz="1450" i="1" spc="-35" dirty="0">
                <a:solidFill>
                  <a:srgbClr val="24292E"/>
                </a:solidFill>
                <a:latin typeface="Times New Roman"/>
                <a:cs typeface="Times New Roman"/>
              </a:rPr>
              <a:t>θ</a:t>
            </a:r>
            <a:endParaRPr sz="1450">
              <a:latin typeface="Times New Roman"/>
              <a:cs typeface="Times New Roman"/>
            </a:endParaRPr>
          </a:p>
        </p:txBody>
      </p:sp>
      <p:sp>
        <p:nvSpPr>
          <p:cNvPr id="11" name="object 11"/>
          <p:cNvSpPr txBox="1"/>
          <p:nvPr/>
        </p:nvSpPr>
        <p:spPr>
          <a:xfrm>
            <a:off x="3261221" y="4065111"/>
            <a:ext cx="988060" cy="180340"/>
          </a:xfrm>
          <a:prstGeom prst="rect">
            <a:avLst/>
          </a:prstGeom>
        </p:spPr>
        <p:txBody>
          <a:bodyPr vert="horz" wrap="square" lIns="0" tIns="14604" rIns="0" bIns="0" rtlCol="0">
            <a:spAutoFit/>
          </a:bodyPr>
          <a:lstStyle/>
          <a:p>
            <a:pPr marL="12700">
              <a:lnSpc>
                <a:spcPct val="100000"/>
              </a:lnSpc>
              <a:spcBef>
                <a:spcPts val="114"/>
              </a:spcBef>
              <a:tabLst>
                <a:tab pos="542925" algn="l"/>
                <a:tab pos="907415" algn="l"/>
              </a:tabLst>
            </a:pPr>
            <a:r>
              <a:rPr sz="1000" i="1" spc="210" dirty="0">
                <a:solidFill>
                  <a:srgbClr val="24292E"/>
                </a:solidFill>
                <a:latin typeface="Times New Roman"/>
                <a:cs typeface="Times New Roman"/>
              </a:rPr>
              <a:t>B</a:t>
            </a:r>
            <a:r>
              <a:rPr sz="1000" spc="5" dirty="0">
                <a:solidFill>
                  <a:srgbClr val="24292E"/>
                </a:solidFill>
                <a:latin typeface="Cambria"/>
                <a:cs typeface="Cambria"/>
              </a:rPr>
              <a:t>(</a:t>
            </a:r>
            <a:r>
              <a:rPr sz="1000" b="1" i="1" spc="145" dirty="0">
                <a:solidFill>
                  <a:srgbClr val="24292E"/>
                </a:solidFill>
                <a:latin typeface="Arial"/>
                <a:cs typeface="Arial"/>
              </a:rPr>
              <a:t>α</a:t>
            </a:r>
            <a:r>
              <a:rPr sz="1000" spc="10" dirty="0">
                <a:solidFill>
                  <a:srgbClr val="24292E"/>
                </a:solidFill>
                <a:latin typeface="Cambria"/>
                <a:cs typeface="Cambria"/>
              </a:rPr>
              <a:t>)</a:t>
            </a:r>
            <a:r>
              <a:rPr sz="1000" dirty="0">
                <a:solidFill>
                  <a:srgbClr val="24292E"/>
                </a:solidFill>
                <a:latin typeface="Cambria"/>
                <a:cs typeface="Cambria"/>
              </a:rPr>
              <a:t>	</a:t>
            </a:r>
            <a:r>
              <a:rPr sz="1500" i="1" spc="172" baseline="2777" dirty="0">
                <a:solidFill>
                  <a:srgbClr val="24292E"/>
                </a:solidFill>
                <a:latin typeface="Times New Roman"/>
                <a:cs typeface="Times New Roman"/>
              </a:rPr>
              <a:t>k</a:t>
            </a:r>
            <a:r>
              <a:rPr sz="1500" spc="345" baseline="2777" dirty="0">
                <a:solidFill>
                  <a:srgbClr val="24292E"/>
                </a:solidFill>
                <a:latin typeface="Cambria"/>
                <a:cs typeface="Cambria"/>
              </a:rPr>
              <a:t>=</a:t>
            </a:r>
            <a:r>
              <a:rPr sz="1500" spc="-75" baseline="2777" dirty="0">
                <a:solidFill>
                  <a:srgbClr val="24292E"/>
                </a:solidFill>
                <a:latin typeface="Cambria"/>
                <a:cs typeface="Cambria"/>
              </a:rPr>
              <a:t>1</a:t>
            </a:r>
            <a:r>
              <a:rPr sz="1500" baseline="2777" dirty="0">
                <a:solidFill>
                  <a:srgbClr val="24292E"/>
                </a:solidFill>
                <a:latin typeface="Cambria"/>
                <a:cs typeface="Cambria"/>
              </a:rPr>
              <a:t>	</a:t>
            </a:r>
            <a:r>
              <a:rPr sz="1500" i="1" spc="127" baseline="2777" dirty="0">
                <a:solidFill>
                  <a:srgbClr val="24292E"/>
                </a:solidFill>
                <a:latin typeface="Times New Roman"/>
                <a:cs typeface="Times New Roman"/>
              </a:rPr>
              <a:t>k</a:t>
            </a:r>
            <a:endParaRPr sz="1500" baseline="2777">
              <a:latin typeface="Times New Roman"/>
              <a:cs typeface="Times New Roman"/>
            </a:endParaRPr>
          </a:p>
        </p:txBody>
      </p:sp>
      <p:sp>
        <p:nvSpPr>
          <p:cNvPr id="12" name="object 12"/>
          <p:cNvSpPr txBox="1"/>
          <p:nvPr/>
        </p:nvSpPr>
        <p:spPr>
          <a:xfrm>
            <a:off x="5307905" y="4027011"/>
            <a:ext cx="92710" cy="180340"/>
          </a:xfrm>
          <a:prstGeom prst="rect">
            <a:avLst/>
          </a:prstGeom>
        </p:spPr>
        <p:txBody>
          <a:bodyPr vert="horz" wrap="square" lIns="0" tIns="14604" rIns="0" bIns="0" rtlCol="0">
            <a:spAutoFit/>
          </a:bodyPr>
          <a:lstStyle/>
          <a:p>
            <a:pPr marL="12700">
              <a:lnSpc>
                <a:spcPct val="100000"/>
              </a:lnSpc>
              <a:spcBef>
                <a:spcPts val="114"/>
              </a:spcBef>
            </a:pPr>
            <a:r>
              <a:rPr sz="1000" i="1" spc="85" dirty="0">
                <a:solidFill>
                  <a:srgbClr val="24292E"/>
                </a:solidFill>
                <a:latin typeface="Times New Roman"/>
                <a:cs typeface="Times New Roman"/>
              </a:rPr>
              <a:t>k</a:t>
            </a:r>
            <a:endParaRPr sz="1000">
              <a:latin typeface="Times New Roman"/>
              <a:cs typeface="Times New Roman"/>
            </a:endParaRPr>
          </a:p>
        </p:txBody>
      </p:sp>
      <p:sp>
        <p:nvSpPr>
          <p:cNvPr id="13" name="object 13"/>
          <p:cNvSpPr txBox="1"/>
          <p:nvPr/>
        </p:nvSpPr>
        <p:spPr>
          <a:xfrm>
            <a:off x="6373217" y="4055586"/>
            <a:ext cx="261620" cy="180340"/>
          </a:xfrm>
          <a:prstGeom prst="rect">
            <a:avLst/>
          </a:prstGeom>
        </p:spPr>
        <p:txBody>
          <a:bodyPr vert="horz" wrap="square" lIns="0" tIns="14604" rIns="0" bIns="0" rtlCol="0">
            <a:spAutoFit/>
          </a:bodyPr>
          <a:lstStyle/>
          <a:p>
            <a:pPr marL="12700">
              <a:lnSpc>
                <a:spcPct val="100000"/>
              </a:lnSpc>
              <a:spcBef>
                <a:spcPts val="114"/>
              </a:spcBef>
            </a:pPr>
            <a:r>
              <a:rPr sz="1000" i="1" spc="114" dirty="0">
                <a:solidFill>
                  <a:srgbClr val="24292E"/>
                </a:solidFill>
                <a:latin typeface="Times New Roman"/>
                <a:cs typeface="Times New Roman"/>
              </a:rPr>
              <a:t>k</a:t>
            </a:r>
            <a:r>
              <a:rPr sz="1000" spc="229" dirty="0">
                <a:solidFill>
                  <a:srgbClr val="24292E"/>
                </a:solidFill>
                <a:latin typeface="Cambria"/>
                <a:cs typeface="Cambria"/>
              </a:rPr>
              <a:t>=</a:t>
            </a:r>
            <a:r>
              <a:rPr sz="1000" spc="-50" dirty="0">
                <a:solidFill>
                  <a:srgbClr val="24292E"/>
                </a:solidFill>
                <a:latin typeface="Cambria"/>
                <a:cs typeface="Cambria"/>
              </a:rPr>
              <a:t>1</a:t>
            </a:r>
            <a:endParaRPr sz="1000">
              <a:latin typeface="Cambria"/>
              <a:cs typeface="Cambria"/>
            </a:endParaRPr>
          </a:p>
        </p:txBody>
      </p:sp>
      <p:sp>
        <p:nvSpPr>
          <p:cNvPr id="14" name="object 14"/>
          <p:cNvSpPr txBox="1"/>
          <p:nvPr/>
        </p:nvSpPr>
        <p:spPr>
          <a:xfrm>
            <a:off x="4136082" y="3931761"/>
            <a:ext cx="2397760" cy="180340"/>
          </a:xfrm>
          <a:prstGeom prst="rect">
            <a:avLst/>
          </a:prstGeom>
        </p:spPr>
        <p:txBody>
          <a:bodyPr vert="horz" wrap="square" lIns="0" tIns="14604" rIns="0" bIns="0" rtlCol="0">
            <a:spAutoFit/>
          </a:bodyPr>
          <a:lstStyle/>
          <a:p>
            <a:pPr marL="38100">
              <a:lnSpc>
                <a:spcPct val="100000"/>
              </a:lnSpc>
              <a:spcBef>
                <a:spcPts val="114"/>
              </a:spcBef>
              <a:tabLst>
                <a:tab pos="2249170" algn="l"/>
              </a:tabLst>
            </a:pPr>
            <a:r>
              <a:rPr sz="1500" i="1" spc="142" baseline="2777" dirty="0">
                <a:solidFill>
                  <a:srgbClr val="24292E"/>
                </a:solidFill>
                <a:latin typeface="Times New Roman"/>
                <a:cs typeface="Times New Roman"/>
              </a:rPr>
              <a:t>α</a:t>
            </a:r>
            <a:r>
              <a:rPr sz="700" i="1" spc="95" dirty="0">
                <a:solidFill>
                  <a:srgbClr val="24292E"/>
                </a:solidFill>
                <a:latin typeface="Times New Roman"/>
                <a:cs typeface="Times New Roman"/>
              </a:rPr>
              <a:t>k</a:t>
            </a:r>
            <a:r>
              <a:rPr sz="700" i="1" spc="-25" dirty="0">
                <a:solidFill>
                  <a:srgbClr val="24292E"/>
                </a:solidFill>
                <a:latin typeface="Times New Roman"/>
                <a:cs typeface="Times New Roman"/>
              </a:rPr>
              <a:t> </a:t>
            </a:r>
            <a:r>
              <a:rPr sz="1500" spc="135" baseline="2777" dirty="0">
                <a:solidFill>
                  <a:srgbClr val="24292E"/>
                </a:solidFill>
                <a:latin typeface="Cambria"/>
                <a:cs typeface="Cambria"/>
              </a:rPr>
              <a:t>−1	</a:t>
            </a:r>
            <a:r>
              <a:rPr sz="1500" i="1" spc="292" baseline="8333" dirty="0">
                <a:solidFill>
                  <a:srgbClr val="24292E"/>
                </a:solidFill>
                <a:latin typeface="Times New Roman"/>
                <a:cs typeface="Times New Roman"/>
              </a:rPr>
              <a:t>K</a:t>
            </a:r>
            <a:endParaRPr sz="1500" baseline="8333">
              <a:latin typeface="Times New Roman"/>
              <a:cs typeface="Times New Roman"/>
            </a:endParaRPr>
          </a:p>
        </p:txBody>
      </p:sp>
      <p:sp>
        <p:nvSpPr>
          <p:cNvPr id="15" name="object 15"/>
          <p:cNvSpPr txBox="1"/>
          <p:nvPr/>
        </p:nvSpPr>
        <p:spPr>
          <a:xfrm>
            <a:off x="4511724" y="3943096"/>
            <a:ext cx="2710180" cy="247015"/>
          </a:xfrm>
          <a:prstGeom prst="rect">
            <a:avLst/>
          </a:prstGeom>
        </p:spPr>
        <p:txBody>
          <a:bodyPr vert="horz" wrap="square" lIns="0" tIns="12700" rIns="0" bIns="0" rtlCol="0">
            <a:spAutoFit/>
          </a:bodyPr>
          <a:lstStyle/>
          <a:p>
            <a:pPr marL="38100">
              <a:lnSpc>
                <a:spcPct val="100000"/>
              </a:lnSpc>
              <a:spcBef>
                <a:spcPts val="100"/>
              </a:spcBef>
              <a:tabLst>
                <a:tab pos="941069" algn="l"/>
                <a:tab pos="2152015" algn="l"/>
              </a:tabLst>
            </a:pPr>
            <a:r>
              <a:rPr sz="1200" dirty="0">
                <a:solidFill>
                  <a:srgbClr val="24292E"/>
                </a:solidFill>
                <a:latin typeface="微软雅黑"/>
                <a:cs typeface="微软雅黑"/>
              </a:rPr>
              <a:t>约束条件</a:t>
            </a:r>
            <a:r>
              <a:rPr sz="1200" dirty="0">
                <a:solidFill>
                  <a:srgbClr val="24292E"/>
                </a:solidFill>
                <a:latin typeface="Segoe UI"/>
                <a:cs typeface="Segoe UI"/>
              </a:rPr>
              <a:t>:</a:t>
            </a:r>
            <a:r>
              <a:rPr sz="1200" spc="-5" dirty="0">
                <a:solidFill>
                  <a:srgbClr val="24292E"/>
                </a:solidFill>
                <a:latin typeface="Segoe UI"/>
                <a:cs typeface="Segoe UI"/>
              </a:rPr>
              <a:t> </a:t>
            </a:r>
            <a:r>
              <a:rPr sz="1450" i="1" spc="-35" dirty="0">
                <a:solidFill>
                  <a:srgbClr val="24292E"/>
                </a:solidFill>
                <a:latin typeface="Times New Roman"/>
                <a:cs typeface="Times New Roman"/>
              </a:rPr>
              <a:t>θ	</a:t>
            </a:r>
            <a:r>
              <a:rPr sz="1450" spc="65" dirty="0">
                <a:solidFill>
                  <a:srgbClr val="24292E"/>
                </a:solidFill>
                <a:latin typeface="Cambria"/>
                <a:cs typeface="Cambria"/>
              </a:rPr>
              <a:t>∈ </a:t>
            </a:r>
            <a:r>
              <a:rPr sz="1450" spc="-30" dirty="0">
                <a:solidFill>
                  <a:srgbClr val="24292E"/>
                </a:solidFill>
                <a:latin typeface="Cambria"/>
                <a:cs typeface="Cambria"/>
              </a:rPr>
              <a:t>[0, </a:t>
            </a:r>
            <a:r>
              <a:rPr sz="1450" spc="-95" dirty="0">
                <a:solidFill>
                  <a:srgbClr val="24292E"/>
                </a:solidFill>
                <a:latin typeface="Cambria"/>
                <a:cs typeface="Cambria"/>
              </a:rPr>
              <a:t>1]</a:t>
            </a:r>
            <a:r>
              <a:rPr sz="1450" spc="-10" dirty="0">
                <a:solidFill>
                  <a:srgbClr val="24292E"/>
                </a:solidFill>
                <a:latin typeface="Cambria"/>
                <a:cs typeface="Cambria"/>
              </a:rPr>
              <a:t> </a:t>
            </a:r>
            <a:r>
              <a:rPr sz="1200" spc="-5" dirty="0">
                <a:solidFill>
                  <a:srgbClr val="24292E"/>
                </a:solidFill>
                <a:latin typeface="微软雅黑"/>
                <a:cs typeface="微软雅黑"/>
              </a:rPr>
              <a:t>、</a:t>
            </a:r>
            <a:r>
              <a:rPr sz="1450" spc="495" dirty="0">
                <a:solidFill>
                  <a:srgbClr val="24292E"/>
                </a:solidFill>
                <a:latin typeface="Arial"/>
                <a:cs typeface="Arial"/>
              </a:rPr>
              <a:t>∑	</a:t>
            </a:r>
            <a:r>
              <a:rPr sz="1450" i="1" spc="20" dirty="0">
                <a:solidFill>
                  <a:srgbClr val="24292E"/>
                </a:solidFill>
                <a:latin typeface="Times New Roman"/>
                <a:cs typeface="Times New Roman"/>
              </a:rPr>
              <a:t>θ</a:t>
            </a:r>
            <a:r>
              <a:rPr sz="1500" i="1" spc="30" baseline="-13888" dirty="0">
                <a:solidFill>
                  <a:srgbClr val="24292E"/>
                </a:solidFill>
                <a:latin typeface="Times New Roman"/>
                <a:cs typeface="Times New Roman"/>
              </a:rPr>
              <a:t>k </a:t>
            </a:r>
            <a:r>
              <a:rPr sz="1450" spc="325" dirty="0">
                <a:solidFill>
                  <a:srgbClr val="24292E"/>
                </a:solidFill>
                <a:latin typeface="Cambria"/>
                <a:cs typeface="Cambria"/>
              </a:rPr>
              <a:t>=</a:t>
            </a:r>
            <a:r>
              <a:rPr sz="1450" spc="-5" dirty="0">
                <a:solidFill>
                  <a:srgbClr val="24292E"/>
                </a:solidFill>
                <a:latin typeface="Cambria"/>
                <a:cs typeface="Cambria"/>
              </a:rPr>
              <a:t> </a:t>
            </a:r>
            <a:r>
              <a:rPr sz="1450" spc="-80" dirty="0">
                <a:solidFill>
                  <a:srgbClr val="24292E"/>
                </a:solidFill>
                <a:latin typeface="Cambria"/>
                <a:cs typeface="Cambria"/>
              </a:rPr>
              <a:t>1</a:t>
            </a:r>
            <a:endParaRPr sz="145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66750" y="4102099"/>
            <a:ext cx="57150" cy="57150"/>
          </a:xfrm>
          <a:custGeom>
            <a:avLst/>
            <a:gdLst/>
            <a:ahLst/>
            <a:cxnLst/>
            <a:rect l="l" t="t" r="r" b="b"/>
            <a:pathLst>
              <a:path w="57150" h="57150">
                <a:moveTo>
                  <a:pt x="32364" y="57148"/>
                </a:moveTo>
                <a:lnTo>
                  <a:pt x="24785" y="57148"/>
                </a:lnTo>
                <a:lnTo>
                  <a:pt x="21140" y="56423"/>
                </a:lnTo>
                <a:lnTo>
                  <a:pt x="0" y="32364"/>
                </a:lnTo>
                <a:lnTo>
                  <a:pt x="0" y="24785"/>
                </a:lnTo>
                <a:lnTo>
                  <a:pt x="24785" y="0"/>
                </a:lnTo>
                <a:lnTo>
                  <a:pt x="32364" y="0"/>
                </a:lnTo>
                <a:lnTo>
                  <a:pt x="57149" y="24785"/>
                </a:lnTo>
                <a:lnTo>
                  <a:pt x="57149" y="32364"/>
                </a:lnTo>
                <a:lnTo>
                  <a:pt x="32364" y="57148"/>
                </a:lnTo>
                <a:close/>
              </a:path>
            </a:pathLst>
          </a:custGeom>
          <a:solidFill>
            <a:srgbClr val="24292E"/>
          </a:solidFill>
        </p:spPr>
        <p:txBody>
          <a:bodyPr wrap="square" lIns="0" tIns="0" rIns="0" bIns="0" rtlCol="0"/>
          <a:lstStyle/>
          <a:p>
            <a:endParaRPr/>
          </a:p>
        </p:txBody>
      </p:sp>
      <p:sp>
        <p:nvSpPr>
          <p:cNvPr id="3" name="object 3"/>
          <p:cNvSpPr txBox="1"/>
          <p:nvPr/>
        </p:nvSpPr>
        <p:spPr>
          <a:xfrm>
            <a:off x="520700" y="733170"/>
            <a:ext cx="3846829" cy="2470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24292E"/>
                </a:solidFill>
                <a:latin typeface="微软雅黑"/>
                <a:cs typeface="微软雅黑"/>
              </a:rPr>
              <a:t>其中</a:t>
            </a:r>
            <a:r>
              <a:rPr sz="1200" b="1" spc="-45" dirty="0">
                <a:solidFill>
                  <a:srgbClr val="24292E"/>
                </a:solidFill>
                <a:latin typeface="微软雅黑"/>
                <a:cs typeface="微软雅黑"/>
              </a:rPr>
              <a:t> </a:t>
            </a:r>
            <a:r>
              <a:rPr sz="1450" i="1" spc="125" dirty="0">
                <a:solidFill>
                  <a:srgbClr val="24292E"/>
                </a:solidFill>
                <a:latin typeface="Times New Roman"/>
                <a:cs typeface="Times New Roman"/>
              </a:rPr>
              <a:t>B</a:t>
            </a:r>
            <a:r>
              <a:rPr sz="1450" spc="125" dirty="0">
                <a:solidFill>
                  <a:srgbClr val="24292E"/>
                </a:solidFill>
                <a:latin typeface="Cambria"/>
                <a:cs typeface="Cambria"/>
              </a:rPr>
              <a:t>(</a:t>
            </a:r>
            <a:r>
              <a:rPr sz="1450" b="1" i="1" spc="125" dirty="0">
                <a:solidFill>
                  <a:srgbClr val="24292E"/>
                </a:solidFill>
                <a:latin typeface="Arial"/>
                <a:cs typeface="Arial"/>
              </a:rPr>
              <a:t>α</a:t>
            </a:r>
            <a:r>
              <a:rPr sz="1450" spc="125" dirty="0">
                <a:solidFill>
                  <a:srgbClr val="24292E"/>
                </a:solidFill>
                <a:latin typeface="Cambria"/>
                <a:cs typeface="Cambria"/>
              </a:rPr>
              <a:t>)</a:t>
            </a:r>
            <a:r>
              <a:rPr sz="1450" dirty="0">
                <a:solidFill>
                  <a:srgbClr val="24292E"/>
                </a:solidFill>
                <a:latin typeface="Cambria"/>
                <a:cs typeface="Cambria"/>
              </a:rPr>
              <a:t> </a:t>
            </a:r>
            <a:r>
              <a:rPr sz="1200" b="1" dirty="0">
                <a:solidFill>
                  <a:srgbClr val="24292E"/>
                </a:solidFill>
                <a:latin typeface="微软雅黑"/>
                <a:cs typeface="微软雅黑"/>
              </a:rPr>
              <a:t>是多元</a:t>
            </a:r>
            <a:r>
              <a:rPr sz="1200" b="1" spc="-45" dirty="0">
                <a:solidFill>
                  <a:srgbClr val="24292E"/>
                </a:solidFill>
                <a:latin typeface="微软雅黑"/>
                <a:cs typeface="微软雅黑"/>
              </a:rPr>
              <a:t> </a:t>
            </a:r>
            <a:r>
              <a:rPr sz="1200" b="1" dirty="0">
                <a:solidFill>
                  <a:srgbClr val="24292E"/>
                </a:solidFill>
                <a:latin typeface="Segoe UI Semibold"/>
                <a:cs typeface="Segoe UI Semibold"/>
              </a:rPr>
              <a:t>Beta</a:t>
            </a:r>
            <a:r>
              <a:rPr sz="1200" b="1" spc="-10" dirty="0">
                <a:solidFill>
                  <a:srgbClr val="24292E"/>
                </a:solidFill>
                <a:latin typeface="Segoe UI Semibold"/>
                <a:cs typeface="Segoe UI Semibold"/>
              </a:rPr>
              <a:t> </a:t>
            </a:r>
            <a:r>
              <a:rPr sz="1200" b="1" dirty="0">
                <a:solidFill>
                  <a:srgbClr val="24292E"/>
                </a:solidFill>
                <a:latin typeface="微软雅黑"/>
                <a:cs typeface="微软雅黑"/>
              </a:rPr>
              <a:t>函数（归一化常数</a:t>
            </a:r>
            <a:r>
              <a:rPr sz="1200" b="1" spc="80" dirty="0">
                <a:solidFill>
                  <a:srgbClr val="24292E"/>
                </a:solidFill>
                <a:latin typeface="微软雅黑"/>
                <a:cs typeface="微软雅黑"/>
              </a:rPr>
              <a:t>）：</a:t>
            </a:r>
            <a:r>
              <a:rPr sz="1450" i="1" spc="80" dirty="0">
                <a:solidFill>
                  <a:srgbClr val="24292E"/>
                </a:solidFill>
                <a:latin typeface="Times New Roman"/>
                <a:cs typeface="Times New Roman"/>
              </a:rPr>
              <a:t>B</a:t>
            </a:r>
            <a:r>
              <a:rPr sz="1450" spc="80" dirty="0">
                <a:solidFill>
                  <a:srgbClr val="24292E"/>
                </a:solidFill>
                <a:latin typeface="Cambria"/>
                <a:cs typeface="Cambria"/>
              </a:rPr>
              <a:t>(</a:t>
            </a:r>
            <a:r>
              <a:rPr sz="1450" b="1" i="1" spc="80" dirty="0">
                <a:solidFill>
                  <a:srgbClr val="24292E"/>
                </a:solidFill>
                <a:latin typeface="Arial"/>
                <a:cs typeface="Arial"/>
              </a:rPr>
              <a:t>α</a:t>
            </a:r>
            <a:r>
              <a:rPr sz="1450" spc="80" dirty="0">
                <a:solidFill>
                  <a:srgbClr val="24292E"/>
                </a:solidFill>
                <a:latin typeface="Cambria"/>
                <a:cs typeface="Cambria"/>
              </a:rPr>
              <a:t>)</a:t>
            </a:r>
            <a:r>
              <a:rPr sz="1450" spc="65" dirty="0">
                <a:solidFill>
                  <a:srgbClr val="24292E"/>
                </a:solidFill>
                <a:latin typeface="Cambria"/>
                <a:cs typeface="Cambria"/>
              </a:rPr>
              <a:t> </a:t>
            </a:r>
            <a:r>
              <a:rPr sz="1450" spc="325" dirty="0">
                <a:solidFill>
                  <a:srgbClr val="24292E"/>
                </a:solidFill>
                <a:latin typeface="Cambria"/>
                <a:cs typeface="Cambria"/>
              </a:rPr>
              <a:t>=</a:t>
            </a:r>
            <a:endParaRPr sz="1450">
              <a:latin typeface="Cambria"/>
              <a:cs typeface="Cambria"/>
            </a:endParaRPr>
          </a:p>
        </p:txBody>
      </p:sp>
      <p:sp>
        <p:nvSpPr>
          <p:cNvPr id="4" name="object 4"/>
          <p:cNvSpPr txBox="1"/>
          <p:nvPr/>
        </p:nvSpPr>
        <p:spPr>
          <a:xfrm>
            <a:off x="4500364" y="837945"/>
            <a:ext cx="97155" cy="247015"/>
          </a:xfrm>
          <a:prstGeom prst="rect">
            <a:avLst/>
          </a:prstGeom>
        </p:spPr>
        <p:txBody>
          <a:bodyPr vert="horz" wrap="square" lIns="0" tIns="12700" rIns="0" bIns="0" rtlCol="0">
            <a:spAutoFit/>
          </a:bodyPr>
          <a:lstStyle/>
          <a:p>
            <a:pPr marL="12700">
              <a:lnSpc>
                <a:spcPct val="100000"/>
              </a:lnSpc>
              <a:spcBef>
                <a:spcPts val="100"/>
              </a:spcBef>
            </a:pPr>
            <a:r>
              <a:rPr sz="1450" spc="10" dirty="0">
                <a:solidFill>
                  <a:srgbClr val="24292E"/>
                </a:solidFill>
                <a:latin typeface="Cambria"/>
                <a:cs typeface="Cambria"/>
              </a:rPr>
              <a:t>(</a:t>
            </a:r>
            <a:endParaRPr sz="1450">
              <a:latin typeface="Cambria"/>
              <a:cs typeface="Cambria"/>
            </a:endParaRPr>
          </a:p>
        </p:txBody>
      </p:sp>
      <p:sp>
        <p:nvSpPr>
          <p:cNvPr id="5" name="object 5"/>
          <p:cNvSpPr txBox="1"/>
          <p:nvPr/>
        </p:nvSpPr>
        <p:spPr>
          <a:xfrm>
            <a:off x="4419699" y="883760"/>
            <a:ext cx="314325" cy="180340"/>
          </a:xfrm>
          <a:prstGeom prst="rect">
            <a:avLst/>
          </a:prstGeom>
        </p:spPr>
        <p:txBody>
          <a:bodyPr vert="horz" wrap="square" lIns="0" tIns="14604" rIns="0" bIns="0" rtlCol="0">
            <a:spAutoFit/>
          </a:bodyPr>
          <a:lstStyle/>
          <a:p>
            <a:pPr marL="12700">
              <a:lnSpc>
                <a:spcPct val="100000"/>
              </a:lnSpc>
              <a:spcBef>
                <a:spcPts val="114"/>
              </a:spcBef>
            </a:pPr>
            <a:r>
              <a:rPr sz="1000" spc="95" dirty="0">
                <a:solidFill>
                  <a:srgbClr val="24292E"/>
                </a:solidFill>
                <a:latin typeface="Cambria"/>
                <a:cs typeface="Cambria"/>
              </a:rPr>
              <a:t>Γ</a:t>
            </a:r>
            <a:r>
              <a:rPr sz="1000" spc="254" dirty="0">
                <a:solidFill>
                  <a:srgbClr val="24292E"/>
                </a:solidFill>
                <a:latin typeface="Cambria"/>
                <a:cs typeface="Cambria"/>
              </a:rPr>
              <a:t> </a:t>
            </a:r>
            <a:r>
              <a:rPr sz="1000" spc="360" dirty="0">
                <a:solidFill>
                  <a:srgbClr val="24292E"/>
                </a:solidFill>
                <a:latin typeface="Arial"/>
                <a:cs typeface="Arial"/>
              </a:rPr>
              <a:t>∑</a:t>
            </a:r>
            <a:endParaRPr sz="1000">
              <a:latin typeface="Arial"/>
              <a:cs typeface="Arial"/>
            </a:endParaRPr>
          </a:p>
        </p:txBody>
      </p:sp>
      <p:sp>
        <p:nvSpPr>
          <p:cNvPr id="6" name="object 6"/>
          <p:cNvSpPr txBox="1"/>
          <p:nvPr/>
        </p:nvSpPr>
        <p:spPr>
          <a:xfrm>
            <a:off x="4708128" y="958722"/>
            <a:ext cx="194310" cy="136525"/>
          </a:xfrm>
          <a:prstGeom prst="rect">
            <a:avLst/>
          </a:prstGeom>
        </p:spPr>
        <p:txBody>
          <a:bodyPr vert="horz" wrap="square" lIns="0" tIns="15875" rIns="0" bIns="0" rtlCol="0">
            <a:spAutoFit/>
          </a:bodyPr>
          <a:lstStyle/>
          <a:p>
            <a:pPr marL="12700">
              <a:lnSpc>
                <a:spcPct val="100000"/>
              </a:lnSpc>
              <a:spcBef>
                <a:spcPts val="125"/>
              </a:spcBef>
            </a:pPr>
            <a:r>
              <a:rPr sz="700" i="1" spc="85" dirty="0">
                <a:solidFill>
                  <a:srgbClr val="24292E"/>
                </a:solidFill>
                <a:latin typeface="Times New Roman"/>
                <a:cs typeface="Times New Roman"/>
              </a:rPr>
              <a:t>k</a:t>
            </a:r>
            <a:r>
              <a:rPr sz="700" spc="170" dirty="0">
                <a:solidFill>
                  <a:srgbClr val="24292E"/>
                </a:solidFill>
                <a:latin typeface="Cambria"/>
                <a:cs typeface="Cambria"/>
              </a:rPr>
              <a:t>=</a:t>
            </a:r>
            <a:r>
              <a:rPr sz="700" spc="-25" dirty="0">
                <a:solidFill>
                  <a:srgbClr val="24292E"/>
                </a:solidFill>
                <a:latin typeface="Cambria"/>
                <a:cs typeface="Cambria"/>
              </a:rPr>
              <a:t>1</a:t>
            </a:r>
            <a:endParaRPr sz="700">
              <a:latin typeface="Cambria"/>
              <a:cs typeface="Cambria"/>
            </a:endParaRPr>
          </a:p>
        </p:txBody>
      </p:sp>
      <p:sp>
        <p:nvSpPr>
          <p:cNvPr id="7" name="object 7"/>
          <p:cNvSpPr txBox="1"/>
          <p:nvPr/>
        </p:nvSpPr>
        <p:spPr>
          <a:xfrm>
            <a:off x="4708128" y="863472"/>
            <a:ext cx="104139" cy="136525"/>
          </a:xfrm>
          <a:prstGeom prst="rect">
            <a:avLst/>
          </a:prstGeom>
        </p:spPr>
        <p:txBody>
          <a:bodyPr vert="horz" wrap="square" lIns="0" tIns="15875" rIns="0" bIns="0" rtlCol="0">
            <a:spAutoFit/>
          </a:bodyPr>
          <a:lstStyle/>
          <a:p>
            <a:pPr marL="12700">
              <a:lnSpc>
                <a:spcPct val="100000"/>
              </a:lnSpc>
              <a:spcBef>
                <a:spcPts val="125"/>
              </a:spcBef>
            </a:pPr>
            <a:r>
              <a:rPr sz="700" i="1" spc="145" dirty="0">
                <a:solidFill>
                  <a:srgbClr val="24292E"/>
                </a:solidFill>
                <a:latin typeface="Times New Roman"/>
                <a:cs typeface="Times New Roman"/>
              </a:rPr>
              <a:t>K</a:t>
            </a:r>
            <a:endParaRPr sz="700">
              <a:latin typeface="Times New Roman"/>
              <a:cs typeface="Times New Roman"/>
            </a:endParaRPr>
          </a:p>
        </p:txBody>
      </p:sp>
      <p:sp>
        <p:nvSpPr>
          <p:cNvPr id="8" name="object 8"/>
          <p:cNvSpPr txBox="1"/>
          <p:nvPr/>
        </p:nvSpPr>
        <p:spPr>
          <a:xfrm>
            <a:off x="4888855" y="847470"/>
            <a:ext cx="297815" cy="247015"/>
          </a:xfrm>
          <a:prstGeom prst="rect">
            <a:avLst/>
          </a:prstGeom>
        </p:spPr>
        <p:txBody>
          <a:bodyPr vert="horz" wrap="square" lIns="0" tIns="12700" rIns="0" bIns="0" rtlCol="0">
            <a:spAutoFit/>
          </a:bodyPr>
          <a:lstStyle/>
          <a:p>
            <a:pPr marL="38100">
              <a:lnSpc>
                <a:spcPct val="100000"/>
              </a:lnSpc>
              <a:spcBef>
                <a:spcPts val="100"/>
              </a:spcBef>
            </a:pPr>
            <a:r>
              <a:rPr sz="1500" i="1" spc="142" baseline="8333" dirty="0">
                <a:solidFill>
                  <a:srgbClr val="24292E"/>
                </a:solidFill>
                <a:latin typeface="Times New Roman"/>
                <a:cs typeface="Times New Roman"/>
              </a:rPr>
              <a:t>α</a:t>
            </a:r>
            <a:r>
              <a:rPr sz="700" i="1" spc="95" dirty="0">
                <a:solidFill>
                  <a:srgbClr val="24292E"/>
                </a:solidFill>
                <a:latin typeface="Times New Roman"/>
                <a:cs typeface="Times New Roman"/>
              </a:rPr>
              <a:t>k</a:t>
            </a:r>
            <a:r>
              <a:rPr sz="700" i="1" spc="-60" dirty="0">
                <a:solidFill>
                  <a:srgbClr val="24292E"/>
                </a:solidFill>
                <a:latin typeface="Times New Roman"/>
                <a:cs typeface="Times New Roman"/>
              </a:rPr>
              <a:t> </a:t>
            </a:r>
            <a:r>
              <a:rPr sz="2175" spc="15" baseline="1915" dirty="0">
                <a:solidFill>
                  <a:srgbClr val="24292E"/>
                </a:solidFill>
                <a:latin typeface="Cambria"/>
                <a:cs typeface="Cambria"/>
              </a:rPr>
              <a:t>)</a:t>
            </a:r>
            <a:endParaRPr sz="2175" baseline="1915">
              <a:latin typeface="Cambria"/>
              <a:cs typeface="Cambria"/>
            </a:endParaRPr>
          </a:p>
        </p:txBody>
      </p:sp>
      <p:sp>
        <p:nvSpPr>
          <p:cNvPr id="9" name="object 9"/>
          <p:cNvSpPr/>
          <p:nvPr/>
        </p:nvSpPr>
        <p:spPr>
          <a:xfrm>
            <a:off x="4429125" y="887412"/>
            <a:ext cx="723900" cy="0"/>
          </a:xfrm>
          <a:custGeom>
            <a:avLst/>
            <a:gdLst/>
            <a:ahLst/>
            <a:cxnLst/>
            <a:rect l="l" t="t" r="r" b="b"/>
            <a:pathLst>
              <a:path w="723900">
                <a:moveTo>
                  <a:pt x="0" y="0"/>
                </a:moveTo>
                <a:lnTo>
                  <a:pt x="723900" y="0"/>
                </a:lnTo>
              </a:path>
            </a:pathLst>
          </a:custGeom>
          <a:ln w="9525">
            <a:solidFill>
              <a:srgbClr val="24292E"/>
            </a:solidFill>
          </a:ln>
        </p:spPr>
        <p:txBody>
          <a:bodyPr wrap="square" lIns="0" tIns="0" rIns="0" bIns="0" rtlCol="0"/>
          <a:lstStyle/>
          <a:p>
            <a:endParaRPr/>
          </a:p>
        </p:txBody>
      </p:sp>
      <p:sp>
        <p:nvSpPr>
          <p:cNvPr id="10" name="object 10"/>
          <p:cNvSpPr txBox="1"/>
          <p:nvPr/>
        </p:nvSpPr>
        <p:spPr>
          <a:xfrm>
            <a:off x="4570164" y="768222"/>
            <a:ext cx="194310" cy="136525"/>
          </a:xfrm>
          <a:prstGeom prst="rect">
            <a:avLst/>
          </a:prstGeom>
        </p:spPr>
        <p:txBody>
          <a:bodyPr vert="horz" wrap="square" lIns="0" tIns="15875" rIns="0" bIns="0" rtlCol="0">
            <a:spAutoFit/>
          </a:bodyPr>
          <a:lstStyle/>
          <a:p>
            <a:pPr marL="12700">
              <a:lnSpc>
                <a:spcPct val="100000"/>
              </a:lnSpc>
              <a:spcBef>
                <a:spcPts val="125"/>
              </a:spcBef>
            </a:pPr>
            <a:r>
              <a:rPr sz="700" i="1" spc="85" dirty="0">
                <a:solidFill>
                  <a:srgbClr val="24292E"/>
                </a:solidFill>
                <a:latin typeface="Times New Roman"/>
                <a:cs typeface="Times New Roman"/>
              </a:rPr>
              <a:t>k</a:t>
            </a:r>
            <a:r>
              <a:rPr sz="700" spc="170" dirty="0">
                <a:solidFill>
                  <a:srgbClr val="24292E"/>
                </a:solidFill>
                <a:latin typeface="Cambria"/>
                <a:cs typeface="Cambria"/>
              </a:rPr>
              <a:t>=</a:t>
            </a:r>
            <a:r>
              <a:rPr sz="700" spc="-25" dirty="0">
                <a:solidFill>
                  <a:srgbClr val="24292E"/>
                </a:solidFill>
                <a:latin typeface="Cambria"/>
                <a:cs typeface="Cambria"/>
              </a:rPr>
              <a:t>1</a:t>
            </a:r>
            <a:endParaRPr sz="700">
              <a:latin typeface="Cambria"/>
              <a:cs typeface="Cambria"/>
            </a:endParaRPr>
          </a:p>
        </p:txBody>
      </p:sp>
      <p:sp>
        <p:nvSpPr>
          <p:cNvPr id="11" name="object 11"/>
          <p:cNvSpPr txBox="1"/>
          <p:nvPr/>
        </p:nvSpPr>
        <p:spPr>
          <a:xfrm>
            <a:off x="4423023" y="636110"/>
            <a:ext cx="276225" cy="180340"/>
          </a:xfrm>
          <a:prstGeom prst="rect">
            <a:avLst/>
          </a:prstGeom>
        </p:spPr>
        <p:txBody>
          <a:bodyPr vert="horz" wrap="square" lIns="0" tIns="14604" rIns="0" bIns="0" rtlCol="0">
            <a:spAutoFit/>
          </a:bodyPr>
          <a:lstStyle/>
          <a:p>
            <a:pPr marL="38100">
              <a:lnSpc>
                <a:spcPct val="100000"/>
              </a:lnSpc>
              <a:spcBef>
                <a:spcPts val="114"/>
              </a:spcBef>
            </a:pPr>
            <a:r>
              <a:rPr sz="1500" spc="209" baseline="-25000" dirty="0">
                <a:solidFill>
                  <a:srgbClr val="24292E"/>
                </a:solidFill>
                <a:latin typeface="Arial"/>
                <a:cs typeface="Arial"/>
              </a:rPr>
              <a:t>∏</a:t>
            </a:r>
            <a:r>
              <a:rPr sz="700" i="1" spc="140" dirty="0">
                <a:solidFill>
                  <a:srgbClr val="24292E"/>
                </a:solidFill>
                <a:latin typeface="Times New Roman"/>
                <a:cs typeface="Times New Roman"/>
              </a:rPr>
              <a:t>K</a:t>
            </a:r>
            <a:endParaRPr sz="700">
              <a:latin typeface="Times New Roman"/>
              <a:cs typeface="Times New Roman"/>
            </a:endParaRPr>
          </a:p>
        </p:txBody>
      </p:sp>
      <p:sp>
        <p:nvSpPr>
          <p:cNvPr id="12" name="object 12"/>
          <p:cNvSpPr txBox="1"/>
          <p:nvPr/>
        </p:nvSpPr>
        <p:spPr>
          <a:xfrm>
            <a:off x="4750891" y="693260"/>
            <a:ext cx="407034" cy="180340"/>
          </a:xfrm>
          <a:prstGeom prst="rect">
            <a:avLst/>
          </a:prstGeom>
        </p:spPr>
        <p:txBody>
          <a:bodyPr vert="horz" wrap="square" lIns="0" tIns="14604" rIns="0" bIns="0" rtlCol="0">
            <a:spAutoFit/>
          </a:bodyPr>
          <a:lstStyle/>
          <a:p>
            <a:pPr marL="38100">
              <a:lnSpc>
                <a:spcPct val="100000"/>
              </a:lnSpc>
              <a:spcBef>
                <a:spcPts val="114"/>
              </a:spcBef>
            </a:pPr>
            <a:r>
              <a:rPr sz="1000" spc="75" dirty="0">
                <a:solidFill>
                  <a:srgbClr val="24292E"/>
                </a:solidFill>
                <a:latin typeface="Cambria"/>
                <a:cs typeface="Cambria"/>
              </a:rPr>
              <a:t>Γ(</a:t>
            </a:r>
            <a:r>
              <a:rPr sz="1000" i="1" spc="75" dirty="0">
                <a:solidFill>
                  <a:srgbClr val="24292E"/>
                </a:solidFill>
                <a:latin typeface="Times New Roman"/>
                <a:cs typeface="Times New Roman"/>
              </a:rPr>
              <a:t>α</a:t>
            </a:r>
            <a:r>
              <a:rPr sz="1050" i="1" spc="112" baseline="-11904" dirty="0">
                <a:solidFill>
                  <a:srgbClr val="24292E"/>
                </a:solidFill>
                <a:latin typeface="Times New Roman"/>
                <a:cs typeface="Times New Roman"/>
              </a:rPr>
              <a:t>k</a:t>
            </a:r>
            <a:r>
              <a:rPr sz="1050" i="1" spc="-89" baseline="-11904" dirty="0">
                <a:solidFill>
                  <a:srgbClr val="24292E"/>
                </a:solidFill>
                <a:latin typeface="Times New Roman"/>
                <a:cs typeface="Times New Roman"/>
              </a:rPr>
              <a:t> </a:t>
            </a:r>
            <a:r>
              <a:rPr sz="1000" spc="10" dirty="0">
                <a:solidFill>
                  <a:srgbClr val="24292E"/>
                </a:solidFill>
                <a:latin typeface="Cambria"/>
                <a:cs typeface="Cambria"/>
              </a:rPr>
              <a:t>)</a:t>
            </a:r>
            <a:endParaRPr sz="1000">
              <a:latin typeface="Cambria"/>
              <a:cs typeface="Cambria"/>
            </a:endParaRPr>
          </a:p>
        </p:txBody>
      </p:sp>
      <p:sp>
        <p:nvSpPr>
          <p:cNvPr id="13" name="object 13"/>
          <p:cNvSpPr txBox="1"/>
          <p:nvPr/>
        </p:nvSpPr>
        <p:spPr>
          <a:xfrm>
            <a:off x="520700" y="1308099"/>
            <a:ext cx="8102600" cy="2522855"/>
          </a:xfrm>
          <a:prstGeom prst="rect">
            <a:avLst/>
          </a:prstGeom>
        </p:spPr>
        <p:txBody>
          <a:bodyPr vert="horz" wrap="square" lIns="0" tIns="12700" rIns="0" bIns="0" rtlCol="0">
            <a:spAutoFit/>
          </a:bodyPr>
          <a:lstStyle/>
          <a:p>
            <a:pPr marL="12700">
              <a:lnSpc>
                <a:spcPct val="100000"/>
              </a:lnSpc>
              <a:spcBef>
                <a:spcPts val="100"/>
              </a:spcBef>
            </a:pPr>
            <a:r>
              <a:rPr sz="1500" b="1" dirty="0">
                <a:solidFill>
                  <a:srgbClr val="24292E"/>
                </a:solidFill>
                <a:latin typeface="微软雅黑"/>
                <a:cs typeface="微软雅黑"/>
              </a:rPr>
              <a:t>选择狄利克雷分布作为先验的理由</a:t>
            </a:r>
            <a:endParaRPr sz="1500">
              <a:latin typeface="微软雅黑"/>
              <a:cs typeface="微软雅黑"/>
            </a:endParaRPr>
          </a:p>
          <a:p>
            <a:pPr marL="111125" indent="-99060">
              <a:lnSpc>
                <a:spcPct val="100000"/>
              </a:lnSpc>
              <a:spcBef>
                <a:spcPts val="1800"/>
              </a:spcBef>
              <a:buSzPct val="91666"/>
              <a:buFont typeface="Segoe UI Semibold"/>
              <a:buAutoNum type="arabicPeriod"/>
              <a:tabLst>
                <a:tab pos="111760" algn="l"/>
              </a:tabLst>
            </a:pPr>
            <a:r>
              <a:rPr sz="1200" b="1" dirty="0">
                <a:solidFill>
                  <a:srgbClr val="24292E"/>
                </a:solidFill>
                <a:latin typeface="微软雅黑"/>
                <a:cs typeface="微软雅黑"/>
              </a:rPr>
              <a:t>它是多项式分布的</a:t>
            </a:r>
            <a:r>
              <a:rPr sz="1200" b="1" dirty="0">
                <a:solidFill>
                  <a:srgbClr val="24292E"/>
                </a:solidFill>
                <a:latin typeface="Segoe UI Semibold"/>
                <a:cs typeface="Segoe UI Semibold"/>
              </a:rPr>
              <a:t>“</a:t>
            </a:r>
            <a:r>
              <a:rPr sz="1200" b="1" dirty="0">
                <a:solidFill>
                  <a:srgbClr val="24292E"/>
                </a:solidFill>
                <a:latin typeface="微软雅黑"/>
                <a:cs typeface="微软雅黑"/>
              </a:rPr>
              <a:t>共轭先验</a:t>
            </a:r>
            <a:r>
              <a:rPr sz="1200" b="1" dirty="0">
                <a:solidFill>
                  <a:srgbClr val="24292E"/>
                </a:solidFill>
                <a:latin typeface="Segoe UI Semibold"/>
                <a:cs typeface="Segoe UI Semibold"/>
              </a:rPr>
              <a:t>”</a:t>
            </a:r>
            <a:r>
              <a:rPr sz="1200" b="1" spc="-5" dirty="0">
                <a:solidFill>
                  <a:srgbClr val="24292E"/>
                </a:solidFill>
                <a:latin typeface="Segoe UI Semibold"/>
                <a:cs typeface="Segoe UI Semibold"/>
              </a:rPr>
              <a:t> (Conjugate</a:t>
            </a:r>
            <a:r>
              <a:rPr sz="1200" b="1" dirty="0">
                <a:solidFill>
                  <a:srgbClr val="24292E"/>
                </a:solidFill>
                <a:latin typeface="Segoe UI Semibold"/>
                <a:cs typeface="Segoe UI Semibold"/>
              </a:rPr>
              <a:t> Prior)</a:t>
            </a:r>
            <a:endParaRPr sz="1200">
              <a:latin typeface="Segoe UI Semibold"/>
              <a:cs typeface="Segoe UI Semibold"/>
            </a:endParaRPr>
          </a:p>
          <a:p>
            <a:pPr marL="12700" marR="5080">
              <a:lnSpc>
                <a:spcPct val="125000"/>
              </a:lnSpc>
              <a:spcBef>
                <a:spcPts val="1050"/>
              </a:spcBef>
            </a:pPr>
            <a:r>
              <a:rPr sz="1200" dirty="0">
                <a:solidFill>
                  <a:srgbClr val="24292E"/>
                </a:solidFill>
                <a:latin typeface="微软雅黑"/>
                <a:cs typeface="微软雅黑"/>
              </a:rPr>
              <a:t>当我们使用狄利克雷分布作为多项式分布的先验时，后验分布仍保持狄利克雷分布的形式。后验分布与先验分布的形式相 同，使得我们在</a:t>
            </a:r>
            <a:r>
              <a:rPr sz="1200" b="1" dirty="0">
                <a:solidFill>
                  <a:srgbClr val="24292E"/>
                </a:solidFill>
                <a:latin typeface="微软雅黑"/>
                <a:cs typeface="微软雅黑"/>
              </a:rPr>
              <a:t>推断</a:t>
            </a:r>
            <a:r>
              <a:rPr sz="1200" dirty="0">
                <a:solidFill>
                  <a:srgbClr val="24292E"/>
                </a:solidFill>
                <a:latin typeface="微软雅黑"/>
                <a:cs typeface="微软雅黑"/>
              </a:rPr>
              <a:t>过程中可以进行代数运算，而不是进行复杂的积分运算（尤其是在使用</a:t>
            </a:r>
            <a:r>
              <a:rPr sz="1200" spc="-60" dirty="0">
                <a:solidFill>
                  <a:srgbClr val="24292E"/>
                </a:solidFill>
                <a:latin typeface="微软雅黑"/>
                <a:cs typeface="微软雅黑"/>
              </a:rPr>
              <a:t> </a:t>
            </a:r>
            <a:r>
              <a:rPr sz="1200" dirty="0">
                <a:solidFill>
                  <a:srgbClr val="24292E"/>
                </a:solidFill>
                <a:latin typeface="Segoe UI"/>
                <a:cs typeface="Segoe UI"/>
              </a:rPr>
              <a:t>MCMC</a:t>
            </a:r>
            <a:r>
              <a:rPr sz="1200" spc="-30" dirty="0">
                <a:solidFill>
                  <a:srgbClr val="24292E"/>
                </a:solidFill>
                <a:latin typeface="Segoe UI"/>
                <a:cs typeface="Segoe UI"/>
              </a:rPr>
              <a:t> </a:t>
            </a:r>
            <a:r>
              <a:rPr sz="1200" dirty="0">
                <a:solidFill>
                  <a:srgbClr val="24292E"/>
                </a:solidFill>
                <a:latin typeface="微软雅黑"/>
                <a:cs typeface="微软雅黑"/>
              </a:rPr>
              <a:t>或吉布斯采样时），  这在计算上是极其高效的。</a:t>
            </a:r>
            <a:endParaRPr sz="1200">
              <a:latin typeface="微软雅黑"/>
              <a:cs typeface="微软雅黑"/>
            </a:endParaRPr>
          </a:p>
          <a:p>
            <a:pPr>
              <a:lnSpc>
                <a:spcPct val="100000"/>
              </a:lnSpc>
              <a:spcBef>
                <a:spcPts val="70"/>
              </a:spcBef>
            </a:pPr>
            <a:endParaRPr sz="1050">
              <a:latin typeface="微软雅黑"/>
              <a:cs typeface="微软雅黑"/>
            </a:endParaRPr>
          </a:p>
          <a:p>
            <a:pPr marL="134620" indent="-122555">
              <a:lnSpc>
                <a:spcPct val="100000"/>
              </a:lnSpc>
              <a:spcBef>
                <a:spcPts val="5"/>
              </a:spcBef>
              <a:buSzPct val="91666"/>
              <a:buFont typeface="Segoe UI Semibold"/>
              <a:buAutoNum type="arabicPeriod" startAt="2"/>
              <a:tabLst>
                <a:tab pos="135255" algn="l"/>
              </a:tabLst>
            </a:pPr>
            <a:r>
              <a:rPr sz="1200" b="1" dirty="0">
                <a:solidFill>
                  <a:srgbClr val="24292E"/>
                </a:solidFill>
                <a:latin typeface="微软雅黑"/>
                <a:cs typeface="微软雅黑"/>
              </a:rPr>
              <a:t>它适合建模比例</a:t>
            </a:r>
            <a:endParaRPr sz="1200">
              <a:latin typeface="微软雅黑"/>
              <a:cs typeface="微软雅黑"/>
            </a:endParaRPr>
          </a:p>
          <a:p>
            <a:pPr marL="12700" marR="93345">
              <a:lnSpc>
                <a:spcPct val="122100"/>
              </a:lnSpc>
              <a:spcBef>
                <a:spcPts val="775"/>
              </a:spcBef>
            </a:pPr>
            <a:r>
              <a:rPr sz="1200" dirty="0">
                <a:solidFill>
                  <a:srgbClr val="24292E"/>
                </a:solidFill>
                <a:latin typeface="微软雅黑"/>
                <a:cs typeface="微软雅黑"/>
              </a:rPr>
              <a:t>狄利克雷分布完美地定义在满足</a:t>
            </a:r>
            <a:r>
              <a:rPr sz="1200" b="1" dirty="0">
                <a:solidFill>
                  <a:srgbClr val="24292E"/>
                </a:solidFill>
                <a:latin typeface="微软雅黑"/>
                <a:cs typeface="微软雅黑"/>
              </a:rPr>
              <a:t>和为</a:t>
            </a:r>
            <a:r>
              <a:rPr sz="1200" b="1" spc="-50" dirty="0">
                <a:solidFill>
                  <a:srgbClr val="24292E"/>
                </a:solidFill>
                <a:latin typeface="微软雅黑"/>
                <a:cs typeface="微软雅黑"/>
              </a:rPr>
              <a:t> </a:t>
            </a:r>
            <a:r>
              <a:rPr sz="1200" b="1" spc="-5" dirty="0">
                <a:solidFill>
                  <a:srgbClr val="24292E"/>
                </a:solidFill>
                <a:latin typeface="Segoe UI Semibold"/>
                <a:cs typeface="Segoe UI Semibold"/>
              </a:rPr>
              <a:t>1</a:t>
            </a:r>
            <a:r>
              <a:rPr sz="1200" dirty="0">
                <a:solidFill>
                  <a:srgbClr val="24292E"/>
                </a:solidFill>
                <a:latin typeface="微软雅黑"/>
                <a:cs typeface="微软雅黑"/>
              </a:rPr>
              <a:t>的向量空间上。</a:t>
            </a:r>
            <a:r>
              <a:rPr sz="1200" spc="-10" dirty="0">
                <a:solidFill>
                  <a:srgbClr val="24292E"/>
                </a:solidFill>
                <a:latin typeface="Segoe UI"/>
                <a:cs typeface="Segoe UI"/>
              </a:rPr>
              <a:t>LDA</a:t>
            </a:r>
            <a:r>
              <a:rPr sz="1200" spc="-15" dirty="0">
                <a:solidFill>
                  <a:srgbClr val="24292E"/>
                </a:solidFill>
                <a:latin typeface="Segoe UI"/>
                <a:cs typeface="Segoe UI"/>
              </a:rPr>
              <a:t> </a:t>
            </a:r>
            <a:r>
              <a:rPr sz="1200" dirty="0">
                <a:solidFill>
                  <a:srgbClr val="24292E"/>
                </a:solidFill>
                <a:latin typeface="微软雅黑"/>
                <a:cs typeface="微软雅黑"/>
              </a:rPr>
              <a:t>的两个核心参数</a:t>
            </a:r>
            <a:r>
              <a:rPr sz="1200" spc="-45" dirty="0">
                <a:solidFill>
                  <a:srgbClr val="24292E"/>
                </a:solidFill>
                <a:latin typeface="微软雅黑"/>
                <a:cs typeface="微软雅黑"/>
              </a:rPr>
              <a:t> </a:t>
            </a:r>
            <a:r>
              <a:rPr sz="1450" b="1" i="1" spc="5" dirty="0">
                <a:solidFill>
                  <a:srgbClr val="24292E"/>
                </a:solidFill>
                <a:latin typeface="Arial"/>
                <a:cs typeface="Arial"/>
              </a:rPr>
              <a:t>θ</a:t>
            </a:r>
            <a:r>
              <a:rPr sz="1450" b="1" i="1" spc="-45" dirty="0">
                <a:solidFill>
                  <a:srgbClr val="24292E"/>
                </a:solidFill>
                <a:latin typeface="Arial"/>
                <a:cs typeface="Arial"/>
              </a:rPr>
              <a:t> </a:t>
            </a:r>
            <a:r>
              <a:rPr sz="1200" dirty="0">
                <a:solidFill>
                  <a:srgbClr val="24292E"/>
                </a:solidFill>
                <a:latin typeface="微软雅黑"/>
                <a:cs typeface="微软雅黑"/>
              </a:rPr>
              <a:t>和</a:t>
            </a:r>
            <a:r>
              <a:rPr sz="1200" spc="-45" dirty="0">
                <a:solidFill>
                  <a:srgbClr val="24292E"/>
                </a:solidFill>
                <a:latin typeface="微软雅黑"/>
                <a:cs typeface="微软雅黑"/>
              </a:rPr>
              <a:t> </a:t>
            </a:r>
            <a:r>
              <a:rPr sz="1450" b="1" i="1" spc="-65" dirty="0">
                <a:solidFill>
                  <a:srgbClr val="24292E"/>
                </a:solidFill>
                <a:latin typeface="Arial"/>
                <a:cs typeface="Arial"/>
              </a:rPr>
              <a:t>ϕ</a:t>
            </a:r>
            <a:r>
              <a:rPr sz="1450" b="1" i="1" spc="-95" dirty="0">
                <a:solidFill>
                  <a:srgbClr val="24292E"/>
                </a:solidFill>
                <a:latin typeface="Arial"/>
                <a:cs typeface="Arial"/>
              </a:rPr>
              <a:t> </a:t>
            </a:r>
            <a:r>
              <a:rPr sz="1200" dirty="0">
                <a:solidFill>
                  <a:srgbClr val="24292E"/>
                </a:solidFill>
                <a:latin typeface="微软雅黑"/>
                <a:cs typeface="微软雅黑"/>
              </a:rPr>
              <a:t>本质上都是概率向量（即所有元素和 为</a:t>
            </a:r>
            <a:r>
              <a:rPr sz="1200" spc="-35" dirty="0">
                <a:solidFill>
                  <a:srgbClr val="24292E"/>
                </a:solidFill>
                <a:latin typeface="微软雅黑"/>
                <a:cs typeface="微软雅黑"/>
              </a:rPr>
              <a:t> </a:t>
            </a:r>
            <a:r>
              <a:rPr sz="1200" dirty="0">
                <a:solidFill>
                  <a:srgbClr val="24292E"/>
                </a:solidFill>
                <a:latin typeface="Segoe UI"/>
                <a:cs typeface="Segoe UI"/>
              </a:rPr>
              <a:t>1</a:t>
            </a:r>
            <a:r>
              <a:rPr sz="1200" dirty="0">
                <a:solidFill>
                  <a:srgbClr val="24292E"/>
                </a:solidFill>
                <a:latin typeface="微软雅黑"/>
                <a:cs typeface="微软雅黑"/>
              </a:rPr>
              <a:t>）</a:t>
            </a:r>
            <a:endParaRPr sz="1200">
              <a:latin typeface="微软雅黑"/>
              <a:cs typeface="微软雅黑"/>
            </a:endParaRPr>
          </a:p>
        </p:txBody>
      </p:sp>
      <p:sp>
        <p:nvSpPr>
          <p:cNvPr id="14" name="object 14"/>
          <p:cNvSpPr txBox="1"/>
          <p:nvPr/>
        </p:nvSpPr>
        <p:spPr>
          <a:xfrm>
            <a:off x="825500" y="3981195"/>
            <a:ext cx="3952875" cy="2470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24292E"/>
                </a:solidFill>
                <a:latin typeface="微软雅黑"/>
                <a:cs typeface="微软雅黑"/>
              </a:rPr>
              <a:t>文档主题比例</a:t>
            </a:r>
            <a:r>
              <a:rPr sz="1200" b="1" spc="-55" dirty="0">
                <a:solidFill>
                  <a:srgbClr val="24292E"/>
                </a:solidFill>
                <a:latin typeface="微软雅黑"/>
                <a:cs typeface="微软雅黑"/>
              </a:rPr>
              <a:t> </a:t>
            </a:r>
            <a:r>
              <a:rPr sz="1450" b="1" i="1" spc="25" dirty="0">
                <a:solidFill>
                  <a:srgbClr val="24292E"/>
                </a:solidFill>
                <a:latin typeface="Arial"/>
                <a:cs typeface="Arial"/>
              </a:rPr>
              <a:t>θ</a:t>
            </a:r>
            <a:r>
              <a:rPr sz="1200" b="1" spc="25" dirty="0">
                <a:solidFill>
                  <a:srgbClr val="24292E"/>
                </a:solidFill>
                <a:latin typeface="Segoe UI Semibold"/>
                <a:cs typeface="Segoe UI Semibold"/>
              </a:rPr>
              <a:t>:</a:t>
            </a:r>
            <a:r>
              <a:rPr sz="1200" b="1" spc="-25" dirty="0">
                <a:solidFill>
                  <a:srgbClr val="24292E"/>
                </a:solidFill>
                <a:latin typeface="Segoe UI Semibold"/>
                <a:cs typeface="Segoe UI Semibold"/>
              </a:rPr>
              <a:t> </a:t>
            </a:r>
            <a:r>
              <a:rPr sz="1200" dirty="0">
                <a:solidFill>
                  <a:srgbClr val="24292E"/>
                </a:solidFill>
                <a:latin typeface="微软雅黑"/>
                <a:cs typeface="微软雅黑"/>
              </a:rPr>
              <a:t>一篇文档必须</a:t>
            </a:r>
            <a:r>
              <a:rPr sz="1200" spc="-50" dirty="0">
                <a:solidFill>
                  <a:srgbClr val="24292E"/>
                </a:solidFill>
                <a:latin typeface="微软雅黑"/>
                <a:cs typeface="微软雅黑"/>
              </a:rPr>
              <a:t> </a:t>
            </a:r>
            <a:r>
              <a:rPr sz="1200" dirty="0">
                <a:solidFill>
                  <a:srgbClr val="24292E"/>
                </a:solidFill>
                <a:latin typeface="Segoe UI"/>
                <a:cs typeface="Segoe UI"/>
              </a:rPr>
              <a:t>100%</a:t>
            </a:r>
            <a:r>
              <a:rPr sz="1200" spc="-25" dirty="0">
                <a:solidFill>
                  <a:srgbClr val="24292E"/>
                </a:solidFill>
                <a:latin typeface="Segoe UI"/>
                <a:cs typeface="Segoe UI"/>
              </a:rPr>
              <a:t> </a:t>
            </a:r>
            <a:r>
              <a:rPr sz="1200" dirty="0">
                <a:solidFill>
                  <a:srgbClr val="24292E"/>
                </a:solidFill>
                <a:latin typeface="微软雅黑"/>
                <a:cs typeface="微软雅黑"/>
              </a:rPr>
              <a:t>由所有主题构成</a:t>
            </a:r>
            <a:r>
              <a:rPr sz="1200" spc="-5" dirty="0">
                <a:solidFill>
                  <a:srgbClr val="24292E"/>
                </a:solidFill>
                <a:latin typeface="微软雅黑"/>
                <a:cs typeface="微软雅黑"/>
              </a:rPr>
              <a:t>。</a:t>
            </a:r>
            <a:r>
              <a:rPr sz="1450" spc="495" dirty="0">
                <a:solidFill>
                  <a:srgbClr val="24292E"/>
                </a:solidFill>
                <a:latin typeface="Arial"/>
                <a:cs typeface="Arial"/>
              </a:rPr>
              <a:t>∑</a:t>
            </a:r>
            <a:endParaRPr sz="1450">
              <a:latin typeface="Arial"/>
              <a:cs typeface="Arial"/>
            </a:endParaRPr>
          </a:p>
        </p:txBody>
      </p:sp>
      <p:sp>
        <p:nvSpPr>
          <p:cNvPr id="15" name="object 15"/>
          <p:cNvSpPr txBox="1"/>
          <p:nvPr/>
        </p:nvSpPr>
        <p:spPr>
          <a:xfrm>
            <a:off x="4752478" y="4093685"/>
            <a:ext cx="261620" cy="180340"/>
          </a:xfrm>
          <a:prstGeom prst="rect">
            <a:avLst/>
          </a:prstGeom>
        </p:spPr>
        <p:txBody>
          <a:bodyPr vert="horz" wrap="square" lIns="0" tIns="14604" rIns="0" bIns="0" rtlCol="0">
            <a:spAutoFit/>
          </a:bodyPr>
          <a:lstStyle/>
          <a:p>
            <a:pPr marL="12700">
              <a:lnSpc>
                <a:spcPct val="100000"/>
              </a:lnSpc>
              <a:spcBef>
                <a:spcPts val="114"/>
              </a:spcBef>
            </a:pPr>
            <a:r>
              <a:rPr sz="1000" i="1" spc="114" dirty="0">
                <a:solidFill>
                  <a:srgbClr val="24292E"/>
                </a:solidFill>
                <a:latin typeface="Times New Roman"/>
                <a:cs typeface="Times New Roman"/>
              </a:rPr>
              <a:t>k</a:t>
            </a:r>
            <a:r>
              <a:rPr sz="1000" spc="229" dirty="0">
                <a:solidFill>
                  <a:srgbClr val="24292E"/>
                </a:solidFill>
                <a:latin typeface="Cambria"/>
                <a:cs typeface="Cambria"/>
              </a:rPr>
              <a:t>=</a:t>
            </a:r>
            <a:r>
              <a:rPr sz="1000" spc="-50" dirty="0">
                <a:solidFill>
                  <a:srgbClr val="24292E"/>
                </a:solidFill>
                <a:latin typeface="Cambria"/>
                <a:cs typeface="Cambria"/>
              </a:rPr>
              <a:t>1</a:t>
            </a:r>
            <a:endParaRPr sz="1000">
              <a:latin typeface="Cambria"/>
              <a:cs typeface="Cambria"/>
            </a:endParaRPr>
          </a:p>
        </p:txBody>
      </p:sp>
      <p:sp>
        <p:nvSpPr>
          <p:cNvPr id="16" name="object 16"/>
          <p:cNvSpPr txBox="1"/>
          <p:nvPr/>
        </p:nvSpPr>
        <p:spPr>
          <a:xfrm>
            <a:off x="4752478" y="3941285"/>
            <a:ext cx="135255" cy="180340"/>
          </a:xfrm>
          <a:prstGeom prst="rect">
            <a:avLst/>
          </a:prstGeom>
        </p:spPr>
        <p:txBody>
          <a:bodyPr vert="horz" wrap="square" lIns="0" tIns="14604" rIns="0" bIns="0" rtlCol="0">
            <a:spAutoFit/>
          </a:bodyPr>
          <a:lstStyle/>
          <a:p>
            <a:pPr marL="12700">
              <a:lnSpc>
                <a:spcPct val="100000"/>
              </a:lnSpc>
              <a:spcBef>
                <a:spcPts val="114"/>
              </a:spcBef>
            </a:pPr>
            <a:r>
              <a:rPr sz="1000" i="1" spc="195" dirty="0">
                <a:solidFill>
                  <a:srgbClr val="24292E"/>
                </a:solidFill>
                <a:latin typeface="Times New Roman"/>
                <a:cs typeface="Times New Roman"/>
              </a:rPr>
              <a:t>K</a:t>
            </a:r>
            <a:endParaRPr sz="1000">
              <a:latin typeface="Times New Roman"/>
              <a:cs typeface="Times New Roman"/>
            </a:endParaRPr>
          </a:p>
        </p:txBody>
      </p:sp>
      <p:sp>
        <p:nvSpPr>
          <p:cNvPr id="17" name="object 17"/>
          <p:cNvSpPr txBox="1"/>
          <p:nvPr/>
        </p:nvSpPr>
        <p:spPr>
          <a:xfrm>
            <a:off x="5005387" y="3981195"/>
            <a:ext cx="735330" cy="247015"/>
          </a:xfrm>
          <a:prstGeom prst="rect">
            <a:avLst/>
          </a:prstGeom>
        </p:spPr>
        <p:txBody>
          <a:bodyPr vert="horz" wrap="square" lIns="0" tIns="12700" rIns="0" bIns="0" rtlCol="0">
            <a:spAutoFit/>
          </a:bodyPr>
          <a:lstStyle/>
          <a:p>
            <a:pPr marL="38100">
              <a:lnSpc>
                <a:spcPct val="100000"/>
              </a:lnSpc>
              <a:spcBef>
                <a:spcPts val="100"/>
              </a:spcBef>
            </a:pPr>
            <a:r>
              <a:rPr sz="1450" i="1" spc="20" dirty="0">
                <a:solidFill>
                  <a:srgbClr val="24292E"/>
                </a:solidFill>
                <a:latin typeface="Times New Roman"/>
                <a:cs typeface="Times New Roman"/>
              </a:rPr>
              <a:t>θ</a:t>
            </a:r>
            <a:r>
              <a:rPr sz="1500" i="1" spc="30" baseline="-13888" dirty="0">
                <a:solidFill>
                  <a:srgbClr val="24292E"/>
                </a:solidFill>
                <a:latin typeface="Times New Roman"/>
                <a:cs typeface="Times New Roman"/>
              </a:rPr>
              <a:t>k </a:t>
            </a:r>
            <a:r>
              <a:rPr sz="1450" spc="325" dirty="0">
                <a:solidFill>
                  <a:srgbClr val="24292E"/>
                </a:solidFill>
                <a:latin typeface="Cambria"/>
                <a:cs typeface="Cambria"/>
              </a:rPr>
              <a:t>=</a:t>
            </a:r>
            <a:r>
              <a:rPr sz="1450" spc="20" dirty="0">
                <a:solidFill>
                  <a:srgbClr val="24292E"/>
                </a:solidFill>
                <a:latin typeface="Cambria"/>
                <a:cs typeface="Cambria"/>
              </a:rPr>
              <a:t> </a:t>
            </a:r>
            <a:r>
              <a:rPr sz="1450" spc="-80" dirty="0">
                <a:solidFill>
                  <a:srgbClr val="24292E"/>
                </a:solidFill>
                <a:latin typeface="Cambria"/>
                <a:cs typeface="Cambria"/>
              </a:rPr>
              <a:t>1 </a:t>
            </a:r>
            <a:r>
              <a:rPr sz="1200" dirty="0">
                <a:solidFill>
                  <a:srgbClr val="24292E"/>
                </a:solidFill>
                <a:latin typeface="微软雅黑"/>
                <a:cs typeface="微软雅黑"/>
              </a:rPr>
              <a:t>。</a:t>
            </a:r>
            <a:endParaRPr sz="1200">
              <a:latin typeface="微软雅黑"/>
              <a:cs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554162"/>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p:nvPr/>
        </p:nvSpPr>
        <p:spPr>
          <a:xfrm>
            <a:off x="666750" y="815974"/>
            <a:ext cx="57150" cy="57150"/>
          </a:xfrm>
          <a:custGeom>
            <a:avLst/>
            <a:gdLst/>
            <a:ahLst/>
            <a:cxnLst/>
            <a:rect l="l" t="t" r="r" b="b"/>
            <a:pathLst>
              <a:path w="57150" h="57150">
                <a:moveTo>
                  <a:pt x="32364" y="57148"/>
                </a:moveTo>
                <a:lnTo>
                  <a:pt x="24785" y="57148"/>
                </a:lnTo>
                <a:lnTo>
                  <a:pt x="21140" y="56423"/>
                </a:lnTo>
                <a:lnTo>
                  <a:pt x="0" y="32364"/>
                </a:lnTo>
                <a:lnTo>
                  <a:pt x="0" y="24784"/>
                </a:lnTo>
                <a:lnTo>
                  <a:pt x="24785" y="0"/>
                </a:lnTo>
                <a:lnTo>
                  <a:pt x="32364" y="0"/>
                </a:lnTo>
                <a:lnTo>
                  <a:pt x="57149" y="24784"/>
                </a:lnTo>
                <a:lnTo>
                  <a:pt x="57149" y="32364"/>
                </a:lnTo>
                <a:lnTo>
                  <a:pt x="32364" y="57148"/>
                </a:lnTo>
                <a:close/>
              </a:path>
            </a:pathLst>
          </a:custGeom>
          <a:solidFill>
            <a:srgbClr val="24292E"/>
          </a:solidFill>
        </p:spPr>
        <p:txBody>
          <a:bodyPr wrap="square" lIns="0" tIns="0" rIns="0" bIns="0" rtlCol="0"/>
          <a:lstStyle/>
          <a:p>
            <a:endParaRPr/>
          </a:p>
        </p:txBody>
      </p:sp>
      <p:sp>
        <p:nvSpPr>
          <p:cNvPr id="4" name="object 4"/>
          <p:cNvSpPr txBox="1"/>
          <p:nvPr/>
        </p:nvSpPr>
        <p:spPr>
          <a:xfrm>
            <a:off x="520700" y="1184274"/>
            <a:ext cx="23114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4292E"/>
                </a:solidFill>
                <a:latin typeface="微软雅黑"/>
                <a:cs typeface="微软雅黑"/>
              </a:rPr>
              <a:t>三、本项目背景与目标</a:t>
            </a:r>
            <a:endParaRPr sz="1800">
              <a:latin typeface="微软雅黑"/>
              <a:cs typeface="微软雅黑"/>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微软雅黑"/>
                <a:cs typeface="微软雅黑"/>
              </a:rPr>
              <a:t>主题词语比例</a:t>
            </a:r>
            <a:r>
              <a:rPr b="1" spc="-55" dirty="0">
                <a:latin typeface="微软雅黑"/>
                <a:cs typeface="微软雅黑"/>
              </a:rPr>
              <a:t> </a:t>
            </a:r>
            <a:r>
              <a:rPr sz="1450" b="1" i="1" spc="-35" dirty="0">
                <a:latin typeface="Arial"/>
                <a:cs typeface="Arial"/>
              </a:rPr>
              <a:t>ϕ</a:t>
            </a:r>
            <a:r>
              <a:rPr b="1" spc="-35" dirty="0">
                <a:latin typeface="Segoe UI Semibold"/>
                <a:cs typeface="Segoe UI Semibold"/>
              </a:rPr>
              <a:t>:</a:t>
            </a:r>
            <a:r>
              <a:rPr b="1" spc="-25" dirty="0">
                <a:latin typeface="Segoe UI Semibold"/>
                <a:cs typeface="Segoe UI Semibold"/>
              </a:rPr>
              <a:t> </a:t>
            </a:r>
            <a:r>
              <a:rPr dirty="0"/>
              <a:t>一个主题必须</a:t>
            </a:r>
            <a:r>
              <a:rPr spc="-50" dirty="0"/>
              <a:t> </a:t>
            </a:r>
            <a:r>
              <a:rPr dirty="0">
                <a:latin typeface="Segoe UI"/>
                <a:cs typeface="Segoe UI"/>
              </a:rPr>
              <a:t>100%</a:t>
            </a:r>
            <a:r>
              <a:rPr spc="-20" dirty="0">
                <a:latin typeface="Segoe UI"/>
                <a:cs typeface="Segoe UI"/>
              </a:rPr>
              <a:t> </a:t>
            </a:r>
            <a:r>
              <a:rPr dirty="0"/>
              <a:t>由所有词汇构成</a:t>
            </a:r>
            <a:r>
              <a:rPr spc="-5" dirty="0"/>
              <a:t>。</a:t>
            </a:r>
            <a:r>
              <a:rPr sz="1450" spc="495" dirty="0">
                <a:latin typeface="Arial"/>
                <a:cs typeface="Arial"/>
              </a:rPr>
              <a:t>∑</a:t>
            </a:r>
            <a:endParaRPr sz="1450">
              <a:latin typeface="Arial"/>
              <a:cs typeface="Arial"/>
            </a:endParaRPr>
          </a:p>
        </p:txBody>
      </p:sp>
      <p:sp>
        <p:nvSpPr>
          <p:cNvPr id="6" name="object 6"/>
          <p:cNvSpPr txBox="1"/>
          <p:nvPr/>
        </p:nvSpPr>
        <p:spPr>
          <a:xfrm>
            <a:off x="4774356" y="807560"/>
            <a:ext cx="257810" cy="180340"/>
          </a:xfrm>
          <a:prstGeom prst="rect">
            <a:avLst/>
          </a:prstGeom>
        </p:spPr>
        <p:txBody>
          <a:bodyPr vert="horz" wrap="square" lIns="0" tIns="14604" rIns="0" bIns="0" rtlCol="0">
            <a:spAutoFit/>
          </a:bodyPr>
          <a:lstStyle/>
          <a:p>
            <a:pPr marL="12700">
              <a:lnSpc>
                <a:spcPct val="100000"/>
              </a:lnSpc>
              <a:spcBef>
                <a:spcPts val="114"/>
              </a:spcBef>
            </a:pPr>
            <a:r>
              <a:rPr sz="1000" i="1" spc="80" dirty="0">
                <a:solidFill>
                  <a:srgbClr val="24292E"/>
                </a:solidFill>
                <a:latin typeface="Times New Roman"/>
                <a:cs typeface="Times New Roman"/>
              </a:rPr>
              <a:t>v</a:t>
            </a:r>
            <a:r>
              <a:rPr sz="1000" spc="229" dirty="0">
                <a:solidFill>
                  <a:srgbClr val="24292E"/>
                </a:solidFill>
                <a:latin typeface="Cambria"/>
                <a:cs typeface="Cambria"/>
              </a:rPr>
              <a:t>=</a:t>
            </a:r>
            <a:r>
              <a:rPr sz="1000" spc="-50" dirty="0">
                <a:solidFill>
                  <a:srgbClr val="24292E"/>
                </a:solidFill>
                <a:latin typeface="Cambria"/>
                <a:cs typeface="Cambria"/>
              </a:rPr>
              <a:t>1</a:t>
            </a:r>
            <a:endParaRPr sz="1000">
              <a:latin typeface="Cambria"/>
              <a:cs typeface="Cambria"/>
            </a:endParaRPr>
          </a:p>
        </p:txBody>
      </p:sp>
      <p:sp>
        <p:nvSpPr>
          <p:cNvPr id="7" name="object 7"/>
          <p:cNvSpPr txBox="1"/>
          <p:nvPr/>
        </p:nvSpPr>
        <p:spPr>
          <a:xfrm>
            <a:off x="4774356" y="655160"/>
            <a:ext cx="100965" cy="180340"/>
          </a:xfrm>
          <a:prstGeom prst="rect">
            <a:avLst/>
          </a:prstGeom>
        </p:spPr>
        <p:txBody>
          <a:bodyPr vert="horz" wrap="square" lIns="0" tIns="14604" rIns="0" bIns="0" rtlCol="0">
            <a:spAutoFit/>
          </a:bodyPr>
          <a:lstStyle/>
          <a:p>
            <a:pPr marL="12700">
              <a:lnSpc>
                <a:spcPct val="100000"/>
              </a:lnSpc>
              <a:spcBef>
                <a:spcPts val="114"/>
              </a:spcBef>
            </a:pPr>
            <a:r>
              <a:rPr sz="1000" i="1" spc="-20" dirty="0">
                <a:solidFill>
                  <a:srgbClr val="24292E"/>
                </a:solidFill>
                <a:latin typeface="Times New Roman"/>
                <a:cs typeface="Times New Roman"/>
              </a:rPr>
              <a:t>V</a:t>
            </a:r>
            <a:endParaRPr sz="1000">
              <a:latin typeface="Times New Roman"/>
              <a:cs typeface="Times New Roman"/>
            </a:endParaRPr>
          </a:p>
        </p:txBody>
      </p:sp>
      <p:sp>
        <p:nvSpPr>
          <p:cNvPr id="8" name="object 8"/>
          <p:cNvSpPr txBox="1"/>
          <p:nvPr/>
        </p:nvSpPr>
        <p:spPr>
          <a:xfrm>
            <a:off x="5027265" y="695070"/>
            <a:ext cx="763270" cy="247015"/>
          </a:xfrm>
          <a:prstGeom prst="rect">
            <a:avLst/>
          </a:prstGeom>
        </p:spPr>
        <p:txBody>
          <a:bodyPr vert="horz" wrap="square" lIns="0" tIns="12700" rIns="0" bIns="0" rtlCol="0">
            <a:spAutoFit/>
          </a:bodyPr>
          <a:lstStyle/>
          <a:p>
            <a:pPr marL="38100">
              <a:lnSpc>
                <a:spcPct val="100000"/>
              </a:lnSpc>
              <a:spcBef>
                <a:spcPts val="100"/>
              </a:spcBef>
            </a:pPr>
            <a:r>
              <a:rPr sz="1450" i="1" spc="75" dirty="0">
                <a:solidFill>
                  <a:srgbClr val="24292E"/>
                </a:solidFill>
                <a:latin typeface="Times New Roman"/>
                <a:cs typeface="Times New Roman"/>
              </a:rPr>
              <a:t>ϕ</a:t>
            </a:r>
            <a:r>
              <a:rPr sz="1500" i="1" spc="112" baseline="-13888" dirty="0">
                <a:solidFill>
                  <a:srgbClr val="24292E"/>
                </a:solidFill>
                <a:latin typeface="Times New Roman"/>
                <a:cs typeface="Times New Roman"/>
              </a:rPr>
              <a:t>v </a:t>
            </a:r>
            <a:r>
              <a:rPr sz="1450" spc="325" dirty="0">
                <a:solidFill>
                  <a:srgbClr val="24292E"/>
                </a:solidFill>
                <a:latin typeface="Cambria"/>
                <a:cs typeface="Cambria"/>
              </a:rPr>
              <a:t>=</a:t>
            </a:r>
            <a:r>
              <a:rPr sz="1450" spc="40" dirty="0">
                <a:solidFill>
                  <a:srgbClr val="24292E"/>
                </a:solidFill>
                <a:latin typeface="Cambria"/>
                <a:cs typeface="Cambria"/>
              </a:rPr>
              <a:t> </a:t>
            </a:r>
            <a:r>
              <a:rPr sz="1450" spc="-80" dirty="0">
                <a:solidFill>
                  <a:srgbClr val="24292E"/>
                </a:solidFill>
                <a:latin typeface="Cambria"/>
                <a:cs typeface="Cambria"/>
              </a:rPr>
              <a:t>1 </a:t>
            </a:r>
            <a:r>
              <a:rPr sz="1200" dirty="0">
                <a:solidFill>
                  <a:srgbClr val="24292E"/>
                </a:solidFill>
                <a:latin typeface="微软雅黑"/>
                <a:cs typeface="微软雅黑"/>
              </a:rPr>
              <a:t>。</a:t>
            </a:r>
            <a:endParaRPr sz="1200">
              <a:latin typeface="微软雅黑"/>
              <a:cs typeface="微软雅黑"/>
            </a:endParaRPr>
          </a:p>
        </p:txBody>
      </p:sp>
      <p:sp>
        <p:nvSpPr>
          <p:cNvPr id="9" name="object 9"/>
          <p:cNvSpPr txBox="1">
            <a:spLocks noGrp="1"/>
          </p:cNvSpPr>
          <p:nvPr>
            <p:ph type="body" idx="1"/>
          </p:nvPr>
        </p:nvSpPr>
        <p:spPr>
          <a:prstGeom prst="rect">
            <a:avLst/>
          </a:prstGeom>
        </p:spPr>
        <p:txBody>
          <a:bodyPr vert="horz" wrap="square" lIns="0" tIns="12700" rIns="0" bIns="0" rtlCol="0">
            <a:spAutoFit/>
          </a:bodyPr>
          <a:lstStyle/>
          <a:p>
            <a:pPr marL="44450" marR="99695">
              <a:lnSpc>
                <a:spcPct val="125000"/>
              </a:lnSpc>
              <a:spcBef>
                <a:spcPts val="100"/>
              </a:spcBef>
            </a:pPr>
            <a:r>
              <a:rPr dirty="0"/>
              <a:t>实际上，使用</a:t>
            </a:r>
            <a:r>
              <a:rPr spc="-10" dirty="0">
                <a:latin typeface="Segoe UI"/>
                <a:cs typeface="Segoe UI"/>
              </a:rPr>
              <a:t>LDA</a:t>
            </a:r>
            <a:r>
              <a:rPr dirty="0"/>
              <a:t>等主题模型分析文本时，模型推断出的结果（文档主题比例）只是模型对真相的猜测，猜测准确度未 知</a:t>
            </a:r>
            <a:r>
              <a:t>。我采用统计模拟的方式对模型</a:t>
            </a:r>
            <a:r>
              <a:rPr lang="zh-CN" altLang="en-US"/>
              <a:t>（最基本的</a:t>
            </a:r>
            <a:r>
              <a:rPr lang="en-US" altLang="zh-CN"/>
              <a:t>LDA</a:t>
            </a:r>
            <a:r>
              <a:rPr lang="zh-CN" altLang="en-US"/>
              <a:t>模型）</a:t>
            </a:r>
            <a:r>
              <a:t>的性能进行科学量化</a:t>
            </a:r>
            <a:r>
              <a:rPr dirty="0"/>
              <a:t>，检验</a:t>
            </a:r>
            <a:r>
              <a:rPr dirty="0">
                <a:latin typeface="Segoe UI"/>
                <a:cs typeface="Segoe UI"/>
              </a:rPr>
              <a:t>L</a:t>
            </a:r>
            <a:r>
              <a:rPr spc="-30" dirty="0">
                <a:latin typeface="Segoe UI"/>
                <a:cs typeface="Segoe UI"/>
              </a:rPr>
              <a:t>D</a:t>
            </a:r>
            <a:r>
              <a:rPr dirty="0">
                <a:latin typeface="Segoe UI"/>
                <a:cs typeface="Segoe UI"/>
              </a:rPr>
              <a:t>A</a:t>
            </a:r>
            <a:r>
              <a:rPr dirty="0"/>
              <a:t>模型推断的准确度如何，从而为</a:t>
            </a:r>
            <a:r>
              <a:rPr dirty="0">
                <a:latin typeface="Segoe UI"/>
                <a:cs typeface="Segoe UI"/>
              </a:rPr>
              <a:t>L</a:t>
            </a:r>
            <a:r>
              <a:rPr spc="-30" dirty="0">
                <a:latin typeface="Segoe UI"/>
                <a:cs typeface="Segoe UI"/>
              </a:rPr>
              <a:t>D</a:t>
            </a:r>
            <a:r>
              <a:rPr dirty="0">
                <a:latin typeface="Segoe UI"/>
                <a:cs typeface="Segoe UI"/>
              </a:rPr>
              <a:t>A</a:t>
            </a:r>
            <a:r>
              <a:rPr dirty="0"/>
              <a:t>在推荐系统</a:t>
            </a:r>
            <a:r>
              <a:t>、文本挖掘等领域的可靠使用提供坚实的统计学基础</a:t>
            </a:r>
            <a:r>
              <a:rPr dirty="0"/>
              <a:t>。</a:t>
            </a:r>
          </a:p>
          <a:p>
            <a:pPr marL="6350">
              <a:lnSpc>
                <a:spcPct val="100000"/>
              </a:lnSpc>
              <a:spcBef>
                <a:spcPts val="85"/>
              </a:spcBef>
            </a:pPr>
            <a:endParaRPr sz="800"/>
          </a:p>
          <a:p>
            <a:pPr marL="44450">
              <a:lnSpc>
                <a:spcPct val="100000"/>
              </a:lnSpc>
            </a:pPr>
            <a:r>
              <a:rPr dirty="0"/>
              <a:t>具体来说：</a:t>
            </a:r>
          </a:p>
          <a:p>
            <a:pPr marL="349250" marR="95885" indent="-152400">
              <a:lnSpc>
                <a:spcPct val="122100"/>
              </a:lnSpc>
              <a:spcBef>
                <a:spcPts val="925"/>
              </a:spcBef>
              <a:buFont typeface="Segoe UI"/>
              <a:buAutoNum type="arabicPeriod"/>
              <a:tabLst>
                <a:tab pos="349250" algn="l"/>
              </a:tabLst>
            </a:pPr>
            <a:r>
              <a:rPr dirty="0"/>
              <a:t>生成</a:t>
            </a:r>
            <a:r>
              <a:rPr sz="1450" i="1" spc="195" dirty="0">
                <a:latin typeface="Times New Roman"/>
                <a:cs typeface="Times New Roman"/>
              </a:rPr>
              <a:t>N</a:t>
            </a:r>
            <a:r>
              <a:rPr sz="1450" i="1" spc="160" dirty="0">
                <a:latin typeface="Times New Roman"/>
                <a:cs typeface="Times New Roman"/>
              </a:rPr>
              <a:t> </a:t>
            </a:r>
            <a:r>
              <a:rPr sz="1450" spc="325" dirty="0">
                <a:latin typeface="Cambria"/>
                <a:cs typeface="Cambria"/>
              </a:rPr>
              <a:t>=</a:t>
            </a:r>
            <a:r>
              <a:rPr sz="1450" spc="60" dirty="0">
                <a:latin typeface="Cambria"/>
                <a:cs typeface="Cambria"/>
              </a:rPr>
              <a:t> </a:t>
            </a:r>
            <a:r>
              <a:rPr sz="1450" spc="-80" dirty="0">
                <a:latin typeface="Cambria"/>
                <a:cs typeface="Cambria"/>
              </a:rPr>
              <a:t>3000</a:t>
            </a:r>
            <a:r>
              <a:rPr dirty="0"/>
              <a:t>篇文档。每一篇文档都附带一个</a:t>
            </a:r>
            <a:r>
              <a:rPr b="1" dirty="0">
                <a:latin typeface="微软雅黑"/>
                <a:cs typeface="微软雅黑"/>
              </a:rPr>
              <a:t>已知的</a:t>
            </a:r>
            <a:r>
              <a:rPr dirty="0"/>
              <a:t>、</a:t>
            </a:r>
            <a:r>
              <a:rPr b="1" dirty="0">
                <a:latin typeface="微软雅黑"/>
                <a:cs typeface="微软雅黑"/>
              </a:rPr>
              <a:t>真实的</a:t>
            </a:r>
            <a:r>
              <a:rPr dirty="0"/>
              <a:t>主题比例向量</a:t>
            </a:r>
            <a:r>
              <a:rPr spc="-45" dirty="0"/>
              <a:t> </a:t>
            </a:r>
            <a:r>
              <a:rPr spc="50" dirty="0">
                <a:latin typeface="Segoe UI"/>
                <a:cs typeface="Segoe UI"/>
              </a:rPr>
              <a:t>(</a:t>
            </a:r>
            <a:r>
              <a:rPr sz="1450" b="1" i="1" spc="50" dirty="0">
                <a:latin typeface="Arial"/>
                <a:cs typeface="Arial"/>
              </a:rPr>
              <a:t>θ</a:t>
            </a:r>
            <a:r>
              <a:rPr sz="1500" b="1" i="1" spc="75" baseline="-8333" dirty="0">
                <a:latin typeface="Arial"/>
                <a:cs typeface="Arial"/>
              </a:rPr>
              <a:t>true</a:t>
            </a:r>
            <a:r>
              <a:rPr sz="1200" spc="50" dirty="0">
                <a:latin typeface="Segoe UI"/>
                <a:cs typeface="Segoe UI"/>
              </a:rPr>
              <a:t>)</a:t>
            </a:r>
            <a:r>
              <a:rPr sz="1200" spc="50" dirty="0"/>
              <a:t>，</a:t>
            </a:r>
            <a:r>
              <a:rPr sz="1200" dirty="0"/>
              <a:t>并存储在数据库中，作为验 证的基础。</a:t>
            </a:r>
            <a:endParaRPr sz="1200">
              <a:latin typeface="Segoe UI"/>
              <a:cs typeface="Segoe UI"/>
            </a:endParaRPr>
          </a:p>
          <a:p>
            <a:pPr marL="349250" indent="-152400">
              <a:lnSpc>
                <a:spcPct val="100000"/>
              </a:lnSpc>
              <a:spcBef>
                <a:spcPts val="1310"/>
              </a:spcBef>
              <a:buFont typeface="Segoe UI"/>
              <a:buAutoNum type="arabicPeriod"/>
              <a:tabLst>
                <a:tab pos="349250" algn="l"/>
              </a:tabLst>
            </a:pPr>
            <a:r>
              <a:rPr dirty="0"/>
              <a:t>以这</a:t>
            </a:r>
            <a:r>
              <a:rPr dirty="0">
                <a:latin typeface="Segoe UI"/>
                <a:cs typeface="Segoe UI"/>
              </a:rPr>
              <a:t>3000</a:t>
            </a:r>
            <a:r>
              <a:rPr dirty="0"/>
              <a:t>篇文档作为输入数据，利用</a:t>
            </a:r>
            <a:r>
              <a:rPr dirty="0">
                <a:latin typeface="Segoe UI"/>
                <a:cs typeface="Segoe UI"/>
              </a:rPr>
              <a:t>Python</a:t>
            </a:r>
            <a:r>
              <a:rPr dirty="0"/>
              <a:t>训练</a:t>
            </a:r>
            <a:r>
              <a:rPr spc="-10" dirty="0">
                <a:latin typeface="Segoe UI"/>
                <a:cs typeface="Segoe UI"/>
              </a:rPr>
              <a:t>LDA</a:t>
            </a:r>
            <a:r>
              <a:rPr dirty="0"/>
              <a:t>模型，推断出每篇文档的预测主题分布</a:t>
            </a:r>
            <a:r>
              <a:rPr spc="25" dirty="0">
                <a:latin typeface="Segoe UI"/>
                <a:cs typeface="Segoe UI"/>
              </a:rPr>
              <a:t>(</a:t>
            </a:r>
            <a:r>
              <a:rPr sz="1450" b="1" i="1" spc="25" dirty="0">
                <a:latin typeface="Arial"/>
                <a:cs typeface="Arial"/>
              </a:rPr>
              <a:t>θ</a:t>
            </a:r>
            <a:r>
              <a:rPr sz="1500" b="1" i="1" spc="37" baseline="-13888" dirty="0">
                <a:latin typeface="Arial"/>
                <a:cs typeface="Arial"/>
              </a:rPr>
              <a:t>pred</a:t>
            </a:r>
            <a:r>
              <a:rPr sz="1500" b="1" i="1" spc="-254" baseline="-13888" dirty="0">
                <a:latin typeface="Arial"/>
                <a:cs typeface="Arial"/>
              </a:rPr>
              <a:t> </a:t>
            </a:r>
            <a:r>
              <a:rPr sz="1200" dirty="0">
                <a:latin typeface="Segoe UI"/>
                <a:cs typeface="Segoe UI"/>
              </a:rPr>
              <a:t>)</a:t>
            </a:r>
            <a:r>
              <a:rPr sz="1200" dirty="0"/>
              <a:t>。</a:t>
            </a:r>
            <a:endParaRPr sz="1200">
              <a:latin typeface="Segoe UI"/>
              <a:cs typeface="Segoe UI"/>
            </a:endParaRPr>
          </a:p>
          <a:p>
            <a:pPr marL="349250" indent="-152400">
              <a:lnSpc>
                <a:spcPct val="100000"/>
              </a:lnSpc>
              <a:spcBef>
                <a:spcPts val="1335"/>
              </a:spcBef>
              <a:buFont typeface="Segoe UI"/>
              <a:buAutoNum type="arabicPeriod"/>
              <a:tabLst>
                <a:tab pos="349250" algn="l"/>
              </a:tabLst>
            </a:pPr>
            <a:r>
              <a:rPr dirty="0"/>
              <a:t>使用两个向量的</a:t>
            </a:r>
            <a:r>
              <a:rPr b="1" dirty="0">
                <a:latin typeface="微软雅黑"/>
                <a:cs typeface="微软雅黑"/>
              </a:rPr>
              <a:t>余弦相似度</a:t>
            </a:r>
            <a:r>
              <a:rPr dirty="0"/>
              <a:t>作为量化指标，对比</a:t>
            </a:r>
            <a:r>
              <a:rPr spc="-45" dirty="0"/>
              <a:t> </a:t>
            </a:r>
            <a:r>
              <a:rPr sz="1450" b="1" i="1" spc="65" dirty="0">
                <a:latin typeface="Arial"/>
                <a:cs typeface="Arial"/>
              </a:rPr>
              <a:t>θ</a:t>
            </a:r>
            <a:r>
              <a:rPr sz="1500" b="1" i="1" spc="97" baseline="-13888" dirty="0">
                <a:latin typeface="Arial"/>
                <a:cs typeface="Arial"/>
              </a:rPr>
              <a:t>true</a:t>
            </a:r>
            <a:r>
              <a:rPr sz="1500" b="1" i="1" spc="179" baseline="-13888" dirty="0">
                <a:latin typeface="Arial"/>
                <a:cs typeface="Arial"/>
              </a:rPr>
              <a:t> </a:t>
            </a:r>
            <a:r>
              <a:rPr sz="1200" b="1" dirty="0">
                <a:latin typeface="微软雅黑"/>
                <a:cs typeface="微软雅黑"/>
              </a:rPr>
              <a:t>向量</a:t>
            </a:r>
            <a:r>
              <a:rPr sz="1200" b="1" spc="-40" dirty="0">
                <a:latin typeface="微软雅黑"/>
                <a:cs typeface="微软雅黑"/>
              </a:rPr>
              <a:t> </a:t>
            </a:r>
            <a:r>
              <a:rPr sz="1200" dirty="0"/>
              <a:t>和</a:t>
            </a:r>
            <a:r>
              <a:rPr sz="1200" spc="-40" dirty="0"/>
              <a:t> </a:t>
            </a:r>
            <a:r>
              <a:rPr sz="1450" b="1" i="1" spc="30" dirty="0">
                <a:latin typeface="Arial"/>
                <a:cs typeface="Arial"/>
              </a:rPr>
              <a:t>θ</a:t>
            </a:r>
            <a:r>
              <a:rPr sz="1500" b="1" i="1" spc="44" baseline="-13888" dirty="0">
                <a:latin typeface="Arial"/>
                <a:cs typeface="Arial"/>
              </a:rPr>
              <a:t>pred</a:t>
            </a:r>
            <a:r>
              <a:rPr sz="1500" b="1" i="1" spc="225" baseline="-13888" dirty="0">
                <a:latin typeface="Arial"/>
                <a:cs typeface="Arial"/>
              </a:rPr>
              <a:t> </a:t>
            </a:r>
            <a:r>
              <a:rPr sz="1200" b="1" dirty="0">
                <a:latin typeface="微软雅黑"/>
                <a:cs typeface="微软雅黑"/>
              </a:rPr>
              <a:t>向量</a:t>
            </a:r>
            <a:r>
              <a:rPr sz="1200" b="1" spc="-40" dirty="0">
                <a:latin typeface="微软雅黑"/>
                <a:cs typeface="微软雅黑"/>
              </a:rPr>
              <a:t> </a:t>
            </a:r>
            <a:r>
              <a:rPr sz="1200" dirty="0"/>
              <a:t>在向量空间中的夹角。夹角越小，相似度</a:t>
            </a:r>
            <a:endParaRPr sz="1200">
              <a:latin typeface="微软雅黑"/>
              <a:cs typeface="微软雅黑"/>
            </a:endParaRPr>
          </a:p>
          <a:p>
            <a:pPr marL="349250">
              <a:lnSpc>
                <a:spcPct val="100000"/>
              </a:lnSpc>
              <a:spcBef>
                <a:spcPts val="385"/>
              </a:spcBef>
            </a:pPr>
            <a:r>
              <a:rPr dirty="0"/>
              <a:t>（分数越接近</a:t>
            </a:r>
            <a:r>
              <a:rPr spc="-35" dirty="0"/>
              <a:t> </a:t>
            </a:r>
            <a:r>
              <a:rPr dirty="0">
                <a:latin typeface="Segoe UI"/>
                <a:cs typeface="Segoe UI"/>
              </a:rPr>
              <a:t>1</a:t>
            </a:r>
            <a:r>
              <a:rPr dirty="0"/>
              <a:t>）越高，表明模型推断越准确。</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3011487"/>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p:nvPr/>
        </p:nvSpPr>
        <p:spPr>
          <a:xfrm>
            <a:off x="3047999" y="1987550"/>
            <a:ext cx="590550" cy="209550"/>
          </a:xfrm>
          <a:custGeom>
            <a:avLst/>
            <a:gdLst/>
            <a:ahLst/>
            <a:cxnLst/>
            <a:rect l="l" t="t" r="r" b="b"/>
            <a:pathLst>
              <a:path w="590550" h="209550">
                <a:moveTo>
                  <a:pt x="565764" y="209549"/>
                </a:moveTo>
                <a:lnTo>
                  <a:pt x="24785" y="209549"/>
                </a:lnTo>
                <a:lnTo>
                  <a:pt x="21140" y="208822"/>
                </a:lnTo>
                <a:lnTo>
                  <a:pt x="0" y="184763"/>
                </a:lnTo>
                <a:lnTo>
                  <a:pt x="0" y="24785"/>
                </a:lnTo>
                <a:lnTo>
                  <a:pt x="24785" y="0"/>
                </a:lnTo>
                <a:lnTo>
                  <a:pt x="565764" y="0"/>
                </a:lnTo>
                <a:lnTo>
                  <a:pt x="590550" y="24785"/>
                </a:lnTo>
                <a:lnTo>
                  <a:pt x="590550" y="184763"/>
                </a:lnTo>
                <a:lnTo>
                  <a:pt x="565764" y="209549"/>
                </a:lnTo>
                <a:close/>
              </a:path>
            </a:pathLst>
          </a:custGeom>
          <a:solidFill>
            <a:srgbClr val="1B1F23">
              <a:alpha val="5099"/>
            </a:srgbClr>
          </a:solidFill>
        </p:spPr>
        <p:txBody>
          <a:bodyPr wrap="square" lIns="0" tIns="0" rIns="0" bIns="0" rtlCol="0"/>
          <a:lstStyle/>
          <a:p>
            <a:endParaRPr/>
          </a:p>
        </p:txBody>
      </p:sp>
      <p:sp>
        <p:nvSpPr>
          <p:cNvPr id="4" name="object 4"/>
          <p:cNvSpPr txBox="1"/>
          <p:nvPr/>
        </p:nvSpPr>
        <p:spPr>
          <a:xfrm>
            <a:off x="520700" y="671830"/>
            <a:ext cx="8102600" cy="1594411"/>
          </a:xfrm>
          <a:prstGeom prst="rect">
            <a:avLst/>
          </a:prstGeom>
        </p:spPr>
        <p:txBody>
          <a:bodyPr vert="horz" wrap="square" lIns="0" tIns="12700" rIns="0" bIns="0" rtlCol="0">
            <a:spAutoFit/>
          </a:bodyPr>
          <a:lstStyle/>
          <a:p>
            <a:pPr marL="317500" marR="5080" indent="-152400">
              <a:lnSpc>
                <a:spcPct val="125000"/>
              </a:lnSpc>
              <a:spcBef>
                <a:spcPts val="100"/>
              </a:spcBef>
            </a:pPr>
            <a:r>
              <a:rPr sz="1200" dirty="0">
                <a:solidFill>
                  <a:srgbClr val="24292E"/>
                </a:solidFill>
                <a:latin typeface="Segoe UI"/>
                <a:cs typeface="Segoe UI"/>
              </a:rPr>
              <a:t>4.</a:t>
            </a:r>
            <a:r>
              <a:rPr sz="1200" spc="-140" dirty="0">
                <a:solidFill>
                  <a:srgbClr val="24292E"/>
                </a:solidFill>
                <a:latin typeface="Segoe UI"/>
                <a:cs typeface="Segoe UI"/>
              </a:rPr>
              <a:t> </a:t>
            </a:r>
            <a:r>
              <a:rPr sz="1200" dirty="0">
                <a:solidFill>
                  <a:srgbClr val="24292E"/>
                </a:solidFill>
                <a:latin typeface="微软雅黑"/>
                <a:cs typeface="微软雅黑"/>
              </a:rPr>
              <a:t>将数据生成、存储、模型推断、结果验证等一系列工程产生的所需的样本和产生的结果完整地储存在数据库中，以便 批量进行分析。</a:t>
            </a:r>
            <a:endParaRPr sz="1200">
              <a:latin typeface="微软雅黑"/>
              <a:cs typeface="微软雅黑"/>
            </a:endParaRPr>
          </a:p>
          <a:p>
            <a:pPr>
              <a:lnSpc>
                <a:spcPct val="100000"/>
              </a:lnSpc>
              <a:spcBef>
                <a:spcPts val="85"/>
              </a:spcBef>
            </a:pPr>
            <a:endParaRPr sz="800">
              <a:latin typeface="微软雅黑"/>
              <a:cs typeface="微软雅黑"/>
            </a:endParaRPr>
          </a:p>
          <a:p>
            <a:pPr marL="12700">
              <a:lnSpc>
                <a:spcPct val="100000"/>
              </a:lnSpc>
            </a:pPr>
            <a:r>
              <a:rPr sz="1200" dirty="0">
                <a:solidFill>
                  <a:srgbClr val="24292E"/>
                </a:solidFill>
                <a:latin typeface="微软雅黑"/>
                <a:cs typeface="微软雅黑"/>
              </a:rPr>
              <a:t>注：</a:t>
            </a:r>
            <a:endParaRPr sz="1200">
              <a:latin typeface="微软雅黑"/>
              <a:cs typeface="微软雅黑"/>
            </a:endParaRPr>
          </a:p>
          <a:p>
            <a:pPr>
              <a:lnSpc>
                <a:spcPct val="100000"/>
              </a:lnSpc>
              <a:spcBef>
                <a:spcPts val="85"/>
              </a:spcBef>
            </a:pPr>
            <a:endParaRPr sz="800">
              <a:latin typeface="微软雅黑"/>
              <a:cs typeface="微软雅黑"/>
            </a:endParaRPr>
          </a:p>
          <a:p>
            <a:pPr marL="317500" indent="-152400">
              <a:lnSpc>
                <a:spcPct val="100000"/>
              </a:lnSpc>
              <a:buFont typeface="Segoe UI"/>
              <a:buAutoNum type="arabicPeriod"/>
              <a:tabLst>
                <a:tab pos="317500" algn="l"/>
              </a:tabLst>
            </a:pPr>
            <a:r>
              <a:rPr sz="1200" dirty="0">
                <a:solidFill>
                  <a:srgbClr val="24292E"/>
                </a:solidFill>
                <a:latin typeface="微软雅黑"/>
                <a:cs typeface="微软雅黑"/>
              </a:rPr>
              <a:t>本项目主要用到</a:t>
            </a:r>
            <a:r>
              <a:rPr sz="1200" dirty="0">
                <a:solidFill>
                  <a:srgbClr val="24292E"/>
                </a:solidFill>
                <a:latin typeface="Segoe UI"/>
                <a:cs typeface="Segoe UI"/>
              </a:rPr>
              <a:t>Python</a:t>
            </a:r>
            <a:r>
              <a:rPr sz="1200" spc="-5" dirty="0">
                <a:solidFill>
                  <a:srgbClr val="24292E"/>
                </a:solidFill>
                <a:latin typeface="Segoe UI"/>
                <a:cs typeface="Segoe UI"/>
              </a:rPr>
              <a:t> </a:t>
            </a:r>
            <a:r>
              <a:rPr sz="1200" dirty="0">
                <a:solidFill>
                  <a:srgbClr val="24292E"/>
                </a:solidFill>
                <a:latin typeface="微软雅黑"/>
                <a:cs typeface="微软雅黑"/>
              </a:rPr>
              <a:t>、</a:t>
            </a:r>
            <a:r>
              <a:rPr sz="1200" dirty="0">
                <a:solidFill>
                  <a:srgbClr val="24292E"/>
                </a:solidFill>
                <a:latin typeface="Segoe UI"/>
                <a:cs typeface="Segoe UI"/>
              </a:rPr>
              <a:t>sqlite3</a:t>
            </a:r>
            <a:r>
              <a:rPr sz="1200" dirty="0">
                <a:solidFill>
                  <a:srgbClr val="24292E"/>
                </a:solidFill>
                <a:latin typeface="微软雅黑"/>
                <a:cs typeface="微软雅黑"/>
              </a:rPr>
              <a:t>。本项目所用方法为统计模拟。</a:t>
            </a:r>
            <a:endParaRPr sz="1200">
              <a:latin typeface="微软雅黑"/>
              <a:cs typeface="微软雅黑"/>
            </a:endParaRPr>
          </a:p>
          <a:p>
            <a:pPr marL="317500" marR="91440" indent="-152400">
              <a:lnSpc>
                <a:spcPct val="125000"/>
              </a:lnSpc>
              <a:spcBef>
                <a:spcPts val="300"/>
              </a:spcBef>
              <a:buFont typeface="Segoe UI"/>
              <a:buAutoNum type="arabicPeriod"/>
              <a:tabLst>
                <a:tab pos="317500" algn="l"/>
              </a:tabLst>
            </a:pPr>
            <a:r>
              <a:rPr sz="1200">
                <a:solidFill>
                  <a:srgbClr val="24292E"/>
                </a:solidFill>
                <a:latin typeface="微软雅黑"/>
                <a:cs typeface="微软雅黑"/>
              </a:rPr>
              <a:t>使用</a:t>
            </a:r>
            <a:r>
              <a:rPr sz="1200">
                <a:solidFill>
                  <a:srgbClr val="24292E"/>
                </a:solidFill>
                <a:latin typeface="Segoe UI"/>
                <a:cs typeface="Segoe UI"/>
              </a:rPr>
              <a:t>SQLite</a:t>
            </a:r>
            <a:r>
              <a:rPr lang="en-US" sz="1200">
                <a:solidFill>
                  <a:srgbClr val="24292E"/>
                </a:solidFill>
                <a:latin typeface="Segoe UI"/>
                <a:cs typeface="Segoe UI"/>
              </a:rPr>
              <a:t>3</a:t>
            </a:r>
            <a:r>
              <a:rPr sz="1200">
                <a:solidFill>
                  <a:srgbClr val="24292E"/>
                </a:solidFill>
                <a:latin typeface="微软雅黑"/>
                <a:cs typeface="微软雅黑"/>
              </a:rPr>
              <a:t>的好处</a:t>
            </a:r>
            <a:r>
              <a:rPr sz="1200" dirty="0">
                <a:solidFill>
                  <a:srgbClr val="24292E"/>
                </a:solidFill>
                <a:latin typeface="微软雅黑"/>
                <a:cs typeface="微软雅黑"/>
              </a:rPr>
              <a:t>：</a:t>
            </a:r>
            <a:r>
              <a:rPr sz="1200" dirty="0">
                <a:solidFill>
                  <a:srgbClr val="24292E"/>
                </a:solidFill>
                <a:latin typeface="Segoe UI"/>
                <a:cs typeface="Segoe UI"/>
              </a:rPr>
              <a:t>Python3</a:t>
            </a:r>
            <a:r>
              <a:rPr sz="1200" dirty="0">
                <a:solidFill>
                  <a:srgbClr val="24292E"/>
                </a:solidFill>
                <a:latin typeface="微软雅黑"/>
                <a:cs typeface="微软雅黑"/>
              </a:rPr>
              <a:t>自带</a:t>
            </a:r>
            <a:r>
              <a:rPr sz="1200" spc="-35" dirty="0">
                <a:solidFill>
                  <a:srgbClr val="24292E"/>
                </a:solidFill>
                <a:latin typeface="微软雅黑"/>
                <a:cs typeface="微软雅黑"/>
              </a:rPr>
              <a:t> </a:t>
            </a:r>
            <a:r>
              <a:rPr sz="1000" spc="10" dirty="0">
                <a:solidFill>
                  <a:srgbClr val="24292E"/>
                </a:solidFill>
                <a:latin typeface="Consolas"/>
                <a:cs typeface="Consolas"/>
              </a:rPr>
              <a:t>sqlite3</a:t>
            </a:r>
            <a:r>
              <a:rPr sz="1000" spc="-225" dirty="0">
                <a:solidFill>
                  <a:srgbClr val="24292E"/>
                </a:solidFill>
                <a:latin typeface="Consolas"/>
                <a:cs typeface="Consolas"/>
              </a:rPr>
              <a:t> </a:t>
            </a:r>
            <a:r>
              <a:rPr sz="1200" dirty="0">
                <a:solidFill>
                  <a:srgbClr val="24292E"/>
                </a:solidFill>
                <a:latin typeface="微软雅黑"/>
                <a:cs typeface="微软雅黑"/>
              </a:rPr>
              <a:t>模块；没有权限验证问题，</a:t>
            </a:r>
            <a:r>
              <a:rPr sz="1200" dirty="0">
                <a:solidFill>
                  <a:srgbClr val="24292E"/>
                </a:solidFill>
                <a:latin typeface="Segoe UI"/>
                <a:cs typeface="Segoe UI"/>
              </a:rPr>
              <a:t>SQLite</a:t>
            </a:r>
            <a:r>
              <a:rPr sz="1200" dirty="0">
                <a:solidFill>
                  <a:srgbClr val="24292E"/>
                </a:solidFill>
                <a:latin typeface="微软雅黑"/>
                <a:cs typeface="微软雅黑"/>
              </a:rPr>
              <a:t>本身是</a:t>
            </a:r>
            <a:r>
              <a:rPr sz="1200" dirty="0">
                <a:solidFill>
                  <a:srgbClr val="24292E"/>
                </a:solidFill>
                <a:latin typeface="Segoe UI"/>
                <a:cs typeface="Segoe UI"/>
              </a:rPr>
              <a:t>db</a:t>
            </a:r>
            <a:r>
              <a:rPr sz="1200" dirty="0">
                <a:solidFill>
                  <a:srgbClr val="24292E"/>
                </a:solidFill>
                <a:latin typeface="微软雅黑"/>
                <a:cs typeface="微软雅黑"/>
              </a:rPr>
              <a:t>文件；适合功能演示，更加专 注于</a:t>
            </a:r>
            <a:r>
              <a:rPr sz="1200" spc="-10" dirty="0">
                <a:solidFill>
                  <a:srgbClr val="24292E"/>
                </a:solidFill>
                <a:latin typeface="Segoe UI"/>
                <a:cs typeface="Segoe UI"/>
              </a:rPr>
              <a:t>LDA</a:t>
            </a:r>
            <a:r>
              <a:rPr sz="1200" dirty="0">
                <a:solidFill>
                  <a:srgbClr val="24292E"/>
                </a:solidFill>
                <a:latin typeface="微软雅黑"/>
                <a:cs typeface="微软雅黑"/>
              </a:rPr>
              <a:t>算法本身。</a:t>
            </a:r>
            <a:endParaRPr sz="1200">
              <a:latin typeface="微软雅黑"/>
              <a:cs typeface="微软雅黑"/>
            </a:endParaRPr>
          </a:p>
        </p:txBody>
      </p:sp>
      <p:sp>
        <p:nvSpPr>
          <p:cNvPr id="5" name="object 5"/>
          <p:cNvSpPr txBox="1"/>
          <p:nvPr/>
        </p:nvSpPr>
        <p:spPr>
          <a:xfrm>
            <a:off x="520700" y="2651125"/>
            <a:ext cx="25400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4292E"/>
                </a:solidFill>
                <a:latin typeface="微软雅黑"/>
                <a:cs typeface="微软雅黑"/>
              </a:rPr>
              <a:t>四、本项目流程具体介绍</a:t>
            </a:r>
            <a:endParaRPr sz="1800">
              <a:latin typeface="微软雅黑"/>
              <a:cs typeface="微软雅黑"/>
            </a:endParaRPr>
          </a:p>
        </p:txBody>
      </p:sp>
      <p:sp>
        <p:nvSpPr>
          <p:cNvPr id="6" name="object 6"/>
          <p:cNvSpPr/>
          <p:nvPr/>
        </p:nvSpPr>
        <p:spPr>
          <a:xfrm>
            <a:off x="685800" y="3654425"/>
            <a:ext cx="733425" cy="209550"/>
          </a:xfrm>
          <a:custGeom>
            <a:avLst/>
            <a:gdLst/>
            <a:ahLst/>
            <a:cxnLst/>
            <a:rect l="l" t="t" r="r" b="b"/>
            <a:pathLst>
              <a:path w="733425" h="209550">
                <a:moveTo>
                  <a:pt x="708639" y="209549"/>
                </a:moveTo>
                <a:lnTo>
                  <a:pt x="24785" y="209549"/>
                </a:lnTo>
                <a:lnTo>
                  <a:pt x="21140" y="208822"/>
                </a:lnTo>
                <a:lnTo>
                  <a:pt x="0" y="184763"/>
                </a:lnTo>
                <a:lnTo>
                  <a:pt x="0" y="24783"/>
                </a:lnTo>
                <a:lnTo>
                  <a:pt x="24785" y="0"/>
                </a:lnTo>
                <a:lnTo>
                  <a:pt x="708639" y="0"/>
                </a:lnTo>
                <a:lnTo>
                  <a:pt x="733424" y="24783"/>
                </a:lnTo>
                <a:lnTo>
                  <a:pt x="733424" y="184763"/>
                </a:lnTo>
                <a:lnTo>
                  <a:pt x="708639" y="209549"/>
                </a:lnTo>
                <a:close/>
              </a:path>
            </a:pathLst>
          </a:custGeom>
          <a:solidFill>
            <a:srgbClr val="1B1F23">
              <a:alpha val="5099"/>
            </a:srgbClr>
          </a:solidFill>
        </p:spPr>
        <p:txBody>
          <a:bodyPr wrap="square" lIns="0" tIns="0" rIns="0" bIns="0" rtlCol="0"/>
          <a:lstStyle/>
          <a:p>
            <a:endParaRPr/>
          </a:p>
        </p:txBody>
      </p:sp>
      <p:sp>
        <p:nvSpPr>
          <p:cNvPr id="7" name="object 7"/>
          <p:cNvSpPr txBox="1"/>
          <p:nvPr/>
        </p:nvSpPr>
        <p:spPr>
          <a:xfrm>
            <a:off x="520700" y="3241675"/>
            <a:ext cx="7963534" cy="846455"/>
          </a:xfrm>
          <a:prstGeom prst="rect">
            <a:avLst/>
          </a:prstGeom>
        </p:spPr>
        <p:txBody>
          <a:bodyPr vert="horz" wrap="square" lIns="0" tIns="12700" rIns="0" bIns="0" rtlCol="0">
            <a:spAutoFit/>
          </a:bodyPr>
          <a:lstStyle/>
          <a:p>
            <a:pPr marL="12700">
              <a:lnSpc>
                <a:spcPct val="100000"/>
              </a:lnSpc>
              <a:spcBef>
                <a:spcPts val="100"/>
              </a:spcBef>
            </a:pPr>
            <a:r>
              <a:rPr sz="1500" b="1" dirty="0">
                <a:solidFill>
                  <a:srgbClr val="24292E"/>
                </a:solidFill>
                <a:latin typeface="Segoe UI Semibold"/>
                <a:cs typeface="Segoe UI Semibold"/>
              </a:rPr>
              <a:t>1</a:t>
            </a:r>
            <a:r>
              <a:rPr sz="1500" b="1" dirty="0">
                <a:solidFill>
                  <a:srgbClr val="24292E"/>
                </a:solidFill>
                <a:latin typeface="微软雅黑"/>
                <a:cs typeface="微软雅黑"/>
              </a:rPr>
              <a:t>、初始化与参数</a:t>
            </a:r>
            <a:endParaRPr sz="1500">
              <a:latin typeface="微软雅黑"/>
              <a:cs typeface="微软雅黑"/>
            </a:endParaRPr>
          </a:p>
          <a:p>
            <a:pPr marL="12700" marR="5080">
              <a:lnSpc>
                <a:spcPct val="122100"/>
              </a:lnSpc>
              <a:spcBef>
                <a:spcPts val="715"/>
              </a:spcBef>
            </a:pPr>
            <a:r>
              <a:rPr sz="1200" dirty="0">
                <a:solidFill>
                  <a:srgbClr val="24292E"/>
                </a:solidFill>
                <a:latin typeface="微软雅黑"/>
                <a:cs typeface="微软雅黑"/>
              </a:rPr>
              <a:t>在</a:t>
            </a:r>
            <a:r>
              <a:rPr sz="1200" spc="10" dirty="0">
                <a:solidFill>
                  <a:srgbClr val="24292E"/>
                </a:solidFill>
                <a:latin typeface="微软雅黑"/>
                <a:cs typeface="微软雅黑"/>
              </a:rPr>
              <a:t> </a:t>
            </a:r>
            <a:r>
              <a:rPr sz="1000" spc="10" dirty="0">
                <a:solidFill>
                  <a:srgbClr val="24292E"/>
                </a:solidFill>
                <a:latin typeface="Consolas"/>
                <a:cs typeface="Consolas"/>
              </a:rPr>
              <a:t>config.py</a:t>
            </a:r>
            <a:r>
              <a:rPr sz="1000" spc="-180" dirty="0">
                <a:solidFill>
                  <a:srgbClr val="24292E"/>
                </a:solidFill>
                <a:latin typeface="Consolas"/>
                <a:cs typeface="Consolas"/>
              </a:rPr>
              <a:t> </a:t>
            </a:r>
            <a:r>
              <a:rPr sz="1200" dirty="0">
                <a:solidFill>
                  <a:srgbClr val="24292E"/>
                </a:solidFill>
                <a:latin typeface="微软雅黑"/>
                <a:cs typeface="微软雅黑"/>
              </a:rPr>
              <a:t>定义了</a:t>
            </a:r>
            <a:r>
              <a:rPr sz="1450" i="1" spc="365" dirty="0">
                <a:solidFill>
                  <a:srgbClr val="24292E"/>
                </a:solidFill>
                <a:latin typeface="Times New Roman"/>
                <a:cs typeface="Times New Roman"/>
              </a:rPr>
              <a:t>K</a:t>
            </a:r>
            <a:r>
              <a:rPr sz="1200" dirty="0">
                <a:solidFill>
                  <a:srgbClr val="24292E"/>
                </a:solidFill>
                <a:latin typeface="微软雅黑"/>
                <a:cs typeface="微软雅黑"/>
              </a:rPr>
              <a:t>个主题、</a:t>
            </a:r>
            <a:r>
              <a:rPr sz="1450" i="1" spc="-40" dirty="0">
                <a:solidFill>
                  <a:srgbClr val="24292E"/>
                </a:solidFill>
                <a:latin typeface="Times New Roman"/>
                <a:cs typeface="Times New Roman"/>
              </a:rPr>
              <a:t>V </a:t>
            </a:r>
            <a:r>
              <a:rPr sz="1200" dirty="0">
                <a:solidFill>
                  <a:srgbClr val="24292E"/>
                </a:solidFill>
                <a:latin typeface="微软雅黑"/>
                <a:cs typeface="微软雅黑"/>
              </a:rPr>
              <a:t>个词汇</a:t>
            </a:r>
            <a:r>
              <a:rPr sz="1200" spc="95" dirty="0">
                <a:solidFill>
                  <a:srgbClr val="24292E"/>
                </a:solidFill>
                <a:latin typeface="微软雅黑"/>
                <a:cs typeface="微软雅黑"/>
              </a:rPr>
              <a:t>，</a:t>
            </a:r>
            <a:r>
              <a:rPr sz="1450" i="1" spc="95" dirty="0">
                <a:solidFill>
                  <a:srgbClr val="24292E"/>
                </a:solidFill>
                <a:latin typeface="Times New Roman"/>
                <a:cs typeface="Times New Roman"/>
              </a:rPr>
              <a:t>N</a:t>
            </a:r>
            <a:r>
              <a:rPr sz="1450" i="1" spc="-204" dirty="0">
                <a:solidFill>
                  <a:srgbClr val="24292E"/>
                </a:solidFill>
                <a:latin typeface="Times New Roman"/>
                <a:cs typeface="Times New Roman"/>
              </a:rPr>
              <a:t> </a:t>
            </a:r>
            <a:r>
              <a:rPr sz="1200" dirty="0">
                <a:solidFill>
                  <a:srgbClr val="24292E"/>
                </a:solidFill>
                <a:latin typeface="微软雅黑"/>
                <a:cs typeface="微软雅黑"/>
              </a:rPr>
              <a:t>篇文档</a:t>
            </a:r>
            <a:r>
              <a:rPr sz="1200" spc="-10" dirty="0">
                <a:solidFill>
                  <a:srgbClr val="24292E"/>
                </a:solidFill>
                <a:latin typeface="微软雅黑"/>
                <a:cs typeface="微软雅黑"/>
              </a:rPr>
              <a:t>，</a:t>
            </a:r>
            <a:r>
              <a:rPr sz="1200" spc="-10" dirty="0">
                <a:solidFill>
                  <a:srgbClr val="24292E"/>
                </a:solidFill>
                <a:latin typeface="Segoe UI"/>
                <a:cs typeface="Segoe UI"/>
              </a:rPr>
              <a:t>ALPHA_PARAM=0.5</a:t>
            </a:r>
            <a:r>
              <a:rPr sz="1200" dirty="0">
                <a:solidFill>
                  <a:srgbClr val="24292E"/>
                </a:solidFill>
                <a:latin typeface="微软雅黑"/>
                <a:cs typeface="微软雅黑"/>
              </a:rPr>
              <a:t>等实验常量，循环生</a:t>
            </a:r>
            <a:r>
              <a:rPr sz="1200" spc="-5" dirty="0">
                <a:solidFill>
                  <a:srgbClr val="24292E"/>
                </a:solidFill>
                <a:latin typeface="微软雅黑"/>
                <a:cs typeface="微软雅黑"/>
              </a:rPr>
              <a:t>成</a:t>
            </a:r>
            <a:r>
              <a:rPr sz="1450" i="1" spc="-40" dirty="0">
                <a:solidFill>
                  <a:srgbClr val="24292E"/>
                </a:solidFill>
                <a:latin typeface="Times New Roman"/>
                <a:cs typeface="Times New Roman"/>
              </a:rPr>
              <a:t>V</a:t>
            </a:r>
            <a:r>
              <a:rPr sz="1450" i="1" spc="-35" dirty="0">
                <a:solidFill>
                  <a:srgbClr val="24292E"/>
                </a:solidFill>
                <a:latin typeface="Times New Roman"/>
                <a:cs typeface="Times New Roman"/>
              </a:rPr>
              <a:t> </a:t>
            </a:r>
            <a:r>
              <a:rPr sz="1200" dirty="0">
                <a:solidFill>
                  <a:srgbClr val="24292E"/>
                </a:solidFill>
                <a:latin typeface="Segoe UI"/>
                <a:cs typeface="Segoe UI"/>
              </a:rPr>
              <a:t>= 1000</a:t>
            </a:r>
            <a:r>
              <a:rPr sz="1200" dirty="0">
                <a:solidFill>
                  <a:srgbClr val="24292E"/>
                </a:solidFill>
                <a:latin typeface="微软雅黑"/>
                <a:cs typeface="微软雅黑"/>
              </a:rPr>
              <a:t>个词汇，并 用</a:t>
            </a:r>
            <a:r>
              <a:rPr sz="1200" dirty="0">
                <a:solidFill>
                  <a:srgbClr val="24292E"/>
                </a:solidFill>
                <a:latin typeface="Segoe UI"/>
                <a:cs typeface="Segoe UI"/>
              </a:rPr>
              <a:t>“</a:t>
            </a:r>
            <a:r>
              <a:rPr sz="1200" dirty="0">
                <a:solidFill>
                  <a:srgbClr val="24292E"/>
                </a:solidFill>
                <a:latin typeface="微软雅黑"/>
                <a:cs typeface="微软雅黑"/>
              </a:rPr>
              <a:t>主题</a:t>
            </a:r>
            <a:r>
              <a:rPr sz="1200" dirty="0">
                <a:solidFill>
                  <a:srgbClr val="24292E"/>
                </a:solidFill>
                <a:latin typeface="Segoe UI"/>
                <a:cs typeface="Segoe UI"/>
              </a:rPr>
              <a:t>+</a:t>
            </a:r>
            <a:r>
              <a:rPr sz="1200" dirty="0">
                <a:solidFill>
                  <a:srgbClr val="24292E"/>
                </a:solidFill>
                <a:latin typeface="微软雅黑"/>
                <a:cs typeface="微软雅黑"/>
              </a:rPr>
              <a:t>编号</a:t>
            </a:r>
            <a:r>
              <a:rPr sz="1200" dirty="0">
                <a:solidFill>
                  <a:srgbClr val="24292E"/>
                </a:solidFill>
                <a:latin typeface="Segoe UI"/>
                <a:cs typeface="Segoe UI"/>
              </a:rPr>
              <a:t>”</a:t>
            </a:r>
            <a:r>
              <a:rPr sz="1200" dirty="0">
                <a:solidFill>
                  <a:srgbClr val="24292E"/>
                </a:solidFill>
                <a:latin typeface="微软雅黑"/>
                <a:cs typeface="微软雅黑"/>
              </a:rPr>
              <a:t>的格式对词汇编码以作区分。</a:t>
            </a:r>
            <a:endParaRPr sz="1200">
              <a:latin typeface="微软雅黑"/>
              <a:cs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5800" y="730250"/>
            <a:ext cx="1019175" cy="209550"/>
          </a:xfrm>
          <a:custGeom>
            <a:avLst/>
            <a:gdLst/>
            <a:ahLst/>
            <a:cxnLst/>
            <a:rect l="l" t="t" r="r" b="b"/>
            <a:pathLst>
              <a:path w="1019175" h="209550">
                <a:moveTo>
                  <a:pt x="994389" y="209549"/>
                </a:moveTo>
                <a:lnTo>
                  <a:pt x="24785" y="209549"/>
                </a:lnTo>
                <a:lnTo>
                  <a:pt x="21140" y="208822"/>
                </a:lnTo>
                <a:lnTo>
                  <a:pt x="0" y="184763"/>
                </a:lnTo>
                <a:lnTo>
                  <a:pt x="0" y="24785"/>
                </a:lnTo>
                <a:lnTo>
                  <a:pt x="24785" y="0"/>
                </a:lnTo>
                <a:lnTo>
                  <a:pt x="994389" y="0"/>
                </a:lnTo>
                <a:lnTo>
                  <a:pt x="1019174" y="24785"/>
                </a:lnTo>
                <a:lnTo>
                  <a:pt x="1019174" y="184763"/>
                </a:lnTo>
                <a:lnTo>
                  <a:pt x="994389" y="209549"/>
                </a:lnTo>
                <a:close/>
              </a:path>
            </a:pathLst>
          </a:custGeom>
          <a:solidFill>
            <a:srgbClr val="1B1F23">
              <a:alpha val="5099"/>
            </a:srgbClr>
          </a:solidFill>
        </p:spPr>
        <p:txBody>
          <a:bodyPr wrap="square" lIns="0" tIns="0" rIns="0" bIns="0" rtlCol="0"/>
          <a:lstStyle/>
          <a:p>
            <a:endParaRPr/>
          </a:p>
        </p:txBody>
      </p:sp>
      <p:sp>
        <p:nvSpPr>
          <p:cNvPr id="3" name="object 3"/>
          <p:cNvSpPr/>
          <p:nvPr/>
        </p:nvSpPr>
        <p:spPr>
          <a:xfrm>
            <a:off x="3381375" y="730250"/>
            <a:ext cx="1304925" cy="209550"/>
          </a:xfrm>
          <a:custGeom>
            <a:avLst/>
            <a:gdLst/>
            <a:ahLst/>
            <a:cxnLst/>
            <a:rect l="l" t="t" r="r" b="b"/>
            <a:pathLst>
              <a:path w="1304925" h="209550">
                <a:moveTo>
                  <a:pt x="1280139" y="209549"/>
                </a:moveTo>
                <a:lnTo>
                  <a:pt x="24785" y="209549"/>
                </a:lnTo>
                <a:lnTo>
                  <a:pt x="21140" y="208822"/>
                </a:lnTo>
                <a:lnTo>
                  <a:pt x="0" y="184763"/>
                </a:lnTo>
                <a:lnTo>
                  <a:pt x="0" y="24785"/>
                </a:lnTo>
                <a:lnTo>
                  <a:pt x="24785" y="0"/>
                </a:lnTo>
                <a:lnTo>
                  <a:pt x="1280139" y="0"/>
                </a:lnTo>
                <a:lnTo>
                  <a:pt x="1304925" y="24785"/>
                </a:lnTo>
                <a:lnTo>
                  <a:pt x="1304925" y="184763"/>
                </a:lnTo>
                <a:lnTo>
                  <a:pt x="1280139" y="209549"/>
                </a:lnTo>
                <a:close/>
              </a:path>
            </a:pathLst>
          </a:custGeom>
          <a:solidFill>
            <a:srgbClr val="1B1F23">
              <a:alpha val="5099"/>
            </a:srgbClr>
          </a:solidFill>
        </p:spPr>
        <p:txBody>
          <a:bodyPr wrap="square" lIns="0" tIns="0" rIns="0" bIns="0" rtlCol="0"/>
          <a:lstStyle/>
          <a:p>
            <a:endParaRPr/>
          </a:p>
        </p:txBody>
      </p:sp>
      <p:sp>
        <p:nvSpPr>
          <p:cNvPr id="4" name="object 4"/>
          <p:cNvSpPr/>
          <p:nvPr/>
        </p:nvSpPr>
        <p:spPr>
          <a:xfrm>
            <a:off x="533400" y="958850"/>
            <a:ext cx="1447800" cy="209550"/>
          </a:xfrm>
          <a:custGeom>
            <a:avLst/>
            <a:gdLst/>
            <a:ahLst/>
            <a:cxnLst/>
            <a:rect l="l" t="t" r="r" b="b"/>
            <a:pathLst>
              <a:path w="1447800" h="209550">
                <a:moveTo>
                  <a:pt x="1423014" y="209549"/>
                </a:moveTo>
                <a:lnTo>
                  <a:pt x="24785" y="209549"/>
                </a:lnTo>
                <a:lnTo>
                  <a:pt x="21140" y="208822"/>
                </a:lnTo>
                <a:lnTo>
                  <a:pt x="0" y="184763"/>
                </a:lnTo>
                <a:lnTo>
                  <a:pt x="0" y="24785"/>
                </a:lnTo>
                <a:lnTo>
                  <a:pt x="24785" y="0"/>
                </a:lnTo>
                <a:lnTo>
                  <a:pt x="1423014" y="0"/>
                </a:lnTo>
                <a:lnTo>
                  <a:pt x="1447799" y="24785"/>
                </a:lnTo>
                <a:lnTo>
                  <a:pt x="1447799" y="184763"/>
                </a:lnTo>
                <a:lnTo>
                  <a:pt x="1423014" y="209549"/>
                </a:lnTo>
                <a:close/>
              </a:path>
            </a:pathLst>
          </a:custGeom>
          <a:solidFill>
            <a:srgbClr val="1B1F23">
              <a:alpha val="5099"/>
            </a:srgbClr>
          </a:solidFill>
        </p:spPr>
        <p:txBody>
          <a:bodyPr wrap="square" lIns="0" tIns="0" rIns="0" bIns="0" rtlCol="0"/>
          <a:lstStyle/>
          <a:p>
            <a:endParaRPr/>
          </a:p>
        </p:txBody>
      </p:sp>
      <p:sp>
        <p:nvSpPr>
          <p:cNvPr id="5" name="object 5"/>
          <p:cNvSpPr/>
          <p:nvPr/>
        </p:nvSpPr>
        <p:spPr>
          <a:xfrm>
            <a:off x="533400" y="1187450"/>
            <a:ext cx="2085975" cy="209550"/>
          </a:xfrm>
          <a:custGeom>
            <a:avLst/>
            <a:gdLst/>
            <a:ahLst/>
            <a:cxnLst/>
            <a:rect l="l" t="t" r="r" b="b"/>
            <a:pathLst>
              <a:path w="2085975" h="209550">
                <a:moveTo>
                  <a:pt x="2061189" y="209549"/>
                </a:moveTo>
                <a:lnTo>
                  <a:pt x="24785" y="209549"/>
                </a:lnTo>
                <a:lnTo>
                  <a:pt x="21140" y="208822"/>
                </a:lnTo>
                <a:lnTo>
                  <a:pt x="0" y="184763"/>
                </a:lnTo>
                <a:lnTo>
                  <a:pt x="0" y="24785"/>
                </a:lnTo>
                <a:lnTo>
                  <a:pt x="24785" y="0"/>
                </a:lnTo>
                <a:lnTo>
                  <a:pt x="2061189" y="0"/>
                </a:lnTo>
                <a:lnTo>
                  <a:pt x="2085974" y="24785"/>
                </a:lnTo>
                <a:lnTo>
                  <a:pt x="2085974" y="184763"/>
                </a:lnTo>
                <a:lnTo>
                  <a:pt x="2061189" y="209549"/>
                </a:lnTo>
                <a:close/>
              </a:path>
            </a:pathLst>
          </a:custGeom>
          <a:solidFill>
            <a:srgbClr val="1B1F23">
              <a:alpha val="5099"/>
            </a:srgbClr>
          </a:solidFill>
        </p:spPr>
        <p:txBody>
          <a:bodyPr wrap="square" lIns="0" tIns="0" rIns="0" bIns="0" rtlCol="0"/>
          <a:lstStyle/>
          <a:p>
            <a:endParaRPr/>
          </a:p>
        </p:txBody>
      </p:sp>
      <p:sp>
        <p:nvSpPr>
          <p:cNvPr id="6" name="object 6"/>
          <p:cNvSpPr/>
          <p:nvPr/>
        </p:nvSpPr>
        <p:spPr>
          <a:xfrm>
            <a:off x="1295400" y="1568450"/>
            <a:ext cx="876300" cy="209550"/>
          </a:xfrm>
          <a:custGeom>
            <a:avLst/>
            <a:gdLst/>
            <a:ahLst/>
            <a:cxnLst/>
            <a:rect l="l" t="t" r="r" b="b"/>
            <a:pathLst>
              <a:path w="876300" h="209550">
                <a:moveTo>
                  <a:pt x="851514" y="209548"/>
                </a:moveTo>
                <a:lnTo>
                  <a:pt x="24785" y="209548"/>
                </a:lnTo>
                <a:lnTo>
                  <a:pt x="21140" y="208822"/>
                </a:lnTo>
                <a:lnTo>
                  <a:pt x="0" y="184763"/>
                </a:lnTo>
                <a:lnTo>
                  <a:pt x="0" y="24785"/>
                </a:lnTo>
                <a:lnTo>
                  <a:pt x="24785" y="0"/>
                </a:lnTo>
                <a:lnTo>
                  <a:pt x="851514" y="0"/>
                </a:lnTo>
                <a:lnTo>
                  <a:pt x="876299" y="24785"/>
                </a:lnTo>
                <a:lnTo>
                  <a:pt x="876299" y="184763"/>
                </a:lnTo>
                <a:lnTo>
                  <a:pt x="851514" y="209548"/>
                </a:lnTo>
                <a:close/>
              </a:path>
            </a:pathLst>
          </a:custGeom>
          <a:solidFill>
            <a:srgbClr val="1B1F23">
              <a:alpha val="5099"/>
            </a:srgbClr>
          </a:solidFill>
        </p:spPr>
        <p:txBody>
          <a:bodyPr wrap="square" lIns="0" tIns="0" rIns="0" bIns="0" rtlCol="0"/>
          <a:lstStyle/>
          <a:p>
            <a:endParaRPr/>
          </a:p>
        </p:txBody>
      </p:sp>
      <p:sp>
        <p:nvSpPr>
          <p:cNvPr id="7" name="object 7"/>
          <p:cNvSpPr/>
          <p:nvPr/>
        </p:nvSpPr>
        <p:spPr>
          <a:xfrm>
            <a:off x="685800" y="2416175"/>
            <a:ext cx="876300" cy="209550"/>
          </a:xfrm>
          <a:custGeom>
            <a:avLst/>
            <a:gdLst/>
            <a:ahLst/>
            <a:cxnLst/>
            <a:rect l="l" t="t" r="r" b="b"/>
            <a:pathLst>
              <a:path w="876300" h="209550">
                <a:moveTo>
                  <a:pt x="851514" y="209548"/>
                </a:moveTo>
                <a:lnTo>
                  <a:pt x="24785" y="209548"/>
                </a:lnTo>
                <a:lnTo>
                  <a:pt x="21140" y="208822"/>
                </a:lnTo>
                <a:lnTo>
                  <a:pt x="0" y="184763"/>
                </a:lnTo>
                <a:lnTo>
                  <a:pt x="0" y="24785"/>
                </a:lnTo>
                <a:lnTo>
                  <a:pt x="24785" y="0"/>
                </a:lnTo>
                <a:lnTo>
                  <a:pt x="851514" y="0"/>
                </a:lnTo>
                <a:lnTo>
                  <a:pt x="876299" y="24785"/>
                </a:lnTo>
                <a:lnTo>
                  <a:pt x="876299" y="184763"/>
                </a:lnTo>
                <a:lnTo>
                  <a:pt x="851514" y="209548"/>
                </a:lnTo>
                <a:close/>
              </a:path>
            </a:pathLst>
          </a:custGeom>
          <a:solidFill>
            <a:srgbClr val="1B1F23">
              <a:alpha val="5099"/>
            </a:srgbClr>
          </a:solidFill>
        </p:spPr>
        <p:txBody>
          <a:bodyPr wrap="square" lIns="0" tIns="0" rIns="0" bIns="0" rtlCol="0"/>
          <a:lstStyle/>
          <a:p>
            <a:endParaRPr/>
          </a:p>
        </p:txBody>
      </p:sp>
      <p:sp>
        <p:nvSpPr>
          <p:cNvPr id="8" name="object 8"/>
          <p:cNvSpPr/>
          <p:nvPr/>
        </p:nvSpPr>
        <p:spPr>
          <a:xfrm>
            <a:off x="685800" y="3044825"/>
            <a:ext cx="876300" cy="200025"/>
          </a:xfrm>
          <a:custGeom>
            <a:avLst/>
            <a:gdLst/>
            <a:ahLst/>
            <a:cxnLst/>
            <a:rect l="l" t="t" r="r" b="b"/>
            <a:pathLst>
              <a:path w="876300" h="200025">
                <a:moveTo>
                  <a:pt x="851514" y="200023"/>
                </a:moveTo>
                <a:lnTo>
                  <a:pt x="24785" y="200023"/>
                </a:lnTo>
                <a:lnTo>
                  <a:pt x="21140" y="199294"/>
                </a:lnTo>
                <a:lnTo>
                  <a:pt x="0" y="175238"/>
                </a:lnTo>
                <a:lnTo>
                  <a:pt x="0" y="24785"/>
                </a:lnTo>
                <a:lnTo>
                  <a:pt x="24785" y="0"/>
                </a:lnTo>
                <a:lnTo>
                  <a:pt x="851514" y="0"/>
                </a:lnTo>
                <a:lnTo>
                  <a:pt x="876299" y="24785"/>
                </a:lnTo>
                <a:lnTo>
                  <a:pt x="876299" y="175238"/>
                </a:lnTo>
                <a:lnTo>
                  <a:pt x="851514" y="200023"/>
                </a:lnTo>
                <a:close/>
              </a:path>
            </a:pathLst>
          </a:custGeom>
          <a:solidFill>
            <a:srgbClr val="1B1F23">
              <a:alpha val="5099"/>
            </a:srgbClr>
          </a:solidFill>
        </p:spPr>
        <p:txBody>
          <a:bodyPr wrap="square" lIns="0" tIns="0" rIns="0" bIns="0" rtlCol="0"/>
          <a:lstStyle/>
          <a:p>
            <a:endParaRPr/>
          </a:p>
        </p:txBody>
      </p:sp>
      <p:sp>
        <p:nvSpPr>
          <p:cNvPr id="9" name="object 9"/>
          <p:cNvSpPr/>
          <p:nvPr/>
        </p:nvSpPr>
        <p:spPr>
          <a:xfrm>
            <a:off x="2171699" y="3044825"/>
            <a:ext cx="1381125" cy="200025"/>
          </a:xfrm>
          <a:custGeom>
            <a:avLst/>
            <a:gdLst/>
            <a:ahLst/>
            <a:cxnLst/>
            <a:rect l="l" t="t" r="r" b="b"/>
            <a:pathLst>
              <a:path w="1381125" h="200025">
                <a:moveTo>
                  <a:pt x="1356339" y="200023"/>
                </a:moveTo>
                <a:lnTo>
                  <a:pt x="24785" y="200023"/>
                </a:lnTo>
                <a:lnTo>
                  <a:pt x="21140" y="199294"/>
                </a:lnTo>
                <a:lnTo>
                  <a:pt x="0" y="175238"/>
                </a:lnTo>
                <a:lnTo>
                  <a:pt x="0" y="24785"/>
                </a:lnTo>
                <a:lnTo>
                  <a:pt x="24785" y="0"/>
                </a:lnTo>
                <a:lnTo>
                  <a:pt x="1356339" y="0"/>
                </a:lnTo>
                <a:lnTo>
                  <a:pt x="1381124" y="24785"/>
                </a:lnTo>
                <a:lnTo>
                  <a:pt x="1381124" y="175238"/>
                </a:lnTo>
                <a:lnTo>
                  <a:pt x="1356339" y="200023"/>
                </a:lnTo>
                <a:close/>
              </a:path>
            </a:pathLst>
          </a:custGeom>
          <a:solidFill>
            <a:srgbClr val="1B1F23">
              <a:alpha val="5099"/>
            </a:srgbClr>
          </a:solidFill>
        </p:spPr>
        <p:txBody>
          <a:bodyPr wrap="square" lIns="0" tIns="0" rIns="0" bIns="0" rtlCol="0"/>
          <a:lstStyle/>
          <a:p>
            <a:endParaRPr/>
          </a:p>
        </p:txBody>
      </p:sp>
      <p:sp>
        <p:nvSpPr>
          <p:cNvPr id="10" name="object 10"/>
          <p:cNvSpPr txBox="1"/>
          <p:nvPr/>
        </p:nvSpPr>
        <p:spPr>
          <a:xfrm>
            <a:off x="520700" y="671830"/>
            <a:ext cx="8022590" cy="3690620"/>
          </a:xfrm>
          <a:prstGeom prst="rect">
            <a:avLst/>
          </a:prstGeom>
        </p:spPr>
        <p:txBody>
          <a:bodyPr vert="horz" wrap="square" lIns="0" tIns="12700" rIns="0" bIns="0" rtlCol="0">
            <a:spAutoFit/>
          </a:bodyPr>
          <a:lstStyle/>
          <a:p>
            <a:pPr marL="60325" marR="431165" indent="-47625">
              <a:lnSpc>
                <a:spcPct val="125000"/>
              </a:lnSpc>
              <a:spcBef>
                <a:spcPts val="100"/>
              </a:spcBef>
            </a:pPr>
            <a:r>
              <a:rPr sz="1200" dirty="0">
                <a:solidFill>
                  <a:srgbClr val="24292E"/>
                </a:solidFill>
                <a:latin typeface="微软雅黑"/>
                <a:cs typeface="微软雅黑"/>
              </a:rPr>
              <a:t>在 </a:t>
            </a:r>
            <a:r>
              <a:rPr sz="1000" spc="10" dirty="0">
                <a:solidFill>
                  <a:srgbClr val="24292E"/>
                </a:solidFill>
                <a:latin typeface="Consolas"/>
                <a:cs typeface="Consolas"/>
              </a:rPr>
              <a:t>db_manager.py</a:t>
            </a:r>
            <a:r>
              <a:rPr sz="1000" spc="-185" dirty="0">
                <a:solidFill>
                  <a:srgbClr val="24292E"/>
                </a:solidFill>
                <a:latin typeface="Consolas"/>
                <a:cs typeface="Consolas"/>
              </a:rPr>
              <a:t> </a:t>
            </a:r>
            <a:r>
              <a:rPr sz="1200" dirty="0">
                <a:solidFill>
                  <a:srgbClr val="24292E"/>
                </a:solidFill>
                <a:latin typeface="微软雅黑"/>
                <a:cs typeface="微软雅黑"/>
              </a:rPr>
              <a:t>中，定义数据库连接函数 </a:t>
            </a:r>
            <a:r>
              <a:rPr sz="1000" spc="10" dirty="0">
                <a:solidFill>
                  <a:srgbClr val="24292E"/>
                </a:solidFill>
                <a:latin typeface="Consolas"/>
                <a:cs typeface="Consolas"/>
              </a:rPr>
              <a:t>get_db_connection</a:t>
            </a:r>
            <a:r>
              <a:rPr sz="1000" spc="-190" dirty="0">
                <a:solidFill>
                  <a:srgbClr val="24292E"/>
                </a:solidFill>
                <a:latin typeface="Consolas"/>
                <a:cs typeface="Consolas"/>
              </a:rPr>
              <a:t> </a:t>
            </a:r>
            <a:r>
              <a:rPr sz="1200" dirty="0">
                <a:solidFill>
                  <a:srgbClr val="24292E"/>
                </a:solidFill>
                <a:latin typeface="微软雅黑"/>
                <a:cs typeface="微软雅黑"/>
              </a:rPr>
              <a:t>为项目与本地</a:t>
            </a:r>
            <a:r>
              <a:rPr sz="1200" dirty="0">
                <a:solidFill>
                  <a:srgbClr val="24292E"/>
                </a:solidFill>
                <a:latin typeface="Segoe UI"/>
                <a:cs typeface="Segoe UI"/>
              </a:rPr>
              <a:t>sqlite3</a:t>
            </a:r>
            <a:r>
              <a:rPr sz="1200" dirty="0">
                <a:solidFill>
                  <a:srgbClr val="24292E"/>
                </a:solidFill>
                <a:latin typeface="微软雅黑"/>
                <a:cs typeface="微软雅黑"/>
              </a:rPr>
              <a:t>数据库文件交互作准备；定义 </a:t>
            </a:r>
            <a:r>
              <a:rPr sz="1000" spc="10" dirty="0">
                <a:solidFill>
                  <a:srgbClr val="24292E"/>
                </a:solidFill>
                <a:latin typeface="Consolas"/>
                <a:cs typeface="Consolas"/>
              </a:rPr>
              <a:t>initialize_database</a:t>
            </a:r>
            <a:r>
              <a:rPr sz="1000" spc="-260" dirty="0">
                <a:solidFill>
                  <a:srgbClr val="24292E"/>
                </a:solidFill>
                <a:latin typeface="Consolas"/>
                <a:cs typeface="Consolas"/>
              </a:rPr>
              <a:t> </a:t>
            </a:r>
            <a:r>
              <a:rPr sz="1200" dirty="0">
                <a:solidFill>
                  <a:srgbClr val="24292E"/>
                </a:solidFill>
                <a:latin typeface="微软雅黑"/>
                <a:cs typeface="微软雅黑"/>
              </a:rPr>
              <a:t>函数，利用</a:t>
            </a:r>
            <a:r>
              <a:rPr sz="1200" dirty="0">
                <a:solidFill>
                  <a:srgbClr val="24292E"/>
                </a:solidFill>
                <a:latin typeface="Segoe UI"/>
                <a:cs typeface="Segoe UI"/>
              </a:rPr>
              <a:t>sql</a:t>
            </a:r>
            <a:r>
              <a:rPr sz="1200" dirty="0">
                <a:solidFill>
                  <a:srgbClr val="24292E"/>
                </a:solidFill>
                <a:latin typeface="微软雅黑"/>
                <a:cs typeface="微软雅黑"/>
              </a:rPr>
              <a:t>语句创建</a:t>
            </a:r>
            <a:r>
              <a:rPr sz="1200" dirty="0">
                <a:solidFill>
                  <a:srgbClr val="24292E"/>
                </a:solidFill>
                <a:latin typeface="Segoe UI"/>
                <a:cs typeface="Segoe UI"/>
              </a:rPr>
              <a:t>sim_parameters</a:t>
            </a:r>
            <a:r>
              <a:rPr sz="1200" dirty="0">
                <a:solidFill>
                  <a:srgbClr val="24292E"/>
                </a:solidFill>
                <a:latin typeface="微软雅黑"/>
                <a:cs typeface="微软雅黑"/>
              </a:rPr>
              <a:t>等表，为记录参数和实验结果做准备。紧接着，定义 </a:t>
            </a:r>
            <a:r>
              <a:rPr sz="1000" spc="10" dirty="0">
                <a:solidFill>
                  <a:srgbClr val="24292E"/>
                </a:solidFill>
                <a:latin typeface="Consolas"/>
                <a:cs typeface="Consolas"/>
              </a:rPr>
              <a:t>record_simulation_parameters</a:t>
            </a:r>
            <a:r>
              <a:rPr sz="1000" spc="-185" dirty="0">
                <a:solidFill>
                  <a:srgbClr val="24292E"/>
                </a:solidFill>
                <a:latin typeface="Consolas"/>
                <a:cs typeface="Consolas"/>
              </a:rPr>
              <a:t> </a:t>
            </a:r>
            <a:r>
              <a:rPr sz="1200" dirty="0">
                <a:solidFill>
                  <a:srgbClr val="24292E"/>
                </a:solidFill>
                <a:latin typeface="微软雅黑"/>
                <a:cs typeface="微软雅黑"/>
              </a:rPr>
              <a:t>函数，记录参数。</a:t>
            </a:r>
            <a:endParaRPr sz="1200">
              <a:latin typeface="微软雅黑"/>
              <a:cs typeface="微软雅黑"/>
            </a:endParaRPr>
          </a:p>
          <a:p>
            <a:pPr>
              <a:lnSpc>
                <a:spcPct val="100000"/>
              </a:lnSpc>
              <a:spcBef>
                <a:spcPts val="85"/>
              </a:spcBef>
            </a:pPr>
            <a:endParaRPr sz="800">
              <a:latin typeface="微软雅黑"/>
              <a:cs typeface="微软雅黑"/>
            </a:endParaRPr>
          </a:p>
          <a:p>
            <a:pPr marL="12700">
              <a:lnSpc>
                <a:spcPct val="100000"/>
              </a:lnSpc>
            </a:pPr>
            <a:r>
              <a:rPr sz="1200" dirty="0">
                <a:solidFill>
                  <a:srgbClr val="24292E"/>
                </a:solidFill>
                <a:latin typeface="微软雅黑"/>
                <a:cs typeface="微软雅黑"/>
              </a:rPr>
              <a:t>在主控程序</a:t>
            </a:r>
            <a:r>
              <a:rPr sz="1200" spc="10" dirty="0">
                <a:solidFill>
                  <a:srgbClr val="24292E"/>
                </a:solidFill>
                <a:latin typeface="微软雅黑"/>
                <a:cs typeface="微软雅黑"/>
              </a:rPr>
              <a:t> </a:t>
            </a:r>
            <a:r>
              <a:rPr sz="1000" spc="10" dirty="0">
                <a:solidFill>
                  <a:srgbClr val="24292E"/>
                </a:solidFill>
                <a:latin typeface="Consolas"/>
                <a:cs typeface="Consolas"/>
              </a:rPr>
              <a:t>main_run.py</a:t>
            </a:r>
            <a:r>
              <a:rPr sz="1000" spc="-175" dirty="0">
                <a:solidFill>
                  <a:srgbClr val="24292E"/>
                </a:solidFill>
                <a:latin typeface="Consolas"/>
                <a:cs typeface="Consolas"/>
              </a:rPr>
              <a:t> </a:t>
            </a:r>
            <a:r>
              <a:rPr sz="1200" dirty="0">
                <a:solidFill>
                  <a:srgbClr val="24292E"/>
                </a:solidFill>
                <a:latin typeface="微软雅黑"/>
                <a:cs typeface="微软雅黑"/>
              </a:rPr>
              <a:t>中，调用上述函数，并获取实验编号（</a:t>
            </a:r>
            <a:r>
              <a:rPr sz="1200" dirty="0">
                <a:solidFill>
                  <a:srgbClr val="24292E"/>
                </a:solidFill>
                <a:latin typeface="Segoe UI"/>
                <a:cs typeface="Segoe UI"/>
              </a:rPr>
              <a:t>run_id)</a:t>
            </a:r>
            <a:endParaRPr sz="1200">
              <a:latin typeface="Segoe UI"/>
              <a:cs typeface="Segoe UI"/>
            </a:endParaRPr>
          </a:p>
          <a:p>
            <a:pPr>
              <a:lnSpc>
                <a:spcPct val="100000"/>
              </a:lnSpc>
              <a:spcBef>
                <a:spcPts val="20"/>
              </a:spcBef>
            </a:pPr>
            <a:endParaRPr sz="1550">
              <a:latin typeface="Segoe UI"/>
              <a:cs typeface="Segoe UI"/>
            </a:endParaRPr>
          </a:p>
          <a:p>
            <a:pPr marL="12700">
              <a:lnSpc>
                <a:spcPct val="100000"/>
              </a:lnSpc>
            </a:pPr>
            <a:r>
              <a:rPr sz="1500" b="1" dirty="0">
                <a:solidFill>
                  <a:srgbClr val="24292E"/>
                </a:solidFill>
                <a:latin typeface="Segoe UI Semibold"/>
                <a:cs typeface="Segoe UI Semibold"/>
              </a:rPr>
              <a:t>2</a:t>
            </a:r>
            <a:r>
              <a:rPr sz="1500" b="1" dirty="0">
                <a:solidFill>
                  <a:srgbClr val="24292E"/>
                </a:solidFill>
                <a:latin typeface="微软雅黑"/>
                <a:cs typeface="微软雅黑"/>
              </a:rPr>
              <a:t>、统计模拟（核心步骤）</a:t>
            </a:r>
            <a:endParaRPr sz="1500">
              <a:latin typeface="微软雅黑"/>
              <a:cs typeface="微软雅黑"/>
            </a:endParaRPr>
          </a:p>
          <a:p>
            <a:pPr marL="12700" marR="5080">
              <a:lnSpc>
                <a:spcPct val="122100"/>
              </a:lnSpc>
              <a:spcBef>
                <a:spcPts val="720"/>
              </a:spcBef>
            </a:pPr>
            <a:r>
              <a:rPr sz="1200" dirty="0">
                <a:solidFill>
                  <a:srgbClr val="24292E"/>
                </a:solidFill>
                <a:latin typeface="微软雅黑"/>
                <a:cs typeface="微软雅黑"/>
              </a:rPr>
              <a:t>在</a:t>
            </a:r>
            <a:r>
              <a:rPr sz="1200" spc="-15" dirty="0">
                <a:solidFill>
                  <a:srgbClr val="24292E"/>
                </a:solidFill>
                <a:latin typeface="微软雅黑"/>
                <a:cs typeface="微软雅黑"/>
              </a:rPr>
              <a:t> </a:t>
            </a:r>
            <a:r>
              <a:rPr sz="1000" spc="10" dirty="0">
                <a:solidFill>
                  <a:srgbClr val="24292E"/>
                </a:solidFill>
                <a:latin typeface="Consolas"/>
                <a:cs typeface="Consolas"/>
              </a:rPr>
              <a:t>stat_sim.py</a:t>
            </a:r>
            <a:r>
              <a:rPr sz="1000" spc="-204" dirty="0">
                <a:solidFill>
                  <a:srgbClr val="24292E"/>
                </a:solidFill>
                <a:latin typeface="Consolas"/>
                <a:cs typeface="Consolas"/>
              </a:rPr>
              <a:t> </a:t>
            </a:r>
            <a:r>
              <a:rPr sz="1200" dirty="0">
                <a:solidFill>
                  <a:srgbClr val="24292E"/>
                </a:solidFill>
                <a:latin typeface="微软雅黑"/>
                <a:cs typeface="微软雅黑"/>
              </a:rPr>
              <a:t>中，构建</a:t>
            </a:r>
            <a:r>
              <a:rPr sz="1450" i="1" spc="365" dirty="0">
                <a:solidFill>
                  <a:srgbClr val="24292E"/>
                </a:solidFill>
                <a:latin typeface="Times New Roman"/>
                <a:cs typeface="Times New Roman"/>
              </a:rPr>
              <a:t>K</a:t>
            </a:r>
            <a:r>
              <a:rPr sz="1200" dirty="0">
                <a:solidFill>
                  <a:srgbClr val="24292E"/>
                </a:solidFill>
                <a:latin typeface="微软雅黑"/>
                <a:cs typeface="微软雅黑"/>
              </a:rPr>
              <a:t>行</a:t>
            </a:r>
            <a:r>
              <a:rPr sz="1450" i="1" spc="-40" dirty="0">
                <a:solidFill>
                  <a:srgbClr val="24292E"/>
                </a:solidFill>
                <a:latin typeface="Times New Roman"/>
                <a:cs typeface="Times New Roman"/>
              </a:rPr>
              <a:t>V</a:t>
            </a:r>
            <a:r>
              <a:rPr sz="1450" i="1" spc="-65" dirty="0">
                <a:solidFill>
                  <a:srgbClr val="24292E"/>
                </a:solidFill>
                <a:latin typeface="Times New Roman"/>
                <a:cs typeface="Times New Roman"/>
              </a:rPr>
              <a:t> </a:t>
            </a:r>
            <a:r>
              <a:rPr sz="1200" dirty="0">
                <a:solidFill>
                  <a:srgbClr val="24292E"/>
                </a:solidFill>
                <a:latin typeface="微软雅黑"/>
                <a:cs typeface="微软雅黑"/>
              </a:rPr>
              <a:t>列的</a:t>
            </a:r>
            <a:r>
              <a:rPr sz="1450" i="1" spc="110" dirty="0">
                <a:solidFill>
                  <a:srgbClr val="24292E"/>
                </a:solidFill>
                <a:latin typeface="Times New Roman"/>
                <a:cs typeface="Times New Roman"/>
              </a:rPr>
              <a:t>ϕ</a:t>
            </a:r>
            <a:r>
              <a:rPr sz="1200" dirty="0">
                <a:solidFill>
                  <a:srgbClr val="24292E"/>
                </a:solidFill>
                <a:latin typeface="微软雅黑"/>
                <a:cs typeface="微软雅黑"/>
              </a:rPr>
              <a:t>矩阵，模拟主题</a:t>
            </a:r>
            <a:r>
              <a:rPr sz="1200" dirty="0">
                <a:solidFill>
                  <a:srgbClr val="24292E"/>
                </a:solidFill>
                <a:latin typeface="Segoe UI"/>
                <a:cs typeface="Segoe UI"/>
              </a:rPr>
              <a:t>—</a:t>
            </a:r>
            <a:r>
              <a:rPr sz="1200" dirty="0">
                <a:solidFill>
                  <a:srgbClr val="24292E"/>
                </a:solidFill>
                <a:latin typeface="微软雅黑"/>
                <a:cs typeface="微软雅黑"/>
              </a:rPr>
              <a:t>词汇概率分布。</a:t>
            </a:r>
            <a:r>
              <a:rPr sz="1200" b="1" dirty="0">
                <a:solidFill>
                  <a:srgbClr val="24292E"/>
                </a:solidFill>
                <a:latin typeface="微软雅黑"/>
                <a:cs typeface="微软雅黑"/>
              </a:rPr>
              <a:t>分配策略</a:t>
            </a:r>
            <a:r>
              <a:rPr sz="1200" dirty="0">
                <a:solidFill>
                  <a:srgbClr val="24292E"/>
                </a:solidFill>
                <a:latin typeface="微软雅黑"/>
                <a:cs typeface="微软雅黑"/>
              </a:rPr>
              <a:t>：将</a:t>
            </a:r>
            <a:r>
              <a:rPr sz="1200" dirty="0">
                <a:solidFill>
                  <a:srgbClr val="24292E"/>
                </a:solidFill>
                <a:latin typeface="Segoe UI"/>
                <a:cs typeface="Segoe UI"/>
              </a:rPr>
              <a:t>90%</a:t>
            </a:r>
            <a:r>
              <a:rPr sz="1200" dirty="0">
                <a:solidFill>
                  <a:srgbClr val="24292E"/>
                </a:solidFill>
                <a:latin typeface="微软雅黑"/>
                <a:cs typeface="微软雅黑"/>
              </a:rPr>
              <a:t>的概率分配给某个主题的专属 词汇，将</a:t>
            </a:r>
            <a:r>
              <a:rPr sz="1200" dirty="0">
                <a:solidFill>
                  <a:srgbClr val="24292E"/>
                </a:solidFill>
                <a:latin typeface="Segoe UI"/>
                <a:cs typeface="Segoe UI"/>
              </a:rPr>
              <a:t>10%</a:t>
            </a:r>
            <a:r>
              <a:rPr sz="1200" dirty="0">
                <a:solidFill>
                  <a:srgbClr val="24292E"/>
                </a:solidFill>
                <a:latin typeface="微软雅黑"/>
                <a:cs typeface="微软雅黑"/>
              </a:rPr>
              <a:t>的概率分配给其它词汇，同时保证概率归一化。</a:t>
            </a:r>
            <a:endParaRPr sz="1200">
              <a:latin typeface="微软雅黑"/>
              <a:cs typeface="微软雅黑"/>
            </a:endParaRPr>
          </a:p>
          <a:p>
            <a:pPr marL="12700" marR="183515">
              <a:lnSpc>
                <a:spcPct val="107800"/>
              </a:lnSpc>
              <a:spcBef>
                <a:spcPts val="1170"/>
              </a:spcBef>
            </a:pPr>
            <a:r>
              <a:rPr sz="1200" dirty="0">
                <a:solidFill>
                  <a:srgbClr val="24292E"/>
                </a:solidFill>
                <a:latin typeface="微软雅黑"/>
                <a:cs typeface="微软雅黑"/>
              </a:rPr>
              <a:t>在 </a:t>
            </a:r>
            <a:r>
              <a:rPr sz="1000" spc="10" dirty="0">
                <a:solidFill>
                  <a:srgbClr val="24292E"/>
                </a:solidFill>
                <a:latin typeface="Consolas"/>
                <a:cs typeface="Consolas"/>
              </a:rPr>
              <a:t>stat_sim.py</a:t>
            </a:r>
            <a:r>
              <a:rPr sz="1000" spc="-190" dirty="0">
                <a:solidFill>
                  <a:srgbClr val="24292E"/>
                </a:solidFill>
                <a:latin typeface="Consolas"/>
                <a:cs typeface="Consolas"/>
              </a:rPr>
              <a:t> </a:t>
            </a:r>
            <a:r>
              <a:rPr sz="1200" dirty="0">
                <a:solidFill>
                  <a:srgbClr val="24292E"/>
                </a:solidFill>
                <a:latin typeface="微软雅黑"/>
                <a:cs typeface="微软雅黑"/>
              </a:rPr>
              <a:t>中，定义 </a:t>
            </a:r>
            <a:r>
              <a:rPr sz="1000" spc="10" dirty="0">
                <a:solidFill>
                  <a:srgbClr val="24292E"/>
                </a:solidFill>
                <a:latin typeface="Consolas"/>
                <a:cs typeface="Consolas"/>
              </a:rPr>
              <a:t>generate_documents</a:t>
            </a:r>
            <a:r>
              <a:rPr sz="1000" spc="-195" dirty="0">
                <a:solidFill>
                  <a:srgbClr val="24292E"/>
                </a:solidFill>
                <a:latin typeface="Consolas"/>
                <a:cs typeface="Consolas"/>
              </a:rPr>
              <a:t> </a:t>
            </a:r>
            <a:r>
              <a:rPr sz="1200" dirty="0">
                <a:solidFill>
                  <a:srgbClr val="24292E"/>
                </a:solidFill>
                <a:latin typeface="微软雅黑"/>
                <a:cs typeface="微软雅黑"/>
              </a:rPr>
              <a:t>函数，根据</a:t>
            </a:r>
            <a:r>
              <a:rPr sz="1200" spc="-10" dirty="0">
                <a:solidFill>
                  <a:srgbClr val="24292E"/>
                </a:solidFill>
                <a:latin typeface="Segoe UI"/>
                <a:cs typeface="Segoe UI"/>
              </a:rPr>
              <a:t>LDA</a:t>
            </a:r>
            <a:r>
              <a:rPr sz="1200" dirty="0">
                <a:solidFill>
                  <a:srgbClr val="24292E"/>
                </a:solidFill>
                <a:latin typeface="微软雅黑"/>
                <a:cs typeface="微软雅黑"/>
              </a:rPr>
              <a:t>原理进行狄利克雷抽样，生</a:t>
            </a:r>
            <a:r>
              <a:rPr sz="1200" spc="-5" dirty="0">
                <a:solidFill>
                  <a:srgbClr val="24292E"/>
                </a:solidFill>
                <a:latin typeface="微软雅黑"/>
                <a:cs typeface="微软雅黑"/>
              </a:rPr>
              <a:t>成</a:t>
            </a:r>
            <a:r>
              <a:rPr sz="1450" i="1" spc="195" dirty="0">
                <a:solidFill>
                  <a:srgbClr val="24292E"/>
                </a:solidFill>
                <a:latin typeface="Times New Roman"/>
                <a:cs typeface="Times New Roman"/>
              </a:rPr>
              <a:t>N</a:t>
            </a:r>
            <a:r>
              <a:rPr sz="1450" i="1" spc="-210" dirty="0">
                <a:solidFill>
                  <a:srgbClr val="24292E"/>
                </a:solidFill>
                <a:latin typeface="Times New Roman"/>
                <a:cs typeface="Times New Roman"/>
              </a:rPr>
              <a:t> </a:t>
            </a:r>
            <a:r>
              <a:rPr sz="1200" dirty="0">
                <a:solidFill>
                  <a:srgbClr val="24292E"/>
                </a:solidFill>
                <a:latin typeface="微软雅黑"/>
                <a:cs typeface="微软雅黑"/>
              </a:rPr>
              <a:t>篇文档和对应的真实</a:t>
            </a:r>
            <a:r>
              <a:rPr sz="1450" i="1" spc="5" dirty="0">
                <a:solidFill>
                  <a:srgbClr val="24292E"/>
                </a:solidFill>
                <a:latin typeface="Times New Roman"/>
                <a:cs typeface="Times New Roman"/>
              </a:rPr>
              <a:t>θ</a:t>
            </a:r>
            <a:r>
              <a:rPr sz="1200" dirty="0">
                <a:solidFill>
                  <a:srgbClr val="24292E"/>
                </a:solidFill>
                <a:latin typeface="微软雅黑"/>
                <a:cs typeface="微软雅黑"/>
              </a:rPr>
              <a:t>向 量。最后再进行数据格式化处理，如将词语连接成完整字符串文本、将实验序号和真实</a:t>
            </a:r>
            <a:r>
              <a:rPr sz="1450" i="1" spc="5" dirty="0">
                <a:solidFill>
                  <a:srgbClr val="24292E"/>
                </a:solidFill>
                <a:latin typeface="Times New Roman"/>
                <a:cs typeface="Times New Roman"/>
              </a:rPr>
              <a:t>θ</a:t>
            </a:r>
            <a:r>
              <a:rPr sz="1200" dirty="0">
                <a:solidFill>
                  <a:srgbClr val="24292E"/>
                </a:solidFill>
                <a:latin typeface="微软雅黑"/>
                <a:cs typeface="微软雅黑"/>
              </a:rPr>
              <a:t>打包成元组。</a:t>
            </a:r>
            <a:endParaRPr sz="1200">
              <a:latin typeface="微软雅黑"/>
              <a:cs typeface="微软雅黑"/>
            </a:endParaRPr>
          </a:p>
          <a:p>
            <a:pPr>
              <a:lnSpc>
                <a:spcPct val="100000"/>
              </a:lnSpc>
            </a:pPr>
            <a:endParaRPr sz="900">
              <a:latin typeface="微软雅黑"/>
              <a:cs typeface="微软雅黑"/>
            </a:endParaRPr>
          </a:p>
          <a:p>
            <a:pPr marL="12700">
              <a:lnSpc>
                <a:spcPct val="100000"/>
              </a:lnSpc>
              <a:spcBef>
                <a:spcPts val="5"/>
              </a:spcBef>
            </a:pPr>
            <a:r>
              <a:rPr sz="1200" dirty="0">
                <a:solidFill>
                  <a:srgbClr val="24292E"/>
                </a:solidFill>
                <a:latin typeface="微软雅黑"/>
                <a:cs typeface="微软雅黑"/>
              </a:rPr>
              <a:t>在主控程序中调用上述函数，进行统计模拟。</a:t>
            </a:r>
            <a:endParaRPr sz="1200">
              <a:latin typeface="微软雅黑"/>
              <a:cs typeface="微软雅黑"/>
            </a:endParaRPr>
          </a:p>
          <a:p>
            <a:pPr>
              <a:lnSpc>
                <a:spcPct val="100000"/>
              </a:lnSpc>
              <a:spcBef>
                <a:spcPts val="55"/>
              </a:spcBef>
            </a:pPr>
            <a:endParaRPr sz="1100">
              <a:latin typeface="微软雅黑"/>
              <a:cs typeface="微软雅黑"/>
            </a:endParaRPr>
          </a:p>
          <a:p>
            <a:pPr marL="12700">
              <a:lnSpc>
                <a:spcPct val="100000"/>
              </a:lnSpc>
            </a:pPr>
            <a:r>
              <a:rPr sz="1500" b="1" dirty="0">
                <a:solidFill>
                  <a:srgbClr val="24292E"/>
                </a:solidFill>
                <a:latin typeface="Segoe UI Semibold"/>
                <a:cs typeface="Segoe UI Semibold"/>
              </a:rPr>
              <a:t>3</a:t>
            </a:r>
            <a:r>
              <a:rPr sz="1500" b="1" dirty="0">
                <a:solidFill>
                  <a:srgbClr val="24292E"/>
                </a:solidFill>
                <a:latin typeface="微软雅黑"/>
                <a:cs typeface="微软雅黑"/>
              </a:rPr>
              <a:t>、数据入库</a:t>
            </a:r>
            <a:endParaRPr sz="1500">
              <a:latin typeface="微软雅黑"/>
              <a:cs typeface="微软雅黑"/>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5800" y="730250"/>
            <a:ext cx="1019175" cy="209550"/>
          </a:xfrm>
          <a:custGeom>
            <a:avLst/>
            <a:gdLst/>
            <a:ahLst/>
            <a:cxnLst/>
            <a:rect l="l" t="t" r="r" b="b"/>
            <a:pathLst>
              <a:path w="1019175" h="209550">
                <a:moveTo>
                  <a:pt x="994389" y="209548"/>
                </a:moveTo>
                <a:lnTo>
                  <a:pt x="24785" y="209548"/>
                </a:lnTo>
                <a:lnTo>
                  <a:pt x="21140" y="208822"/>
                </a:lnTo>
                <a:lnTo>
                  <a:pt x="0" y="184763"/>
                </a:lnTo>
                <a:lnTo>
                  <a:pt x="0" y="24782"/>
                </a:lnTo>
                <a:lnTo>
                  <a:pt x="24785" y="0"/>
                </a:lnTo>
                <a:lnTo>
                  <a:pt x="994389" y="0"/>
                </a:lnTo>
                <a:lnTo>
                  <a:pt x="1019174" y="24782"/>
                </a:lnTo>
                <a:lnTo>
                  <a:pt x="1019174" y="184763"/>
                </a:lnTo>
                <a:lnTo>
                  <a:pt x="994389" y="209548"/>
                </a:lnTo>
                <a:close/>
              </a:path>
            </a:pathLst>
          </a:custGeom>
          <a:solidFill>
            <a:srgbClr val="1B1F23">
              <a:alpha val="5099"/>
            </a:srgbClr>
          </a:solidFill>
        </p:spPr>
        <p:txBody>
          <a:bodyPr wrap="square" lIns="0" tIns="0" rIns="0" bIns="0" rtlCol="0"/>
          <a:lstStyle/>
          <a:p>
            <a:endParaRPr/>
          </a:p>
        </p:txBody>
      </p:sp>
      <p:sp>
        <p:nvSpPr>
          <p:cNvPr id="3" name="object 3"/>
          <p:cNvSpPr/>
          <p:nvPr/>
        </p:nvSpPr>
        <p:spPr>
          <a:xfrm>
            <a:off x="2314574" y="730250"/>
            <a:ext cx="1590675" cy="209550"/>
          </a:xfrm>
          <a:custGeom>
            <a:avLst/>
            <a:gdLst/>
            <a:ahLst/>
            <a:cxnLst/>
            <a:rect l="l" t="t" r="r" b="b"/>
            <a:pathLst>
              <a:path w="1590675" h="209550">
                <a:moveTo>
                  <a:pt x="1565889" y="209548"/>
                </a:moveTo>
                <a:lnTo>
                  <a:pt x="24785" y="209548"/>
                </a:lnTo>
                <a:lnTo>
                  <a:pt x="21140" y="208822"/>
                </a:lnTo>
                <a:lnTo>
                  <a:pt x="0" y="184763"/>
                </a:lnTo>
                <a:lnTo>
                  <a:pt x="0" y="24782"/>
                </a:lnTo>
                <a:lnTo>
                  <a:pt x="24785" y="0"/>
                </a:lnTo>
                <a:lnTo>
                  <a:pt x="1565889" y="0"/>
                </a:lnTo>
                <a:lnTo>
                  <a:pt x="1590674" y="24782"/>
                </a:lnTo>
                <a:lnTo>
                  <a:pt x="1590674" y="184763"/>
                </a:lnTo>
                <a:lnTo>
                  <a:pt x="1565889" y="209548"/>
                </a:lnTo>
                <a:close/>
              </a:path>
            </a:pathLst>
          </a:custGeom>
          <a:solidFill>
            <a:srgbClr val="1B1F23">
              <a:alpha val="5099"/>
            </a:srgbClr>
          </a:solidFill>
        </p:spPr>
        <p:txBody>
          <a:bodyPr wrap="square" lIns="0" tIns="0" rIns="0" bIns="0" rtlCol="0"/>
          <a:lstStyle/>
          <a:p>
            <a:endParaRPr/>
          </a:p>
        </p:txBody>
      </p:sp>
      <p:sp>
        <p:nvSpPr>
          <p:cNvPr id="4" name="object 4"/>
          <p:cNvSpPr/>
          <p:nvPr/>
        </p:nvSpPr>
        <p:spPr>
          <a:xfrm>
            <a:off x="685800" y="2206625"/>
            <a:ext cx="1019175" cy="200025"/>
          </a:xfrm>
          <a:custGeom>
            <a:avLst/>
            <a:gdLst/>
            <a:ahLst/>
            <a:cxnLst/>
            <a:rect l="l" t="t" r="r" b="b"/>
            <a:pathLst>
              <a:path w="1019175" h="200025">
                <a:moveTo>
                  <a:pt x="994389" y="200023"/>
                </a:moveTo>
                <a:lnTo>
                  <a:pt x="24785" y="200023"/>
                </a:lnTo>
                <a:lnTo>
                  <a:pt x="21140" y="199297"/>
                </a:lnTo>
                <a:lnTo>
                  <a:pt x="0" y="175238"/>
                </a:lnTo>
                <a:lnTo>
                  <a:pt x="0" y="24782"/>
                </a:lnTo>
                <a:lnTo>
                  <a:pt x="24785" y="0"/>
                </a:lnTo>
                <a:lnTo>
                  <a:pt x="994389" y="0"/>
                </a:lnTo>
                <a:lnTo>
                  <a:pt x="1019174" y="24782"/>
                </a:lnTo>
                <a:lnTo>
                  <a:pt x="1019174" y="175238"/>
                </a:lnTo>
                <a:lnTo>
                  <a:pt x="994389" y="200023"/>
                </a:lnTo>
                <a:close/>
              </a:path>
            </a:pathLst>
          </a:custGeom>
          <a:solidFill>
            <a:srgbClr val="1B1F23">
              <a:alpha val="5099"/>
            </a:srgbClr>
          </a:solidFill>
        </p:spPr>
        <p:txBody>
          <a:bodyPr wrap="square" lIns="0" tIns="0" rIns="0" bIns="0" rtlCol="0"/>
          <a:lstStyle/>
          <a:p>
            <a:endParaRPr/>
          </a:p>
        </p:txBody>
      </p:sp>
      <p:sp>
        <p:nvSpPr>
          <p:cNvPr id="5" name="object 5"/>
          <p:cNvSpPr/>
          <p:nvPr/>
        </p:nvSpPr>
        <p:spPr>
          <a:xfrm>
            <a:off x="2314574" y="2206625"/>
            <a:ext cx="2095500" cy="200025"/>
          </a:xfrm>
          <a:custGeom>
            <a:avLst/>
            <a:gdLst/>
            <a:ahLst/>
            <a:cxnLst/>
            <a:rect l="l" t="t" r="r" b="b"/>
            <a:pathLst>
              <a:path w="2095500" h="200025">
                <a:moveTo>
                  <a:pt x="2070714" y="200023"/>
                </a:moveTo>
                <a:lnTo>
                  <a:pt x="24785" y="200023"/>
                </a:lnTo>
                <a:lnTo>
                  <a:pt x="21140" y="199297"/>
                </a:lnTo>
                <a:lnTo>
                  <a:pt x="0" y="175238"/>
                </a:lnTo>
                <a:lnTo>
                  <a:pt x="0" y="24782"/>
                </a:lnTo>
                <a:lnTo>
                  <a:pt x="24785" y="0"/>
                </a:lnTo>
                <a:lnTo>
                  <a:pt x="2070714" y="0"/>
                </a:lnTo>
                <a:lnTo>
                  <a:pt x="2095499" y="24782"/>
                </a:lnTo>
                <a:lnTo>
                  <a:pt x="2095499" y="175238"/>
                </a:lnTo>
                <a:lnTo>
                  <a:pt x="2070714" y="200023"/>
                </a:lnTo>
                <a:close/>
              </a:path>
            </a:pathLst>
          </a:custGeom>
          <a:solidFill>
            <a:srgbClr val="1B1F23">
              <a:alpha val="5099"/>
            </a:srgbClr>
          </a:solidFill>
        </p:spPr>
        <p:txBody>
          <a:bodyPr wrap="square" lIns="0" tIns="0" rIns="0" bIns="0" rtlCol="0"/>
          <a:lstStyle/>
          <a:p>
            <a:endParaRPr/>
          </a:p>
        </p:txBody>
      </p:sp>
      <p:sp>
        <p:nvSpPr>
          <p:cNvPr id="6" name="object 6"/>
          <p:cNvSpPr/>
          <p:nvPr/>
        </p:nvSpPr>
        <p:spPr>
          <a:xfrm>
            <a:off x="685800" y="2816225"/>
            <a:ext cx="876300" cy="200025"/>
          </a:xfrm>
          <a:custGeom>
            <a:avLst/>
            <a:gdLst/>
            <a:ahLst/>
            <a:cxnLst/>
            <a:rect l="l" t="t" r="r" b="b"/>
            <a:pathLst>
              <a:path w="876300" h="200025">
                <a:moveTo>
                  <a:pt x="851514" y="200023"/>
                </a:moveTo>
                <a:lnTo>
                  <a:pt x="24785" y="200023"/>
                </a:lnTo>
                <a:lnTo>
                  <a:pt x="21140" y="199297"/>
                </a:lnTo>
                <a:lnTo>
                  <a:pt x="0" y="175238"/>
                </a:lnTo>
                <a:lnTo>
                  <a:pt x="0" y="24785"/>
                </a:lnTo>
                <a:lnTo>
                  <a:pt x="24785" y="0"/>
                </a:lnTo>
                <a:lnTo>
                  <a:pt x="851514" y="0"/>
                </a:lnTo>
                <a:lnTo>
                  <a:pt x="876299" y="24785"/>
                </a:lnTo>
                <a:lnTo>
                  <a:pt x="876299" y="175238"/>
                </a:lnTo>
                <a:lnTo>
                  <a:pt x="851514" y="200023"/>
                </a:lnTo>
                <a:close/>
              </a:path>
            </a:pathLst>
          </a:custGeom>
          <a:solidFill>
            <a:srgbClr val="1B1F23">
              <a:alpha val="5099"/>
            </a:srgbClr>
          </a:solidFill>
        </p:spPr>
        <p:txBody>
          <a:bodyPr wrap="square" lIns="0" tIns="0" rIns="0" bIns="0" rtlCol="0"/>
          <a:lstStyle/>
          <a:p>
            <a:endParaRPr/>
          </a:p>
        </p:txBody>
      </p:sp>
      <p:sp>
        <p:nvSpPr>
          <p:cNvPr id="7" name="object 7"/>
          <p:cNvSpPr/>
          <p:nvPr/>
        </p:nvSpPr>
        <p:spPr>
          <a:xfrm>
            <a:off x="2171699" y="2816225"/>
            <a:ext cx="1590675" cy="200025"/>
          </a:xfrm>
          <a:custGeom>
            <a:avLst/>
            <a:gdLst/>
            <a:ahLst/>
            <a:cxnLst/>
            <a:rect l="l" t="t" r="r" b="b"/>
            <a:pathLst>
              <a:path w="1590675" h="200025">
                <a:moveTo>
                  <a:pt x="1565889" y="200023"/>
                </a:moveTo>
                <a:lnTo>
                  <a:pt x="24785" y="200023"/>
                </a:lnTo>
                <a:lnTo>
                  <a:pt x="21140" y="199297"/>
                </a:lnTo>
                <a:lnTo>
                  <a:pt x="0" y="175238"/>
                </a:lnTo>
                <a:lnTo>
                  <a:pt x="0" y="24785"/>
                </a:lnTo>
                <a:lnTo>
                  <a:pt x="24785" y="0"/>
                </a:lnTo>
                <a:lnTo>
                  <a:pt x="1565889" y="0"/>
                </a:lnTo>
                <a:lnTo>
                  <a:pt x="1590675" y="24785"/>
                </a:lnTo>
                <a:lnTo>
                  <a:pt x="1590675" y="175238"/>
                </a:lnTo>
                <a:lnTo>
                  <a:pt x="1565889" y="200023"/>
                </a:lnTo>
                <a:close/>
              </a:path>
            </a:pathLst>
          </a:custGeom>
          <a:solidFill>
            <a:srgbClr val="1B1F23">
              <a:alpha val="5099"/>
            </a:srgbClr>
          </a:solidFill>
        </p:spPr>
        <p:txBody>
          <a:bodyPr wrap="square" lIns="0" tIns="0" rIns="0" bIns="0" rtlCol="0"/>
          <a:lstStyle/>
          <a:p>
            <a:endParaRPr/>
          </a:p>
        </p:txBody>
      </p:sp>
      <p:sp>
        <p:nvSpPr>
          <p:cNvPr id="8" name="object 8"/>
          <p:cNvSpPr/>
          <p:nvPr/>
        </p:nvSpPr>
        <p:spPr>
          <a:xfrm>
            <a:off x="533400" y="3044825"/>
            <a:ext cx="1304925" cy="200025"/>
          </a:xfrm>
          <a:custGeom>
            <a:avLst/>
            <a:gdLst/>
            <a:ahLst/>
            <a:cxnLst/>
            <a:rect l="l" t="t" r="r" b="b"/>
            <a:pathLst>
              <a:path w="1304925" h="200025">
                <a:moveTo>
                  <a:pt x="1280139" y="200023"/>
                </a:moveTo>
                <a:lnTo>
                  <a:pt x="24785" y="200023"/>
                </a:lnTo>
                <a:lnTo>
                  <a:pt x="21140" y="199297"/>
                </a:lnTo>
                <a:lnTo>
                  <a:pt x="0" y="175238"/>
                </a:lnTo>
                <a:lnTo>
                  <a:pt x="0" y="24782"/>
                </a:lnTo>
                <a:lnTo>
                  <a:pt x="24785" y="0"/>
                </a:lnTo>
                <a:lnTo>
                  <a:pt x="1280139" y="0"/>
                </a:lnTo>
                <a:lnTo>
                  <a:pt x="1304924" y="24782"/>
                </a:lnTo>
                <a:lnTo>
                  <a:pt x="1304924" y="175238"/>
                </a:lnTo>
                <a:lnTo>
                  <a:pt x="1280139" y="200023"/>
                </a:lnTo>
                <a:close/>
              </a:path>
            </a:pathLst>
          </a:custGeom>
          <a:solidFill>
            <a:srgbClr val="1B1F23">
              <a:alpha val="5099"/>
            </a:srgbClr>
          </a:solidFill>
        </p:spPr>
        <p:txBody>
          <a:bodyPr wrap="square" lIns="0" tIns="0" rIns="0" bIns="0" rtlCol="0"/>
          <a:lstStyle/>
          <a:p>
            <a:endParaRPr/>
          </a:p>
        </p:txBody>
      </p:sp>
      <p:sp>
        <p:nvSpPr>
          <p:cNvPr id="9" name="object 9"/>
          <p:cNvSpPr txBox="1"/>
          <p:nvPr/>
        </p:nvSpPr>
        <p:spPr>
          <a:xfrm>
            <a:off x="520700" y="1336675"/>
            <a:ext cx="7975600" cy="276860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微软雅黑"/>
                <a:cs typeface="微软雅黑"/>
              </a:rPr>
              <a:t>在主控程序中调用该函数，实现数据入库。</a:t>
            </a:r>
            <a:endParaRPr sz="1200">
              <a:latin typeface="微软雅黑"/>
              <a:cs typeface="微软雅黑"/>
            </a:endParaRPr>
          </a:p>
          <a:p>
            <a:pPr>
              <a:lnSpc>
                <a:spcPct val="100000"/>
              </a:lnSpc>
              <a:spcBef>
                <a:spcPts val="55"/>
              </a:spcBef>
            </a:pPr>
            <a:endParaRPr sz="1100">
              <a:latin typeface="微软雅黑"/>
              <a:cs typeface="微软雅黑"/>
            </a:endParaRPr>
          </a:p>
          <a:p>
            <a:pPr marL="12700">
              <a:lnSpc>
                <a:spcPct val="100000"/>
              </a:lnSpc>
            </a:pPr>
            <a:r>
              <a:rPr sz="1500" b="1" dirty="0">
                <a:solidFill>
                  <a:srgbClr val="24292E"/>
                </a:solidFill>
                <a:latin typeface="Segoe UI Semibold"/>
                <a:cs typeface="Segoe UI Semibold"/>
              </a:rPr>
              <a:t>4</a:t>
            </a:r>
            <a:r>
              <a:rPr sz="1500" b="1" dirty="0">
                <a:solidFill>
                  <a:srgbClr val="24292E"/>
                </a:solidFill>
                <a:latin typeface="微软雅黑"/>
                <a:cs typeface="微软雅黑"/>
              </a:rPr>
              <a:t>、模型训练与推断</a:t>
            </a:r>
            <a:endParaRPr sz="1500">
              <a:latin typeface="微软雅黑"/>
              <a:cs typeface="微软雅黑"/>
            </a:endParaRPr>
          </a:p>
          <a:p>
            <a:pPr marL="12700" marR="5080">
              <a:lnSpc>
                <a:spcPct val="125000"/>
              </a:lnSpc>
              <a:spcBef>
                <a:spcPts val="990"/>
              </a:spcBef>
            </a:pPr>
            <a:r>
              <a:rPr sz="1200" dirty="0">
                <a:solidFill>
                  <a:srgbClr val="24292E"/>
                </a:solidFill>
                <a:latin typeface="微软雅黑"/>
                <a:cs typeface="微软雅黑"/>
              </a:rPr>
              <a:t>在 </a:t>
            </a:r>
            <a:r>
              <a:rPr sz="1000" spc="10" dirty="0">
                <a:solidFill>
                  <a:srgbClr val="24292E"/>
                </a:solidFill>
                <a:latin typeface="Consolas"/>
                <a:cs typeface="Consolas"/>
              </a:rPr>
              <a:t>db_manager.py</a:t>
            </a:r>
            <a:r>
              <a:rPr sz="1000" spc="-190" dirty="0">
                <a:solidFill>
                  <a:srgbClr val="24292E"/>
                </a:solidFill>
                <a:latin typeface="Consolas"/>
                <a:cs typeface="Consolas"/>
              </a:rPr>
              <a:t> </a:t>
            </a:r>
            <a:r>
              <a:rPr sz="1200" dirty="0">
                <a:solidFill>
                  <a:srgbClr val="24292E"/>
                </a:solidFill>
                <a:latin typeface="微软雅黑"/>
                <a:cs typeface="微软雅黑"/>
              </a:rPr>
              <a:t>中，定义 </a:t>
            </a:r>
            <a:r>
              <a:rPr sz="1000" spc="10" dirty="0">
                <a:solidFill>
                  <a:srgbClr val="24292E"/>
                </a:solidFill>
                <a:latin typeface="Consolas"/>
                <a:cs typeface="Consolas"/>
              </a:rPr>
              <a:t>fetch_documents_for_analysis</a:t>
            </a:r>
            <a:r>
              <a:rPr sz="1000" spc="-195" dirty="0">
                <a:solidFill>
                  <a:srgbClr val="24292E"/>
                </a:solidFill>
                <a:latin typeface="Consolas"/>
                <a:cs typeface="Consolas"/>
              </a:rPr>
              <a:t> </a:t>
            </a:r>
            <a:r>
              <a:rPr sz="1200" dirty="0">
                <a:solidFill>
                  <a:srgbClr val="24292E"/>
                </a:solidFill>
                <a:latin typeface="微软雅黑"/>
                <a:cs typeface="微软雅黑"/>
              </a:rPr>
              <a:t>函数，通过</a:t>
            </a:r>
            <a:r>
              <a:rPr sz="1200" dirty="0">
                <a:solidFill>
                  <a:srgbClr val="24292E"/>
                </a:solidFill>
                <a:latin typeface="Segoe UI"/>
                <a:cs typeface="Segoe UI"/>
              </a:rPr>
              <a:t>SQL</a:t>
            </a:r>
            <a:r>
              <a:rPr sz="1200" dirty="0">
                <a:solidFill>
                  <a:srgbClr val="24292E"/>
                </a:solidFill>
                <a:latin typeface="微软雅黑"/>
                <a:cs typeface="微软雅黑"/>
              </a:rPr>
              <a:t>语句从数据库中提取第三步的文档和向量作为 比对。</a:t>
            </a:r>
            <a:endParaRPr sz="1200">
              <a:latin typeface="微软雅黑"/>
              <a:cs typeface="微软雅黑"/>
            </a:endParaRPr>
          </a:p>
          <a:p>
            <a:pPr>
              <a:lnSpc>
                <a:spcPct val="100000"/>
              </a:lnSpc>
              <a:spcBef>
                <a:spcPts val="85"/>
              </a:spcBef>
            </a:pPr>
            <a:endParaRPr sz="800">
              <a:latin typeface="微软雅黑"/>
              <a:cs typeface="微软雅黑"/>
            </a:endParaRPr>
          </a:p>
          <a:p>
            <a:pPr marL="12700">
              <a:lnSpc>
                <a:spcPct val="100000"/>
              </a:lnSpc>
            </a:pPr>
            <a:r>
              <a:rPr sz="1200" dirty="0">
                <a:solidFill>
                  <a:srgbClr val="24292E"/>
                </a:solidFill>
                <a:latin typeface="微软雅黑"/>
                <a:cs typeface="微软雅黑"/>
              </a:rPr>
              <a:t>在</a:t>
            </a:r>
            <a:r>
              <a:rPr sz="1200" spc="10" dirty="0">
                <a:solidFill>
                  <a:srgbClr val="24292E"/>
                </a:solidFill>
                <a:latin typeface="微软雅黑"/>
                <a:cs typeface="微软雅黑"/>
              </a:rPr>
              <a:t> </a:t>
            </a:r>
            <a:r>
              <a:rPr sz="1000" spc="10" dirty="0">
                <a:solidFill>
                  <a:srgbClr val="24292E"/>
                </a:solidFill>
                <a:latin typeface="Consolas"/>
                <a:cs typeface="Consolas"/>
              </a:rPr>
              <a:t>stat_sim.py</a:t>
            </a:r>
            <a:r>
              <a:rPr sz="1000" spc="-180" dirty="0">
                <a:solidFill>
                  <a:srgbClr val="24292E"/>
                </a:solidFill>
                <a:latin typeface="Consolas"/>
                <a:cs typeface="Consolas"/>
              </a:rPr>
              <a:t> </a:t>
            </a:r>
            <a:r>
              <a:rPr sz="1200" dirty="0">
                <a:solidFill>
                  <a:srgbClr val="24292E"/>
                </a:solidFill>
                <a:latin typeface="微软雅黑"/>
                <a:cs typeface="微软雅黑"/>
              </a:rPr>
              <a:t>中，定义</a:t>
            </a:r>
            <a:r>
              <a:rPr sz="1200" spc="15" dirty="0">
                <a:solidFill>
                  <a:srgbClr val="24292E"/>
                </a:solidFill>
                <a:latin typeface="微软雅黑"/>
                <a:cs typeface="微软雅黑"/>
              </a:rPr>
              <a:t> </a:t>
            </a:r>
            <a:r>
              <a:rPr sz="1000" spc="10" dirty="0">
                <a:solidFill>
                  <a:srgbClr val="24292E"/>
                </a:solidFill>
                <a:latin typeface="Consolas"/>
                <a:cs typeface="Consolas"/>
              </a:rPr>
              <a:t>train_and_predict_lda</a:t>
            </a:r>
            <a:r>
              <a:rPr sz="1000" spc="-185" dirty="0">
                <a:solidFill>
                  <a:srgbClr val="24292E"/>
                </a:solidFill>
                <a:latin typeface="Consolas"/>
                <a:cs typeface="Consolas"/>
              </a:rPr>
              <a:t> </a:t>
            </a:r>
            <a:r>
              <a:rPr sz="1200" dirty="0">
                <a:solidFill>
                  <a:srgbClr val="24292E"/>
                </a:solidFill>
                <a:latin typeface="微软雅黑"/>
                <a:cs typeface="微软雅黑"/>
              </a:rPr>
              <a:t>函数，配置</a:t>
            </a:r>
            <a:r>
              <a:rPr sz="1200" spc="-10" dirty="0">
                <a:solidFill>
                  <a:srgbClr val="24292E"/>
                </a:solidFill>
                <a:latin typeface="Segoe UI"/>
                <a:cs typeface="Segoe UI"/>
              </a:rPr>
              <a:t>LDA</a:t>
            </a:r>
            <a:r>
              <a:rPr sz="1200" dirty="0">
                <a:solidFill>
                  <a:srgbClr val="24292E"/>
                </a:solidFill>
                <a:latin typeface="微软雅黑"/>
                <a:cs typeface="微软雅黑"/>
              </a:rPr>
              <a:t>模型、训练模型，并推断主题分布，生成</a:t>
            </a:r>
            <a:endParaRPr sz="1200">
              <a:latin typeface="微软雅黑"/>
              <a:cs typeface="微软雅黑"/>
            </a:endParaRPr>
          </a:p>
          <a:p>
            <a:pPr marL="60325">
              <a:lnSpc>
                <a:spcPct val="100000"/>
              </a:lnSpc>
              <a:spcBef>
                <a:spcPts val="360"/>
              </a:spcBef>
            </a:pPr>
            <a:r>
              <a:rPr sz="1000" spc="10" dirty="0">
                <a:solidFill>
                  <a:srgbClr val="24292E"/>
                </a:solidFill>
                <a:latin typeface="Consolas"/>
                <a:cs typeface="Consolas"/>
              </a:rPr>
              <a:t>theta_pred_matrix</a:t>
            </a:r>
            <a:r>
              <a:rPr sz="1000" spc="-185" dirty="0">
                <a:solidFill>
                  <a:srgbClr val="24292E"/>
                </a:solidFill>
                <a:latin typeface="Consolas"/>
                <a:cs typeface="Consolas"/>
              </a:rPr>
              <a:t> </a:t>
            </a:r>
            <a:r>
              <a:rPr sz="1200" dirty="0">
                <a:solidFill>
                  <a:srgbClr val="24292E"/>
                </a:solidFill>
                <a:latin typeface="微软雅黑"/>
                <a:cs typeface="微软雅黑"/>
              </a:rPr>
              <a:t>，用来和真实向量做比较。</a:t>
            </a:r>
            <a:endParaRPr sz="1200">
              <a:latin typeface="微软雅黑"/>
              <a:cs typeface="微软雅黑"/>
            </a:endParaRPr>
          </a:p>
          <a:p>
            <a:pPr>
              <a:lnSpc>
                <a:spcPct val="100000"/>
              </a:lnSpc>
              <a:spcBef>
                <a:spcPts val="85"/>
              </a:spcBef>
            </a:pPr>
            <a:endParaRPr sz="800">
              <a:latin typeface="微软雅黑"/>
              <a:cs typeface="微软雅黑"/>
            </a:endParaRPr>
          </a:p>
          <a:p>
            <a:pPr marL="12700">
              <a:lnSpc>
                <a:spcPct val="100000"/>
              </a:lnSpc>
            </a:pPr>
            <a:r>
              <a:rPr sz="1200" dirty="0">
                <a:solidFill>
                  <a:srgbClr val="24292E"/>
                </a:solidFill>
                <a:latin typeface="微软雅黑"/>
                <a:cs typeface="微软雅黑"/>
              </a:rPr>
              <a:t>在主控函数中调用上述函数。</a:t>
            </a:r>
            <a:endParaRPr sz="1200">
              <a:latin typeface="微软雅黑"/>
              <a:cs typeface="微软雅黑"/>
            </a:endParaRPr>
          </a:p>
          <a:p>
            <a:pPr>
              <a:lnSpc>
                <a:spcPct val="100000"/>
              </a:lnSpc>
              <a:spcBef>
                <a:spcPts val="60"/>
              </a:spcBef>
            </a:pPr>
            <a:endParaRPr sz="1100">
              <a:latin typeface="微软雅黑"/>
              <a:cs typeface="微软雅黑"/>
            </a:endParaRPr>
          </a:p>
          <a:p>
            <a:pPr marL="12700">
              <a:lnSpc>
                <a:spcPct val="100000"/>
              </a:lnSpc>
            </a:pPr>
            <a:r>
              <a:rPr sz="1500" b="1" dirty="0">
                <a:solidFill>
                  <a:srgbClr val="24292E"/>
                </a:solidFill>
                <a:latin typeface="Segoe UI Semibold"/>
                <a:cs typeface="Segoe UI Semibold"/>
              </a:rPr>
              <a:t>5</a:t>
            </a:r>
            <a:r>
              <a:rPr sz="1500" b="1" dirty="0">
                <a:solidFill>
                  <a:srgbClr val="24292E"/>
                </a:solidFill>
                <a:latin typeface="微软雅黑"/>
                <a:cs typeface="微软雅黑"/>
              </a:rPr>
              <a:t>、量化检验</a:t>
            </a:r>
            <a:endParaRPr sz="1500">
              <a:latin typeface="微软雅黑"/>
              <a:cs typeface="微软雅黑"/>
            </a:endParaRPr>
          </a:p>
        </p:txBody>
      </p:sp>
      <p:sp>
        <p:nvSpPr>
          <p:cNvPr id="10" name="object 10"/>
          <p:cNvSpPr txBox="1">
            <a:spLocks noGrp="1"/>
          </p:cNvSpPr>
          <p:nvPr>
            <p:ph type="title"/>
          </p:nvPr>
        </p:nvSpPr>
        <p:spPr>
          <a:xfrm>
            <a:off x="520700" y="626444"/>
            <a:ext cx="7874000" cy="537845"/>
          </a:xfrm>
          <a:prstGeom prst="rect">
            <a:avLst/>
          </a:prstGeom>
        </p:spPr>
        <p:txBody>
          <a:bodyPr vert="horz" wrap="square" lIns="0" tIns="22860" rIns="0" bIns="0" rtlCol="0">
            <a:spAutoFit/>
          </a:bodyPr>
          <a:lstStyle/>
          <a:p>
            <a:pPr marL="12700" marR="5080">
              <a:lnSpc>
                <a:spcPct val="122100"/>
              </a:lnSpc>
              <a:spcBef>
                <a:spcPts val="180"/>
              </a:spcBef>
            </a:pPr>
            <a:r>
              <a:rPr dirty="0"/>
              <a:t>在</a:t>
            </a:r>
            <a:r>
              <a:rPr spc="-5" dirty="0"/>
              <a:t> </a:t>
            </a:r>
            <a:r>
              <a:rPr sz="1000" spc="10" dirty="0">
                <a:latin typeface="Consolas"/>
                <a:cs typeface="Consolas"/>
              </a:rPr>
              <a:t>db_manager.py</a:t>
            </a:r>
            <a:r>
              <a:rPr sz="1000" spc="-190" dirty="0">
                <a:latin typeface="Consolas"/>
                <a:cs typeface="Consolas"/>
              </a:rPr>
              <a:t> </a:t>
            </a:r>
            <a:r>
              <a:rPr dirty="0"/>
              <a:t>中，定义 </a:t>
            </a:r>
            <a:r>
              <a:rPr sz="1000" spc="10" dirty="0">
                <a:latin typeface="Consolas"/>
                <a:cs typeface="Consolas"/>
              </a:rPr>
              <a:t>bulk_insert_documents</a:t>
            </a:r>
            <a:r>
              <a:rPr sz="1000" spc="-195" dirty="0">
                <a:latin typeface="Consolas"/>
                <a:cs typeface="Consolas"/>
              </a:rPr>
              <a:t> </a:t>
            </a:r>
            <a:r>
              <a:rPr dirty="0"/>
              <a:t>函数，通过</a:t>
            </a:r>
            <a:r>
              <a:rPr dirty="0">
                <a:latin typeface="Segoe UI"/>
                <a:cs typeface="Segoe UI"/>
              </a:rPr>
              <a:t>SQL</a:t>
            </a:r>
            <a:r>
              <a:rPr dirty="0"/>
              <a:t>语句，将生成的文档和真实</a:t>
            </a:r>
            <a:r>
              <a:rPr sz="1450" i="1" spc="5" dirty="0">
                <a:latin typeface="Times New Roman"/>
                <a:cs typeface="Times New Roman"/>
              </a:rPr>
              <a:t>θ</a:t>
            </a:r>
            <a:r>
              <a:rPr dirty="0"/>
              <a:t>向量批量导入数据库保 存。</a:t>
            </a:r>
            <a:endParaRPr sz="145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916110"/>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p:nvPr/>
        </p:nvSpPr>
        <p:spPr>
          <a:xfrm>
            <a:off x="685800" y="730247"/>
            <a:ext cx="876300" cy="209550"/>
          </a:xfrm>
          <a:custGeom>
            <a:avLst/>
            <a:gdLst/>
            <a:ahLst/>
            <a:cxnLst/>
            <a:rect l="l" t="t" r="r" b="b"/>
            <a:pathLst>
              <a:path w="876300" h="209550">
                <a:moveTo>
                  <a:pt x="851514" y="209548"/>
                </a:moveTo>
                <a:lnTo>
                  <a:pt x="24785" y="209548"/>
                </a:lnTo>
                <a:lnTo>
                  <a:pt x="21140" y="208822"/>
                </a:lnTo>
                <a:lnTo>
                  <a:pt x="0" y="184763"/>
                </a:lnTo>
                <a:lnTo>
                  <a:pt x="0" y="24785"/>
                </a:lnTo>
                <a:lnTo>
                  <a:pt x="24785" y="0"/>
                </a:lnTo>
                <a:lnTo>
                  <a:pt x="851514" y="0"/>
                </a:lnTo>
                <a:lnTo>
                  <a:pt x="876299" y="24785"/>
                </a:lnTo>
                <a:lnTo>
                  <a:pt x="876299" y="184763"/>
                </a:lnTo>
                <a:lnTo>
                  <a:pt x="851514" y="209548"/>
                </a:lnTo>
                <a:close/>
              </a:path>
            </a:pathLst>
          </a:custGeom>
          <a:solidFill>
            <a:srgbClr val="1B1F23">
              <a:alpha val="5099"/>
            </a:srgbClr>
          </a:solidFill>
        </p:spPr>
        <p:txBody>
          <a:bodyPr wrap="square" lIns="0" tIns="0" rIns="0" bIns="0" rtlCol="0"/>
          <a:lstStyle/>
          <a:p>
            <a:endParaRPr/>
          </a:p>
        </p:txBody>
      </p:sp>
      <p:sp>
        <p:nvSpPr>
          <p:cNvPr id="4" name="object 4"/>
          <p:cNvSpPr/>
          <p:nvPr/>
        </p:nvSpPr>
        <p:spPr>
          <a:xfrm>
            <a:off x="2019300" y="730247"/>
            <a:ext cx="2019300" cy="209550"/>
          </a:xfrm>
          <a:custGeom>
            <a:avLst/>
            <a:gdLst/>
            <a:ahLst/>
            <a:cxnLst/>
            <a:rect l="l" t="t" r="r" b="b"/>
            <a:pathLst>
              <a:path w="2019300" h="209550">
                <a:moveTo>
                  <a:pt x="1994514" y="209548"/>
                </a:moveTo>
                <a:lnTo>
                  <a:pt x="24785" y="209548"/>
                </a:lnTo>
                <a:lnTo>
                  <a:pt x="21140" y="208822"/>
                </a:lnTo>
                <a:lnTo>
                  <a:pt x="0" y="184763"/>
                </a:lnTo>
                <a:lnTo>
                  <a:pt x="0" y="24785"/>
                </a:lnTo>
                <a:lnTo>
                  <a:pt x="24785" y="0"/>
                </a:lnTo>
                <a:lnTo>
                  <a:pt x="1994514" y="0"/>
                </a:lnTo>
                <a:lnTo>
                  <a:pt x="2019299" y="24785"/>
                </a:lnTo>
                <a:lnTo>
                  <a:pt x="2019299" y="184763"/>
                </a:lnTo>
                <a:lnTo>
                  <a:pt x="1994514" y="209548"/>
                </a:lnTo>
                <a:close/>
              </a:path>
            </a:pathLst>
          </a:custGeom>
          <a:solidFill>
            <a:srgbClr val="1B1F23">
              <a:alpha val="5099"/>
            </a:srgbClr>
          </a:solidFill>
        </p:spPr>
        <p:txBody>
          <a:bodyPr wrap="square" lIns="0" tIns="0" rIns="0" bIns="0" rtlCol="0"/>
          <a:lstStyle/>
          <a:p>
            <a:endParaRPr/>
          </a:p>
        </p:txBody>
      </p:sp>
      <p:sp>
        <p:nvSpPr>
          <p:cNvPr id="5" name="object 5"/>
          <p:cNvSpPr txBox="1"/>
          <p:nvPr/>
        </p:nvSpPr>
        <p:spPr>
          <a:xfrm>
            <a:off x="520700" y="717547"/>
            <a:ext cx="56654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微软雅黑"/>
                <a:cs typeface="微软雅黑"/>
              </a:rPr>
              <a:t>在 </a:t>
            </a:r>
            <a:r>
              <a:rPr sz="1000" spc="10" dirty="0">
                <a:solidFill>
                  <a:srgbClr val="24292E"/>
                </a:solidFill>
                <a:latin typeface="Consolas"/>
                <a:cs typeface="Consolas"/>
              </a:rPr>
              <a:t>stat_sim.py</a:t>
            </a:r>
            <a:r>
              <a:rPr sz="1000" spc="-190" dirty="0">
                <a:solidFill>
                  <a:srgbClr val="24292E"/>
                </a:solidFill>
                <a:latin typeface="Consolas"/>
                <a:cs typeface="Consolas"/>
              </a:rPr>
              <a:t> </a:t>
            </a:r>
            <a:r>
              <a:rPr sz="1200" dirty="0">
                <a:solidFill>
                  <a:srgbClr val="24292E"/>
                </a:solidFill>
                <a:latin typeface="微软雅黑"/>
                <a:cs typeface="微软雅黑"/>
              </a:rPr>
              <a:t>中定义 </a:t>
            </a:r>
            <a:r>
              <a:rPr sz="1000" spc="10" dirty="0">
                <a:solidFill>
                  <a:srgbClr val="24292E"/>
                </a:solidFill>
                <a:latin typeface="Consolas"/>
                <a:cs typeface="Consolas"/>
              </a:rPr>
              <a:t>calculate_cosine_similarity</a:t>
            </a:r>
            <a:r>
              <a:rPr sz="1000" spc="-195" dirty="0">
                <a:solidFill>
                  <a:srgbClr val="24292E"/>
                </a:solidFill>
                <a:latin typeface="Consolas"/>
                <a:cs typeface="Consolas"/>
              </a:rPr>
              <a:t> </a:t>
            </a:r>
            <a:r>
              <a:rPr sz="1200" dirty="0">
                <a:solidFill>
                  <a:srgbClr val="24292E"/>
                </a:solidFill>
                <a:latin typeface="微软雅黑"/>
                <a:cs typeface="微软雅黑"/>
              </a:rPr>
              <a:t>函数，计算两向量余弦相似度。</a:t>
            </a:r>
            <a:endParaRPr sz="1200">
              <a:latin typeface="微软雅黑"/>
              <a:cs typeface="微软雅黑"/>
            </a:endParaRPr>
          </a:p>
        </p:txBody>
      </p:sp>
      <p:sp>
        <p:nvSpPr>
          <p:cNvPr id="6" name="object 6"/>
          <p:cNvSpPr txBox="1"/>
          <p:nvPr/>
        </p:nvSpPr>
        <p:spPr>
          <a:xfrm>
            <a:off x="520700" y="1555747"/>
            <a:ext cx="20828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4292E"/>
                </a:solidFill>
                <a:latin typeface="微软雅黑"/>
                <a:cs typeface="微软雅黑"/>
              </a:rPr>
              <a:t>五、本项目使用说明</a:t>
            </a:r>
            <a:endParaRPr sz="1800">
              <a:latin typeface="微软雅黑"/>
              <a:cs typeface="微软雅黑"/>
            </a:endParaRPr>
          </a:p>
        </p:txBody>
      </p:sp>
      <p:sp>
        <p:nvSpPr>
          <p:cNvPr id="7" name="object 7"/>
          <p:cNvSpPr/>
          <p:nvPr/>
        </p:nvSpPr>
        <p:spPr>
          <a:xfrm>
            <a:off x="1143000" y="2492372"/>
            <a:ext cx="523875" cy="200025"/>
          </a:xfrm>
          <a:custGeom>
            <a:avLst/>
            <a:gdLst/>
            <a:ahLst/>
            <a:cxnLst/>
            <a:rect l="l" t="t" r="r" b="b"/>
            <a:pathLst>
              <a:path w="523875" h="200025">
                <a:moveTo>
                  <a:pt x="499089" y="200023"/>
                </a:moveTo>
                <a:lnTo>
                  <a:pt x="24785" y="200023"/>
                </a:lnTo>
                <a:lnTo>
                  <a:pt x="21140" y="199297"/>
                </a:lnTo>
                <a:lnTo>
                  <a:pt x="0" y="175238"/>
                </a:lnTo>
                <a:lnTo>
                  <a:pt x="0" y="24782"/>
                </a:lnTo>
                <a:lnTo>
                  <a:pt x="24785" y="0"/>
                </a:lnTo>
                <a:lnTo>
                  <a:pt x="499089" y="0"/>
                </a:lnTo>
                <a:lnTo>
                  <a:pt x="523874" y="24782"/>
                </a:lnTo>
                <a:lnTo>
                  <a:pt x="523874" y="175238"/>
                </a:lnTo>
                <a:lnTo>
                  <a:pt x="499089" y="200023"/>
                </a:lnTo>
                <a:close/>
              </a:path>
            </a:pathLst>
          </a:custGeom>
          <a:solidFill>
            <a:srgbClr val="1B1F23">
              <a:alpha val="5099"/>
            </a:srgbClr>
          </a:solidFill>
        </p:spPr>
        <p:txBody>
          <a:bodyPr wrap="square" lIns="0" tIns="0" rIns="0" bIns="0" rtlCol="0"/>
          <a:lstStyle/>
          <a:p>
            <a:endParaRPr/>
          </a:p>
        </p:txBody>
      </p:sp>
      <p:sp>
        <p:nvSpPr>
          <p:cNvPr id="8" name="object 8"/>
          <p:cNvSpPr/>
          <p:nvPr/>
        </p:nvSpPr>
        <p:spPr>
          <a:xfrm>
            <a:off x="2771775" y="3559173"/>
            <a:ext cx="523875" cy="200025"/>
          </a:xfrm>
          <a:custGeom>
            <a:avLst/>
            <a:gdLst/>
            <a:ahLst/>
            <a:cxnLst/>
            <a:rect l="l" t="t" r="r" b="b"/>
            <a:pathLst>
              <a:path w="523875" h="200025">
                <a:moveTo>
                  <a:pt x="499089" y="200023"/>
                </a:moveTo>
                <a:lnTo>
                  <a:pt x="24785" y="200023"/>
                </a:lnTo>
                <a:lnTo>
                  <a:pt x="21140" y="199297"/>
                </a:lnTo>
                <a:lnTo>
                  <a:pt x="0" y="175236"/>
                </a:lnTo>
                <a:lnTo>
                  <a:pt x="0" y="24785"/>
                </a:lnTo>
                <a:lnTo>
                  <a:pt x="24785" y="0"/>
                </a:lnTo>
                <a:lnTo>
                  <a:pt x="499089" y="0"/>
                </a:lnTo>
                <a:lnTo>
                  <a:pt x="523874" y="24785"/>
                </a:lnTo>
                <a:lnTo>
                  <a:pt x="523874" y="175236"/>
                </a:lnTo>
                <a:lnTo>
                  <a:pt x="499089" y="200023"/>
                </a:lnTo>
                <a:close/>
              </a:path>
            </a:pathLst>
          </a:custGeom>
          <a:solidFill>
            <a:srgbClr val="1B1F23">
              <a:alpha val="5099"/>
            </a:srgbClr>
          </a:solidFill>
        </p:spPr>
        <p:txBody>
          <a:bodyPr wrap="square" lIns="0" tIns="0" rIns="0" bIns="0" rtlCol="0"/>
          <a:lstStyle/>
          <a:p>
            <a:endParaRPr/>
          </a:p>
        </p:txBody>
      </p:sp>
      <p:sp>
        <p:nvSpPr>
          <p:cNvPr id="9" name="object 9"/>
          <p:cNvSpPr/>
          <p:nvPr/>
        </p:nvSpPr>
        <p:spPr>
          <a:xfrm>
            <a:off x="7239000" y="3559173"/>
            <a:ext cx="523875" cy="200025"/>
          </a:xfrm>
          <a:custGeom>
            <a:avLst/>
            <a:gdLst/>
            <a:ahLst/>
            <a:cxnLst/>
            <a:rect l="l" t="t" r="r" b="b"/>
            <a:pathLst>
              <a:path w="523875" h="200025">
                <a:moveTo>
                  <a:pt x="499089" y="200023"/>
                </a:moveTo>
                <a:lnTo>
                  <a:pt x="24785" y="200023"/>
                </a:lnTo>
                <a:lnTo>
                  <a:pt x="21140" y="199297"/>
                </a:lnTo>
                <a:lnTo>
                  <a:pt x="0" y="175236"/>
                </a:lnTo>
                <a:lnTo>
                  <a:pt x="0" y="24785"/>
                </a:lnTo>
                <a:lnTo>
                  <a:pt x="24785" y="0"/>
                </a:lnTo>
                <a:lnTo>
                  <a:pt x="499089" y="0"/>
                </a:lnTo>
                <a:lnTo>
                  <a:pt x="523875" y="24785"/>
                </a:lnTo>
                <a:lnTo>
                  <a:pt x="523875" y="175236"/>
                </a:lnTo>
                <a:lnTo>
                  <a:pt x="499089" y="200023"/>
                </a:lnTo>
                <a:close/>
              </a:path>
            </a:pathLst>
          </a:custGeom>
          <a:solidFill>
            <a:srgbClr val="1B1F23">
              <a:alpha val="5099"/>
            </a:srgbClr>
          </a:solidFill>
        </p:spPr>
        <p:txBody>
          <a:bodyPr wrap="square" lIns="0" tIns="0" rIns="0" bIns="0" rtlCol="0"/>
          <a:lstStyle/>
          <a:p>
            <a:endParaRPr/>
          </a:p>
        </p:txBody>
      </p:sp>
      <p:sp>
        <p:nvSpPr>
          <p:cNvPr id="10" name="object 10"/>
          <p:cNvSpPr txBox="1">
            <a:spLocks noGrp="1"/>
          </p:cNvSpPr>
          <p:nvPr>
            <p:ph type="title"/>
          </p:nvPr>
        </p:nvSpPr>
        <p:spPr>
          <a:xfrm>
            <a:off x="495300" y="1066543"/>
            <a:ext cx="7056755" cy="247015"/>
          </a:xfrm>
          <a:prstGeom prst="rect">
            <a:avLst/>
          </a:prstGeom>
        </p:spPr>
        <p:txBody>
          <a:bodyPr vert="horz" wrap="square" lIns="0" tIns="12700" rIns="0" bIns="0" rtlCol="0">
            <a:spAutoFit/>
          </a:bodyPr>
          <a:lstStyle/>
          <a:p>
            <a:pPr marL="38100">
              <a:lnSpc>
                <a:spcPct val="100000"/>
              </a:lnSpc>
              <a:spcBef>
                <a:spcPts val="100"/>
              </a:spcBef>
            </a:pPr>
            <a:r>
              <a:rPr dirty="0"/>
              <a:t>在主控函数中，对比</a:t>
            </a:r>
            <a:r>
              <a:rPr sz="1450" i="1" spc="15" dirty="0">
                <a:latin typeface="Times New Roman"/>
                <a:cs typeface="Times New Roman"/>
              </a:rPr>
              <a:t>θ</a:t>
            </a:r>
            <a:r>
              <a:rPr sz="1500" i="1" spc="22" baseline="-13888" dirty="0">
                <a:latin typeface="Times New Roman"/>
                <a:cs typeface="Times New Roman"/>
              </a:rPr>
              <a:t>pred</a:t>
            </a:r>
            <a:r>
              <a:rPr sz="1500" i="1" spc="-262" baseline="-13888" dirty="0">
                <a:latin typeface="Times New Roman"/>
                <a:cs typeface="Times New Roman"/>
              </a:rPr>
              <a:t> </a:t>
            </a:r>
            <a:r>
              <a:rPr sz="1200" dirty="0"/>
              <a:t>和真实</a:t>
            </a:r>
            <a:r>
              <a:rPr sz="1450" i="1" spc="5" dirty="0">
                <a:latin typeface="Times New Roman"/>
                <a:cs typeface="Times New Roman"/>
              </a:rPr>
              <a:t>θ</a:t>
            </a:r>
            <a:r>
              <a:rPr sz="1200" dirty="0"/>
              <a:t>向量，计算余弦相似度。将结果储存在数据库中。最终结果为</a:t>
            </a:r>
            <a:r>
              <a:rPr sz="1200" dirty="0">
                <a:latin typeface="Segoe UI"/>
                <a:cs typeface="Segoe UI"/>
              </a:rPr>
              <a:t>0.7088</a:t>
            </a:r>
            <a:r>
              <a:rPr sz="1200" dirty="0"/>
              <a:t>。</a:t>
            </a:r>
            <a:endParaRPr sz="1200">
              <a:latin typeface="Segoe UI"/>
              <a:cs typeface="Segoe UI"/>
            </a:endParaRPr>
          </a:p>
        </p:txBody>
      </p:sp>
      <p:sp>
        <p:nvSpPr>
          <p:cNvPr id="11" name="object 11"/>
          <p:cNvSpPr txBox="1"/>
          <p:nvPr/>
        </p:nvSpPr>
        <p:spPr>
          <a:xfrm>
            <a:off x="482600" y="2047618"/>
            <a:ext cx="8153400" cy="1936114"/>
          </a:xfrm>
          <a:prstGeom prst="rect">
            <a:avLst/>
          </a:prstGeom>
        </p:spPr>
        <p:txBody>
          <a:bodyPr vert="horz" wrap="square" lIns="0" tIns="12700" rIns="0" bIns="0" rtlCol="0">
            <a:spAutoFit/>
          </a:bodyPr>
          <a:lstStyle/>
          <a:p>
            <a:pPr marL="50800">
              <a:lnSpc>
                <a:spcPct val="100000"/>
              </a:lnSpc>
              <a:spcBef>
                <a:spcPts val="100"/>
              </a:spcBef>
            </a:pPr>
            <a:r>
              <a:rPr sz="1200" dirty="0">
                <a:solidFill>
                  <a:srgbClr val="24292E"/>
                </a:solidFill>
                <a:latin typeface="微软雅黑"/>
                <a:cs typeface="微软雅黑"/>
              </a:rPr>
              <a:t>由于本项目核心功能只有一个，即对比</a:t>
            </a:r>
            <a:r>
              <a:rPr sz="1450" i="1" spc="15" dirty="0">
                <a:solidFill>
                  <a:srgbClr val="24292E"/>
                </a:solidFill>
                <a:latin typeface="Times New Roman"/>
                <a:cs typeface="Times New Roman"/>
              </a:rPr>
              <a:t>θ</a:t>
            </a:r>
            <a:r>
              <a:rPr sz="1500" i="1" spc="22" baseline="-13888" dirty="0">
                <a:solidFill>
                  <a:srgbClr val="24292E"/>
                </a:solidFill>
                <a:latin typeface="Times New Roman"/>
                <a:cs typeface="Times New Roman"/>
              </a:rPr>
              <a:t>pred</a:t>
            </a:r>
            <a:r>
              <a:rPr sz="1500" i="1" spc="-240" baseline="-13888" dirty="0">
                <a:solidFill>
                  <a:srgbClr val="24292E"/>
                </a:solidFill>
                <a:latin typeface="Times New Roman"/>
                <a:cs typeface="Times New Roman"/>
              </a:rPr>
              <a:t> </a:t>
            </a:r>
            <a:r>
              <a:rPr sz="1200" dirty="0">
                <a:solidFill>
                  <a:srgbClr val="24292E"/>
                </a:solidFill>
                <a:latin typeface="微软雅黑"/>
                <a:cs typeface="微软雅黑"/>
              </a:rPr>
              <a:t>和真实向量，计算余弦相似度，因此</a:t>
            </a:r>
            <a:r>
              <a:rPr sz="1200" dirty="0">
                <a:solidFill>
                  <a:srgbClr val="24292E"/>
                </a:solidFill>
                <a:latin typeface="Segoe UI"/>
                <a:cs typeface="Segoe UI"/>
              </a:rPr>
              <a:t>GUI</a:t>
            </a:r>
            <a:r>
              <a:rPr sz="1200" dirty="0">
                <a:solidFill>
                  <a:srgbClr val="24292E"/>
                </a:solidFill>
                <a:latin typeface="微软雅黑"/>
                <a:cs typeface="微软雅黑"/>
              </a:rPr>
              <a:t>功能设计较为直接。</a:t>
            </a:r>
            <a:endParaRPr sz="1200">
              <a:latin typeface="微软雅黑"/>
              <a:cs typeface="微软雅黑"/>
            </a:endParaRPr>
          </a:p>
          <a:p>
            <a:pPr marL="50800" marR="43180">
              <a:lnSpc>
                <a:spcPct val="125000"/>
              </a:lnSpc>
              <a:spcBef>
                <a:spcPts val="1300"/>
              </a:spcBef>
            </a:pPr>
            <a:r>
              <a:rPr sz="1200" dirty="0">
                <a:solidFill>
                  <a:srgbClr val="24292E"/>
                </a:solidFill>
                <a:latin typeface="微软雅黑"/>
                <a:cs typeface="微软雅黑"/>
              </a:rPr>
              <a:t>只需运行</a:t>
            </a:r>
            <a:r>
              <a:rPr sz="1200" spc="-5" dirty="0">
                <a:solidFill>
                  <a:srgbClr val="24292E"/>
                </a:solidFill>
                <a:latin typeface="微软雅黑"/>
                <a:cs typeface="微软雅黑"/>
              </a:rPr>
              <a:t> </a:t>
            </a:r>
            <a:r>
              <a:rPr sz="1000" spc="10" dirty="0">
                <a:solidFill>
                  <a:srgbClr val="24292E"/>
                </a:solidFill>
                <a:latin typeface="Consolas"/>
                <a:cs typeface="Consolas"/>
              </a:rPr>
              <a:t>GUI.py</a:t>
            </a:r>
            <a:r>
              <a:rPr sz="1000" spc="-200" dirty="0">
                <a:solidFill>
                  <a:srgbClr val="24292E"/>
                </a:solidFill>
                <a:latin typeface="Consolas"/>
                <a:cs typeface="Consolas"/>
              </a:rPr>
              <a:t> </a:t>
            </a:r>
            <a:r>
              <a:rPr sz="1200" dirty="0">
                <a:solidFill>
                  <a:srgbClr val="24292E"/>
                </a:solidFill>
                <a:latin typeface="微软雅黑"/>
                <a:cs typeface="微软雅黑"/>
              </a:rPr>
              <a:t>，则会弹出运行窗口。左侧边栏部分为实验参数。点击左上角</a:t>
            </a:r>
            <a:r>
              <a:rPr sz="1200" dirty="0">
                <a:solidFill>
                  <a:srgbClr val="24292E"/>
                </a:solidFill>
                <a:latin typeface="Segoe UI"/>
                <a:cs typeface="Segoe UI"/>
              </a:rPr>
              <a:t>“</a:t>
            </a:r>
            <a:r>
              <a:rPr sz="1200" dirty="0">
                <a:solidFill>
                  <a:srgbClr val="24292E"/>
                </a:solidFill>
                <a:latin typeface="微软雅黑"/>
                <a:cs typeface="微软雅黑"/>
              </a:rPr>
              <a:t>运行</a:t>
            </a:r>
            <a:r>
              <a:rPr sz="1200" spc="-10" dirty="0">
                <a:solidFill>
                  <a:srgbClr val="24292E"/>
                </a:solidFill>
                <a:latin typeface="Segoe UI"/>
                <a:cs typeface="Segoe UI"/>
              </a:rPr>
              <a:t>LDA</a:t>
            </a:r>
            <a:r>
              <a:rPr sz="1200" dirty="0">
                <a:solidFill>
                  <a:srgbClr val="24292E"/>
                </a:solidFill>
                <a:latin typeface="微软雅黑"/>
                <a:cs typeface="微软雅黑"/>
              </a:rPr>
              <a:t>模拟</a:t>
            </a:r>
            <a:r>
              <a:rPr sz="1200" dirty="0">
                <a:solidFill>
                  <a:srgbClr val="24292E"/>
                </a:solidFill>
                <a:latin typeface="Segoe UI"/>
                <a:cs typeface="Segoe UI"/>
              </a:rPr>
              <a:t>”</a:t>
            </a:r>
            <a:r>
              <a:rPr sz="1200" dirty="0">
                <a:solidFill>
                  <a:srgbClr val="24292E"/>
                </a:solidFill>
                <a:latin typeface="微软雅黑"/>
                <a:cs typeface="微软雅黑"/>
              </a:rPr>
              <a:t>键，则开始模拟。等待时 间约为</a:t>
            </a:r>
            <a:r>
              <a:rPr sz="1200" dirty="0">
                <a:solidFill>
                  <a:srgbClr val="24292E"/>
                </a:solidFill>
                <a:latin typeface="Segoe UI"/>
                <a:cs typeface="Segoe UI"/>
              </a:rPr>
              <a:t>10</a:t>
            </a:r>
            <a:r>
              <a:rPr sz="1200" dirty="0">
                <a:solidFill>
                  <a:srgbClr val="24292E"/>
                </a:solidFill>
                <a:latin typeface="微软雅黑"/>
                <a:cs typeface="微软雅黑"/>
              </a:rPr>
              <a:t>秒，可以同时打开终端观察模拟过程。结果显示在左侧边栏下方。模拟完成后，点击右上角</a:t>
            </a:r>
            <a:r>
              <a:rPr sz="1200" dirty="0">
                <a:solidFill>
                  <a:srgbClr val="24292E"/>
                </a:solidFill>
                <a:latin typeface="Segoe UI"/>
                <a:cs typeface="Segoe UI"/>
              </a:rPr>
              <a:t>“</a:t>
            </a:r>
            <a:r>
              <a:rPr sz="1200" dirty="0">
                <a:solidFill>
                  <a:srgbClr val="24292E"/>
                </a:solidFill>
                <a:latin typeface="微软雅黑"/>
                <a:cs typeface="微软雅黑"/>
              </a:rPr>
              <a:t>退出系统</a:t>
            </a:r>
            <a:r>
              <a:rPr sz="1200" dirty="0">
                <a:solidFill>
                  <a:srgbClr val="24292E"/>
                </a:solidFill>
                <a:latin typeface="Segoe UI"/>
                <a:cs typeface="Segoe UI"/>
              </a:rPr>
              <a:t>“</a:t>
            </a:r>
            <a:r>
              <a:rPr sz="1200" dirty="0">
                <a:solidFill>
                  <a:srgbClr val="24292E"/>
                </a:solidFill>
                <a:latin typeface="微软雅黑"/>
                <a:cs typeface="微软雅黑"/>
              </a:rPr>
              <a:t>，即可结 束模拟。</a:t>
            </a:r>
            <a:endParaRPr sz="1200">
              <a:latin typeface="微软雅黑"/>
              <a:cs typeface="微软雅黑"/>
            </a:endParaRPr>
          </a:p>
          <a:p>
            <a:pPr marL="50800" marR="68580" algn="just">
              <a:lnSpc>
                <a:spcPct val="125000"/>
              </a:lnSpc>
              <a:spcBef>
                <a:spcPts val="1200"/>
              </a:spcBef>
            </a:pPr>
            <a:r>
              <a:rPr sz="1200" dirty="0">
                <a:solidFill>
                  <a:srgbClr val="24292E"/>
                </a:solidFill>
                <a:latin typeface="微软雅黑"/>
                <a:cs typeface="微软雅黑"/>
              </a:rPr>
              <a:t>本项目使用</a:t>
            </a:r>
            <a:r>
              <a:rPr sz="1200" dirty="0">
                <a:solidFill>
                  <a:srgbClr val="24292E"/>
                </a:solidFill>
                <a:latin typeface="Segoe UI"/>
                <a:cs typeface="Segoe UI"/>
              </a:rPr>
              <a:t>AI</a:t>
            </a:r>
            <a:r>
              <a:rPr sz="1200" dirty="0">
                <a:solidFill>
                  <a:srgbClr val="24292E"/>
                </a:solidFill>
                <a:latin typeface="微软雅黑"/>
                <a:cs typeface="微软雅黑"/>
              </a:rPr>
              <a:t>情况（</a:t>
            </a:r>
            <a:r>
              <a:rPr sz="1200" dirty="0">
                <a:solidFill>
                  <a:srgbClr val="24292E"/>
                </a:solidFill>
                <a:latin typeface="Segoe UI"/>
                <a:cs typeface="Segoe UI"/>
              </a:rPr>
              <a:t>Gemini</a:t>
            </a:r>
            <a:r>
              <a:rPr sz="1200" spc="-20" dirty="0">
                <a:solidFill>
                  <a:srgbClr val="24292E"/>
                </a:solidFill>
                <a:latin typeface="Segoe UI"/>
                <a:cs typeface="Segoe UI"/>
              </a:rPr>
              <a:t> </a:t>
            </a:r>
            <a:r>
              <a:rPr sz="1200" dirty="0">
                <a:solidFill>
                  <a:srgbClr val="24292E"/>
                </a:solidFill>
                <a:latin typeface="Segoe UI"/>
                <a:cs typeface="Segoe UI"/>
              </a:rPr>
              <a:t>3pro</a:t>
            </a:r>
            <a:r>
              <a:rPr sz="1200" spc="-20" dirty="0">
                <a:solidFill>
                  <a:srgbClr val="24292E"/>
                </a:solidFill>
                <a:latin typeface="Segoe UI"/>
                <a:cs typeface="Segoe UI"/>
              </a:rPr>
              <a:t> </a:t>
            </a:r>
            <a:r>
              <a:rPr sz="1200" dirty="0">
                <a:solidFill>
                  <a:srgbClr val="24292E"/>
                </a:solidFill>
                <a:latin typeface="Segoe UI"/>
                <a:cs typeface="Segoe UI"/>
              </a:rPr>
              <a:t>&amp;</a:t>
            </a:r>
            <a:r>
              <a:rPr sz="1200" spc="-20" dirty="0">
                <a:solidFill>
                  <a:srgbClr val="24292E"/>
                </a:solidFill>
                <a:latin typeface="Segoe UI"/>
                <a:cs typeface="Segoe UI"/>
              </a:rPr>
              <a:t> </a:t>
            </a:r>
            <a:r>
              <a:rPr sz="1200" dirty="0">
                <a:solidFill>
                  <a:srgbClr val="24292E"/>
                </a:solidFill>
                <a:latin typeface="Segoe UI"/>
                <a:cs typeface="Segoe UI"/>
              </a:rPr>
              <a:t>Gemini</a:t>
            </a:r>
            <a:r>
              <a:rPr sz="1200" spc="-20" dirty="0">
                <a:solidFill>
                  <a:srgbClr val="24292E"/>
                </a:solidFill>
                <a:latin typeface="Segoe UI"/>
                <a:cs typeface="Segoe UI"/>
              </a:rPr>
              <a:t> </a:t>
            </a:r>
            <a:r>
              <a:rPr sz="1200" dirty="0">
                <a:solidFill>
                  <a:srgbClr val="24292E"/>
                </a:solidFill>
                <a:latin typeface="Segoe UI"/>
                <a:cs typeface="Segoe UI"/>
              </a:rPr>
              <a:t>2.5</a:t>
            </a:r>
            <a:r>
              <a:rPr sz="1200" spc="-20" dirty="0">
                <a:solidFill>
                  <a:srgbClr val="24292E"/>
                </a:solidFill>
                <a:latin typeface="Segoe UI"/>
                <a:cs typeface="Segoe UI"/>
              </a:rPr>
              <a:t> </a:t>
            </a:r>
            <a:r>
              <a:rPr sz="1200" dirty="0">
                <a:solidFill>
                  <a:srgbClr val="24292E"/>
                </a:solidFill>
                <a:latin typeface="Segoe UI"/>
                <a:cs typeface="Segoe UI"/>
              </a:rPr>
              <a:t>Flash</a:t>
            </a:r>
            <a:r>
              <a:rPr sz="1200" dirty="0">
                <a:solidFill>
                  <a:srgbClr val="24292E"/>
                </a:solidFill>
                <a:latin typeface="微软雅黑"/>
                <a:cs typeface="微软雅黑"/>
              </a:rPr>
              <a:t>）：</a:t>
            </a:r>
            <a:r>
              <a:rPr sz="1200" dirty="0">
                <a:solidFill>
                  <a:srgbClr val="24292E"/>
                </a:solidFill>
                <a:latin typeface="Segoe UI"/>
                <a:cs typeface="Segoe UI"/>
              </a:rPr>
              <a:t>1.</a:t>
            </a:r>
            <a:r>
              <a:rPr sz="1200" dirty="0">
                <a:solidFill>
                  <a:srgbClr val="24292E"/>
                </a:solidFill>
                <a:latin typeface="微软雅黑"/>
                <a:cs typeface="微软雅黑"/>
              </a:rPr>
              <a:t>参数和函数的命名及格式化输出上，首先写出中文命名，然后 借助</a:t>
            </a:r>
            <a:r>
              <a:rPr sz="1200" dirty="0">
                <a:solidFill>
                  <a:srgbClr val="24292E"/>
                </a:solidFill>
                <a:latin typeface="Segoe UI"/>
                <a:cs typeface="Segoe UI"/>
              </a:rPr>
              <a:t>AI</a:t>
            </a:r>
            <a:r>
              <a:rPr sz="1200" dirty="0">
                <a:solidFill>
                  <a:srgbClr val="24292E"/>
                </a:solidFill>
                <a:latin typeface="微软雅黑"/>
                <a:cs typeface="微软雅黑"/>
              </a:rPr>
              <a:t>翻译为英文并调整格式。</a:t>
            </a:r>
            <a:r>
              <a:rPr sz="1200" dirty="0">
                <a:solidFill>
                  <a:srgbClr val="24292E"/>
                </a:solidFill>
                <a:latin typeface="Segoe UI"/>
                <a:cs typeface="Segoe UI"/>
              </a:rPr>
              <a:t>2.</a:t>
            </a:r>
            <a:r>
              <a:rPr sz="1200" spc="25" dirty="0">
                <a:solidFill>
                  <a:srgbClr val="24292E"/>
                </a:solidFill>
                <a:latin typeface="Segoe UI"/>
                <a:cs typeface="Segoe UI"/>
              </a:rPr>
              <a:t> </a:t>
            </a:r>
            <a:r>
              <a:rPr sz="1000" spc="10" dirty="0">
                <a:solidFill>
                  <a:srgbClr val="24292E"/>
                </a:solidFill>
                <a:latin typeface="Consolas"/>
                <a:cs typeface="Consolas"/>
              </a:rPr>
              <a:t>GUI,py</a:t>
            </a:r>
            <a:r>
              <a:rPr sz="1000" spc="-200" dirty="0">
                <a:solidFill>
                  <a:srgbClr val="24292E"/>
                </a:solidFill>
                <a:latin typeface="Consolas"/>
                <a:cs typeface="Consolas"/>
              </a:rPr>
              <a:t> </a:t>
            </a:r>
            <a:r>
              <a:rPr sz="1200" dirty="0">
                <a:solidFill>
                  <a:srgbClr val="24292E"/>
                </a:solidFill>
                <a:latin typeface="微软雅黑"/>
                <a:cs typeface="微软雅黑"/>
              </a:rPr>
              <a:t>文件中，窗口的大小、颜色等设计，使用了</a:t>
            </a:r>
            <a:r>
              <a:rPr sz="1200" dirty="0">
                <a:solidFill>
                  <a:srgbClr val="24292E"/>
                </a:solidFill>
                <a:latin typeface="Segoe UI"/>
                <a:cs typeface="Segoe UI"/>
              </a:rPr>
              <a:t>AI</a:t>
            </a:r>
            <a:r>
              <a:rPr sz="1200" dirty="0">
                <a:solidFill>
                  <a:srgbClr val="24292E"/>
                </a:solidFill>
                <a:latin typeface="微软雅黑"/>
                <a:cs typeface="微软雅黑"/>
              </a:rPr>
              <a:t>。自主完成了 </a:t>
            </a:r>
            <a:r>
              <a:rPr sz="1000" spc="10" dirty="0">
                <a:solidFill>
                  <a:srgbClr val="24292E"/>
                </a:solidFill>
                <a:latin typeface="Consolas"/>
                <a:cs typeface="Consolas"/>
              </a:rPr>
              <a:t>GUI.py</a:t>
            </a:r>
            <a:r>
              <a:rPr sz="1000" spc="-200" dirty="0">
                <a:solidFill>
                  <a:srgbClr val="24292E"/>
                </a:solidFill>
                <a:latin typeface="Consolas"/>
                <a:cs typeface="Consolas"/>
              </a:rPr>
              <a:t> </a:t>
            </a:r>
            <a:r>
              <a:rPr sz="1200" dirty="0">
                <a:solidFill>
                  <a:srgbClr val="24292E"/>
                </a:solidFill>
                <a:latin typeface="微软雅黑"/>
                <a:cs typeface="微软雅黑"/>
              </a:rPr>
              <a:t>中前后端接 口部分。</a:t>
            </a:r>
            <a:endParaRPr sz="1200">
              <a:latin typeface="微软雅黑"/>
              <a:cs typeface="微软雅黑"/>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754185"/>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txBox="1"/>
          <p:nvPr/>
        </p:nvSpPr>
        <p:spPr>
          <a:xfrm>
            <a:off x="520700" y="671827"/>
            <a:ext cx="7996555" cy="453394"/>
          </a:xfrm>
          <a:prstGeom prst="rect">
            <a:avLst/>
          </a:prstGeom>
        </p:spPr>
        <p:txBody>
          <a:bodyPr vert="horz" wrap="square" lIns="0" tIns="12700" rIns="0" bIns="0" rtlCol="0">
            <a:spAutoFit/>
          </a:bodyPr>
          <a:lstStyle/>
          <a:p>
            <a:pPr marL="12700" marR="5080">
              <a:lnSpc>
                <a:spcPct val="125000"/>
              </a:lnSpc>
              <a:spcBef>
                <a:spcPts val="100"/>
              </a:spcBef>
            </a:pPr>
            <a:r>
              <a:rPr sz="1200" dirty="0">
                <a:solidFill>
                  <a:srgbClr val="24292E"/>
                </a:solidFill>
                <a:latin typeface="微软雅黑"/>
                <a:cs typeface="微软雅黑"/>
              </a:rPr>
              <a:t>本项目不足：</a:t>
            </a:r>
            <a:r>
              <a:rPr sz="1200" dirty="0">
                <a:solidFill>
                  <a:srgbClr val="24292E"/>
                </a:solidFill>
                <a:latin typeface="Segoe UI"/>
                <a:cs typeface="Segoe UI"/>
              </a:rPr>
              <a:t>1.</a:t>
            </a:r>
            <a:r>
              <a:rPr sz="1200" dirty="0">
                <a:solidFill>
                  <a:srgbClr val="24292E"/>
                </a:solidFill>
                <a:latin typeface="微软雅黑"/>
                <a:cs typeface="微软雅黑"/>
              </a:rPr>
              <a:t>由于时间原因，没有实现</a:t>
            </a:r>
            <a:r>
              <a:rPr sz="1200" spc="-10" dirty="0">
                <a:solidFill>
                  <a:srgbClr val="24292E"/>
                </a:solidFill>
                <a:latin typeface="Segoe UI"/>
                <a:cs typeface="Segoe UI"/>
              </a:rPr>
              <a:t>ALPHA_PARAM</a:t>
            </a:r>
            <a:r>
              <a:rPr sz="1200" dirty="0">
                <a:solidFill>
                  <a:srgbClr val="24292E"/>
                </a:solidFill>
                <a:latin typeface="微软雅黑"/>
                <a:cs typeface="微软雅黑"/>
              </a:rPr>
              <a:t>参数变化的不同情况</a:t>
            </a:r>
            <a:r>
              <a:rPr sz="1200" spc="-105" dirty="0">
                <a:solidFill>
                  <a:srgbClr val="24292E"/>
                </a:solidFill>
                <a:latin typeface="微软雅黑"/>
                <a:cs typeface="微软雅黑"/>
              </a:rPr>
              <a:t> </a:t>
            </a:r>
            <a:r>
              <a:rPr sz="1200" dirty="0">
                <a:solidFill>
                  <a:srgbClr val="24292E"/>
                </a:solidFill>
                <a:latin typeface="Segoe UI"/>
                <a:cs typeface="Segoe UI"/>
              </a:rPr>
              <a:t>2.</a:t>
            </a:r>
            <a:r>
              <a:rPr sz="1200">
                <a:solidFill>
                  <a:srgbClr val="24292E"/>
                </a:solidFill>
                <a:latin typeface="微软雅黑"/>
                <a:cs typeface="微软雅黑"/>
              </a:rPr>
              <a:t>对于</a:t>
            </a:r>
            <a:r>
              <a:rPr sz="1200" spc="-10">
                <a:solidFill>
                  <a:srgbClr val="24292E"/>
                </a:solidFill>
                <a:latin typeface="Segoe UI"/>
                <a:cs typeface="Segoe UI"/>
              </a:rPr>
              <a:t>LDA</a:t>
            </a:r>
            <a:r>
              <a:rPr lang="zh-CN" altLang="en-US" sz="1200" spc="-10">
                <a:solidFill>
                  <a:srgbClr val="24292E"/>
                </a:solidFill>
                <a:latin typeface="微软雅黑"/>
                <a:cs typeface="Segoe UI"/>
              </a:rPr>
              <a:t>原理</a:t>
            </a:r>
            <a:r>
              <a:rPr sz="1200">
                <a:solidFill>
                  <a:srgbClr val="24292E"/>
                </a:solidFill>
                <a:latin typeface="微软雅黑"/>
                <a:cs typeface="微软雅黑"/>
              </a:rPr>
              <a:t>了解较为充分，但</a:t>
            </a:r>
            <a:r>
              <a:rPr lang="zh-CN" altLang="en-US" sz="1200">
                <a:solidFill>
                  <a:srgbClr val="24292E"/>
                </a:solidFill>
                <a:latin typeface="微软雅黑"/>
                <a:cs typeface="微软雅黑"/>
              </a:rPr>
              <a:t>由于兴趣转移，</a:t>
            </a:r>
            <a:r>
              <a:rPr sz="1200">
                <a:solidFill>
                  <a:srgbClr val="24292E"/>
                </a:solidFill>
                <a:latin typeface="微软雅黑"/>
                <a:cs typeface="微软雅黑"/>
              </a:rPr>
              <a:t>代码部分仍以调包为主</a:t>
            </a:r>
            <a:r>
              <a:rPr sz="1200" dirty="0">
                <a:solidFill>
                  <a:srgbClr val="24292E"/>
                </a:solidFill>
                <a:latin typeface="微软雅黑"/>
                <a:cs typeface="微软雅黑"/>
              </a:rPr>
              <a:t>，包内部更多还是黑箱。</a:t>
            </a:r>
            <a:endParaRPr sz="1200">
              <a:latin typeface="微软雅黑"/>
              <a:cs typeface="微软雅黑"/>
            </a:endParaRPr>
          </a:p>
        </p:txBody>
      </p:sp>
      <p:sp>
        <p:nvSpPr>
          <p:cNvPr id="4" name="object 4"/>
          <p:cNvSpPr txBox="1">
            <a:spLocks noGrp="1"/>
          </p:cNvSpPr>
          <p:nvPr>
            <p:ph type="title"/>
          </p:nvPr>
        </p:nvSpPr>
        <p:spPr>
          <a:xfrm>
            <a:off x="520700" y="1393822"/>
            <a:ext cx="20828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微软雅黑"/>
                <a:cs typeface="微软雅黑"/>
              </a:rPr>
              <a:t>六、本项目实际意义</a:t>
            </a:r>
            <a:endParaRPr sz="1800">
              <a:latin typeface="微软雅黑"/>
              <a:cs typeface="微软雅黑"/>
            </a:endParaRPr>
          </a:p>
        </p:txBody>
      </p:sp>
      <p:sp>
        <p:nvSpPr>
          <p:cNvPr id="5" name="object 5"/>
          <p:cNvSpPr/>
          <p:nvPr/>
        </p:nvSpPr>
        <p:spPr>
          <a:xfrm>
            <a:off x="666750" y="2006598"/>
            <a:ext cx="57150" cy="57150"/>
          </a:xfrm>
          <a:custGeom>
            <a:avLst/>
            <a:gdLst/>
            <a:ahLst/>
            <a:cxnLst/>
            <a:rect l="l" t="t" r="r" b="b"/>
            <a:pathLst>
              <a:path w="57150" h="57150">
                <a:moveTo>
                  <a:pt x="32364" y="57148"/>
                </a:moveTo>
                <a:lnTo>
                  <a:pt x="24785" y="57148"/>
                </a:lnTo>
                <a:lnTo>
                  <a:pt x="21140" y="56422"/>
                </a:lnTo>
                <a:lnTo>
                  <a:pt x="0" y="32363"/>
                </a:lnTo>
                <a:lnTo>
                  <a:pt x="0" y="24782"/>
                </a:lnTo>
                <a:lnTo>
                  <a:pt x="24785" y="0"/>
                </a:lnTo>
                <a:lnTo>
                  <a:pt x="32364" y="0"/>
                </a:lnTo>
                <a:lnTo>
                  <a:pt x="57149" y="24782"/>
                </a:lnTo>
                <a:lnTo>
                  <a:pt x="57149" y="32363"/>
                </a:lnTo>
                <a:lnTo>
                  <a:pt x="32364" y="57148"/>
                </a:lnTo>
                <a:close/>
              </a:path>
            </a:pathLst>
          </a:custGeom>
          <a:solidFill>
            <a:srgbClr val="24292E"/>
          </a:solidFill>
        </p:spPr>
        <p:txBody>
          <a:bodyPr wrap="square" lIns="0" tIns="0" rIns="0" bIns="0" rtlCol="0"/>
          <a:lstStyle/>
          <a:p>
            <a:endParaRPr/>
          </a:p>
        </p:txBody>
      </p:sp>
      <p:sp>
        <p:nvSpPr>
          <p:cNvPr id="6" name="object 6"/>
          <p:cNvSpPr/>
          <p:nvPr/>
        </p:nvSpPr>
        <p:spPr>
          <a:xfrm>
            <a:off x="666750" y="2387598"/>
            <a:ext cx="57150" cy="57150"/>
          </a:xfrm>
          <a:custGeom>
            <a:avLst/>
            <a:gdLst/>
            <a:ahLst/>
            <a:cxnLst/>
            <a:rect l="l" t="t" r="r" b="b"/>
            <a:pathLst>
              <a:path w="57150" h="57150">
                <a:moveTo>
                  <a:pt x="32364" y="57148"/>
                </a:moveTo>
                <a:lnTo>
                  <a:pt x="24785" y="57148"/>
                </a:lnTo>
                <a:lnTo>
                  <a:pt x="21140" y="56422"/>
                </a:lnTo>
                <a:lnTo>
                  <a:pt x="0" y="32363"/>
                </a:lnTo>
                <a:lnTo>
                  <a:pt x="0" y="24782"/>
                </a:lnTo>
                <a:lnTo>
                  <a:pt x="24785" y="0"/>
                </a:lnTo>
                <a:lnTo>
                  <a:pt x="32364" y="0"/>
                </a:lnTo>
                <a:lnTo>
                  <a:pt x="57149" y="24782"/>
                </a:lnTo>
                <a:lnTo>
                  <a:pt x="57149" y="32363"/>
                </a:lnTo>
                <a:lnTo>
                  <a:pt x="32364" y="57148"/>
                </a:lnTo>
                <a:close/>
              </a:path>
            </a:pathLst>
          </a:custGeom>
          <a:solidFill>
            <a:srgbClr val="24292E"/>
          </a:solidFill>
        </p:spPr>
        <p:txBody>
          <a:bodyPr wrap="square" lIns="0" tIns="0" rIns="0" bIns="0" rtlCol="0"/>
          <a:lstStyle/>
          <a:p>
            <a:endParaRPr/>
          </a:p>
        </p:txBody>
      </p:sp>
      <p:sp>
        <p:nvSpPr>
          <p:cNvPr id="7" name="object 7"/>
          <p:cNvSpPr txBox="1"/>
          <p:nvPr/>
        </p:nvSpPr>
        <p:spPr>
          <a:xfrm>
            <a:off x="825500" y="1917697"/>
            <a:ext cx="7797165" cy="83439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微软雅黑"/>
                <a:cs typeface="微软雅黑"/>
              </a:rPr>
              <a:t>为</a:t>
            </a:r>
            <a:r>
              <a:rPr sz="1200" spc="-35" dirty="0">
                <a:solidFill>
                  <a:srgbClr val="24292E"/>
                </a:solidFill>
                <a:latin typeface="微软雅黑"/>
                <a:cs typeface="微软雅黑"/>
              </a:rPr>
              <a:t> </a:t>
            </a:r>
            <a:r>
              <a:rPr sz="1200" spc="-10" dirty="0">
                <a:solidFill>
                  <a:srgbClr val="24292E"/>
                </a:solidFill>
                <a:latin typeface="Segoe UI"/>
                <a:cs typeface="Segoe UI"/>
              </a:rPr>
              <a:t>LDA</a:t>
            </a:r>
            <a:r>
              <a:rPr sz="1200" dirty="0">
                <a:solidFill>
                  <a:srgbClr val="24292E"/>
                </a:solidFill>
                <a:latin typeface="Segoe UI"/>
                <a:cs typeface="Segoe UI"/>
              </a:rPr>
              <a:t> </a:t>
            </a:r>
            <a:r>
              <a:rPr sz="1200" dirty="0">
                <a:solidFill>
                  <a:srgbClr val="24292E"/>
                </a:solidFill>
                <a:latin typeface="微软雅黑"/>
                <a:cs typeface="微软雅黑"/>
              </a:rPr>
              <a:t>模型的应用提供统计可靠性背书（主要）</a:t>
            </a:r>
            <a:endParaRPr sz="1200">
              <a:latin typeface="微软雅黑"/>
              <a:cs typeface="微软雅黑"/>
            </a:endParaRPr>
          </a:p>
          <a:p>
            <a:pPr marL="12700" marR="5080">
              <a:lnSpc>
                <a:spcPct val="107800"/>
              </a:lnSpc>
              <a:spcBef>
                <a:spcPts val="1175"/>
              </a:spcBef>
            </a:pPr>
            <a:r>
              <a:rPr sz="1200" dirty="0">
                <a:solidFill>
                  <a:srgbClr val="24292E"/>
                </a:solidFill>
                <a:latin typeface="微软雅黑"/>
                <a:cs typeface="微软雅黑"/>
              </a:rPr>
              <a:t>在推荐系统、文本聚类和情感分析等任务中，</a:t>
            </a:r>
            <a:r>
              <a:rPr sz="1450" b="1" i="1" dirty="0">
                <a:solidFill>
                  <a:srgbClr val="24292E"/>
                </a:solidFill>
                <a:latin typeface="Arial"/>
                <a:cs typeface="Arial"/>
              </a:rPr>
              <a:t>θ</a:t>
            </a:r>
            <a:r>
              <a:rPr sz="1450" b="1" i="1" spc="-120" dirty="0">
                <a:solidFill>
                  <a:srgbClr val="24292E"/>
                </a:solidFill>
                <a:latin typeface="Arial"/>
                <a:cs typeface="Arial"/>
              </a:rPr>
              <a:t> </a:t>
            </a:r>
            <a:r>
              <a:rPr sz="1200" dirty="0">
                <a:solidFill>
                  <a:srgbClr val="24292E"/>
                </a:solidFill>
                <a:latin typeface="微软雅黑"/>
                <a:cs typeface="微软雅黑"/>
              </a:rPr>
              <a:t>向量经常被用作文档的精简特征表示。只有经过高相似度验证（即模 型推断准确）的</a:t>
            </a:r>
            <a:r>
              <a:rPr sz="1200" spc="-45" dirty="0">
                <a:solidFill>
                  <a:srgbClr val="24292E"/>
                </a:solidFill>
                <a:latin typeface="微软雅黑"/>
                <a:cs typeface="微软雅黑"/>
              </a:rPr>
              <a:t> </a:t>
            </a:r>
            <a:r>
              <a:rPr sz="1450" b="1" i="1" spc="5" dirty="0">
                <a:solidFill>
                  <a:srgbClr val="24292E"/>
                </a:solidFill>
                <a:latin typeface="Arial"/>
                <a:cs typeface="Arial"/>
              </a:rPr>
              <a:t>θ</a:t>
            </a:r>
            <a:r>
              <a:rPr sz="1450" b="1" i="1" spc="-40" dirty="0">
                <a:solidFill>
                  <a:srgbClr val="24292E"/>
                </a:solidFill>
                <a:latin typeface="Arial"/>
                <a:cs typeface="Arial"/>
              </a:rPr>
              <a:t> </a:t>
            </a:r>
            <a:r>
              <a:rPr sz="1200" dirty="0">
                <a:solidFill>
                  <a:srgbClr val="24292E"/>
                </a:solidFill>
                <a:latin typeface="微软雅黑"/>
                <a:cs typeface="微软雅黑"/>
              </a:rPr>
              <a:t>向量，才能确保后续算法建立在高质量的数据基础之上，避免</a:t>
            </a:r>
            <a:r>
              <a:rPr sz="1200" dirty="0">
                <a:solidFill>
                  <a:srgbClr val="24292E"/>
                </a:solidFill>
                <a:latin typeface="Segoe UI"/>
                <a:cs typeface="Segoe UI"/>
              </a:rPr>
              <a:t>“</a:t>
            </a:r>
            <a:r>
              <a:rPr sz="1200" dirty="0">
                <a:solidFill>
                  <a:srgbClr val="24292E"/>
                </a:solidFill>
                <a:latin typeface="微软雅黑"/>
                <a:cs typeface="微软雅黑"/>
              </a:rPr>
              <a:t>垃圾输入，垃圾输出</a:t>
            </a:r>
            <a:r>
              <a:rPr sz="1200" dirty="0">
                <a:solidFill>
                  <a:srgbClr val="24292E"/>
                </a:solidFill>
                <a:latin typeface="Segoe UI"/>
                <a:cs typeface="Segoe UI"/>
              </a:rPr>
              <a:t>”</a:t>
            </a:r>
            <a:r>
              <a:rPr sz="1200" dirty="0">
                <a:solidFill>
                  <a:srgbClr val="24292E"/>
                </a:solidFill>
                <a:latin typeface="微软雅黑"/>
                <a:cs typeface="微软雅黑"/>
              </a:rPr>
              <a:t>的问题。</a:t>
            </a:r>
            <a:endParaRPr sz="1200">
              <a:latin typeface="微软雅黑"/>
              <a:cs typeface="微软雅黑"/>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9F4A9E-C2BC-40D5-8292-905622076759}"/>
              </a:ext>
            </a:extLst>
          </p:cNvPr>
          <p:cNvSpPr>
            <a:spLocks noGrp="1"/>
          </p:cNvSpPr>
          <p:nvPr>
            <p:ph type="title"/>
          </p:nvPr>
        </p:nvSpPr>
        <p:spPr>
          <a:xfrm>
            <a:off x="457200" y="695070"/>
            <a:ext cx="4342765" cy="369332"/>
          </a:xfrm>
        </p:spPr>
        <p:txBody>
          <a:bodyPr/>
          <a:lstStyle/>
          <a:p>
            <a:r>
              <a:rPr lang="zh-CN" altLang="en-US" sz="2400">
                <a:latin typeface="黑体" panose="02010609060101010101" pitchFamily="49" charset="-122"/>
                <a:ea typeface="黑体" panose="02010609060101010101" pitchFamily="49" charset="-122"/>
              </a:rPr>
              <a:t>自评</a:t>
            </a:r>
          </a:p>
        </p:txBody>
      </p:sp>
      <p:sp>
        <p:nvSpPr>
          <p:cNvPr id="3" name="文本占位符 2">
            <a:extLst>
              <a:ext uri="{FF2B5EF4-FFF2-40B4-BE49-F238E27FC236}">
                <a16:creationId xmlns:a16="http://schemas.microsoft.com/office/drawing/2014/main" id="{735E26C9-8F41-43DF-92F2-57DC29891480}"/>
              </a:ext>
            </a:extLst>
          </p:cNvPr>
          <p:cNvSpPr>
            <a:spLocks noGrp="1"/>
          </p:cNvSpPr>
          <p:nvPr>
            <p:ph type="body" idx="1"/>
          </p:nvPr>
        </p:nvSpPr>
        <p:spPr>
          <a:xfrm>
            <a:off x="488949" y="1270000"/>
            <a:ext cx="8166100" cy="2369880"/>
          </a:xfrm>
        </p:spPr>
        <p:txBody>
          <a:bodyPr/>
          <a:lstStyle/>
          <a:p>
            <a:r>
              <a:rPr lang="zh-CN" altLang="en-US" sz="1400"/>
              <a:t>评分等级</a:t>
            </a:r>
            <a:r>
              <a:rPr lang="en-US" altLang="zh-CN" sz="1400"/>
              <a:t>:A</a:t>
            </a:r>
            <a:r>
              <a:rPr lang="zh-CN" altLang="en-US" sz="1400"/>
              <a:t>，理由如下。</a:t>
            </a:r>
            <a:endParaRPr lang="en-US" altLang="zh-CN" sz="1400"/>
          </a:p>
          <a:p>
            <a:endParaRPr lang="en-US" altLang="zh-CN" sz="1400"/>
          </a:p>
          <a:p>
            <a:r>
              <a:rPr lang="en-US" altLang="zh-CN" sz="1400"/>
              <a:t>1.</a:t>
            </a:r>
            <a:r>
              <a:rPr lang="zh-CN" altLang="en-US" sz="1400"/>
              <a:t>本项目采用</a:t>
            </a:r>
            <a:r>
              <a:rPr lang="zh-CN" altLang="en-US" sz="1400" b="1"/>
              <a:t>模块化编程。</a:t>
            </a:r>
            <a:r>
              <a:rPr lang="zh-CN" altLang="en-US" sz="1400"/>
              <a:t>我将项目分为三个高内聚的模块，</a:t>
            </a:r>
            <a:r>
              <a:rPr lang="en-US" altLang="zh-CN" sz="1400"/>
              <a:t>config</a:t>
            </a:r>
            <a:r>
              <a:rPr lang="zh-CN" altLang="en-US" sz="1400"/>
              <a:t>（配置文件）、</a:t>
            </a:r>
            <a:r>
              <a:rPr lang="en-US" altLang="zh-CN" sz="1400"/>
              <a:t>db_manager</a:t>
            </a:r>
            <a:r>
              <a:rPr lang="zh-CN" altLang="en-US" sz="1400"/>
              <a:t>（数据文件）、</a:t>
            </a:r>
            <a:r>
              <a:rPr lang="en-US" altLang="zh-CN" sz="1400"/>
              <a:t>stat_sim</a:t>
            </a:r>
            <a:r>
              <a:rPr lang="zh-CN" altLang="en-US" sz="1400"/>
              <a:t>（业务逻辑），职责分离，易于维护，复用性高。</a:t>
            </a:r>
            <a:endParaRPr lang="en-US" altLang="zh-CN" sz="1400"/>
          </a:p>
          <a:p>
            <a:endParaRPr lang="en-US" altLang="zh-CN" sz="1400"/>
          </a:p>
          <a:p>
            <a:r>
              <a:rPr lang="en-US" altLang="zh-CN" sz="1400"/>
              <a:t>2.</a:t>
            </a:r>
            <a:r>
              <a:rPr lang="zh-CN" altLang="en-US" sz="1400"/>
              <a:t>本项目</a:t>
            </a:r>
            <a:r>
              <a:rPr lang="zh-CN" altLang="en-US" sz="1400" b="1"/>
              <a:t>数据可控</a:t>
            </a:r>
            <a:r>
              <a:rPr lang="zh-CN" altLang="en-US" sz="1400"/>
              <a:t>。我的实验数据并非从互联网等外部采集，而是基于狄利克雷分布人工生成模拟的，这保证了数据是可控的。为聚焦于核心意图，我没有使用具体词汇，而是用主题加编号的形式进行命名。</a:t>
            </a:r>
            <a:endParaRPr lang="en-US" altLang="zh-CN" sz="1400"/>
          </a:p>
          <a:p>
            <a:endParaRPr lang="en-US" altLang="zh-CN" sz="1400"/>
          </a:p>
          <a:p>
            <a:r>
              <a:rPr lang="en-US" altLang="zh-CN" sz="1400"/>
              <a:t>3.</a:t>
            </a:r>
            <a:r>
              <a:rPr lang="zh-CN" altLang="en-US" sz="1400"/>
              <a:t>本项目</a:t>
            </a:r>
            <a:r>
              <a:rPr lang="zh-CN" altLang="en-US" sz="1400" b="1"/>
              <a:t>准确度高。</a:t>
            </a:r>
            <a:r>
              <a:rPr lang="zh-CN" altLang="en-US" sz="1400"/>
              <a:t>本项目并非模糊的定性验证，而是有监督的定量验证，准确度高。</a:t>
            </a:r>
            <a:endParaRPr lang="en-US" altLang="zh-CN" sz="1400"/>
          </a:p>
          <a:p>
            <a:endParaRPr lang="en-US" altLang="zh-CN" sz="1400"/>
          </a:p>
          <a:p>
            <a:r>
              <a:rPr lang="en-US" altLang="zh-CN" sz="1400"/>
              <a:t>4.</a:t>
            </a:r>
            <a:r>
              <a:rPr lang="zh-CN" altLang="en-US" sz="1400"/>
              <a:t>本项目</a:t>
            </a:r>
            <a:r>
              <a:rPr lang="zh-CN" altLang="en-US" sz="1400" b="1"/>
              <a:t>具有坚实的统计学基础</a:t>
            </a:r>
            <a:r>
              <a:rPr lang="zh-CN" altLang="en-US" sz="1400"/>
              <a:t>，严格遵守</a:t>
            </a:r>
            <a:r>
              <a:rPr lang="en-US" altLang="zh-CN" sz="1400"/>
              <a:t>LDA</a:t>
            </a:r>
            <a:r>
              <a:rPr lang="zh-CN" altLang="en-US" sz="1400"/>
              <a:t>分布的性质，理论基础扎实。</a:t>
            </a:r>
            <a:endParaRPr lang="en-US" altLang="zh-CN" sz="1400"/>
          </a:p>
        </p:txBody>
      </p:sp>
    </p:spTree>
    <p:extLst>
      <p:ext uri="{BB962C8B-B14F-4D97-AF65-F5344CB8AC3E}">
        <p14:creationId xmlns:p14="http://schemas.microsoft.com/office/powerpoint/2010/main" val="1145978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DF0EFE-8819-4024-BFBC-E80D2123BC35}"/>
              </a:ext>
            </a:extLst>
          </p:cNvPr>
          <p:cNvSpPr>
            <a:spLocks noGrp="1"/>
          </p:cNvSpPr>
          <p:nvPr>
            <p:ph type="title"/>
          </p:nvPr>
        </p:nvSpPr>
        <p:spPr>
          <a:xfrm>
            <a:off x="488950" y="695070"/>
            <a:ext cx="4311016" cy="307777"/>
          </a:xfrm>
        </p:spPr>
        <p:txBody>
          <a:bodyPr/>
          <a:lstStyle/>
          <a:p>
            <a:r>
              <a:rPr lang="zh-CN" altLang="en-US" sz="2000">
                <a:latin typeface="黑体" panose="02010609060101010101" pitchFamily="49" charset="-122"/>
                <a:ea typeface="黑体" panose="02010609060101010101" pitchFamily="49" charset="-122"/>
              </a:rPr>
              <a:t>常见错误排查指南</a:t>
            </a:r>
          </a:p>
        </p:txBody>
      </p:sp>
      <p:sp>
        <p:nvSpPr>
          <p:cNvPr id="3" name="文本占位符 2">
            <a:extLst>
              <a:ext uri="{FF2B5EF4-FFF2-40B4-BE49-F238E27FC236}">
                <a16:creationId xmlns:a16="http://schemas.microsoft.com/office/drawing/2014/main" id="{0C5554A6-E062-4ECD-AB68-8E52A3FA0E81}"/>
              </a:ext>
            </a:extLst>
          </p:cNvPr>
          <p:cNvSpPr>
            <a:spLocks noGrp="1"/>
          </p:cNvSpPr>
          <p:nvPr>
            <p:ph type="body" idx="1"/>
          </p:nvPr>
        </p:nvSpPr>
        <p:spPr>
          <a:xfrm>
            <a:off x="488949" y="1671954"/>
            <a:ext cx="8166100" cy="2215991"/>
          </a:xfrm>
        </p:spPr>
        <p:txBody>
          <a:bodyPr/>
          <a:lstStyle/>
          <a:p>
            <a:r>
              <a:rPr lang="en-US" altLang="zh-CN" sz="1600"/>
              <a:t>1.Python</a:t>
            </a:r>
            <a:r>
              <a:rPr lang="zh-CN" altLang="en-US" sz="1600"/>
              <a:t>错误：字符串不加引号；</a:t>
            </a:r>
            <a:r>
              <a:rPr lang="en-US" altLang="zh-CN" sz="1600"/>
              <a:t>range()</a:t>
            </a:r>
            <a:r>
              <a:rPr lang="zh-CN" altLang="en-US" sz="1600"/>
              <a:t>是左闭右开，右端忘记加一；</a:t>
            </a:r>
            <a:r>
              <a:rPr lang="en-US" altLang="zh-CN" sz="1600"/>
              <a:t>print F-string</a:t>
            </a:r>
            <a:r>
              <a:rPr lang="zh-CN" altLang="en-US" sz="1600"/>
              <a:t>打印格式，忘记或者错加花括号；忘记</a:t>
            </a:r>
            <a:r>
              <a:rPr lang="en-US" altLang="zh-CN" sz="1600"/>
              <a:t>conn.commit()</a:t>
            </a:r>
            <a:r>
              <a:rPr lang="zh-CN" altLang="en-US" sz="1600"/>
              <a:t>，数据更改没有提交到数据库文件里；</a:t>
            </a:r>
            <a:r>
              <a:rPr lang="en-US" altLang="zh-CN" sz="1600"/>
              <a:t>JSON</a:t>
            </a:r>
            <a:r>
              <a:rPr lang="zh-CN" altLang="en-US" sz="1600"/>
              <a:t>格式存入数据库，提取计算时忘记转格式，造成类型错误，反之亦然；循环调用，你调我，我调你；实际参数和形式参数不对应等等</a:t>
            </a:r>
            <a:r>
              <a:rPr lang="en-US" altLang="zh-CN" sz="1600"/>
              <a:t>……</a:t>
            </a:r>
          </a:p>
          <a:p>
            <a:endParaRPr lang="en-US" altLang="zh-CN" sz="1600"/>
          </a:p>
          <a:p>
            <a:r>
              <a:rPr lang="en-US" altLang="zh-CN" sz="1600"/>
              <a:t>2.SQL</a:t>
            </a:r>
            <a:r>
              <a:rPr lang="zh-CN" altLang="en-US" sz="1600"/>
              <a:t>错误：忘记添加</a:t>
            </a:r>
            <a:r>
              <a:rPr lang="en-US" altLang="zh-CN" sz="1600"/>
              <a:t>where</a:t>
            </a:r>
            <a:r>
              <a:rPr lang="zh-CN" altLang="en-US" sz="1600"/>
              <a:t>条件，会造成表中所有数据受损；语句结束忘记加分号；字段列表或者值列表忘记加逗号；字符串字面量忘记加引号</a:t>
            </a:r>
            <a:r>
              <a:rPr lang="en-US" altLang="zh-CN" sz="1600"/>
              <a:t>……</a:t>
            </a:r>
          </a:p>
          <a:p>
            <a:endParaRPr lang="en-US" altLang="zh-CN" sz="1600"/>
          </a:p>
          <a:p>
            <a:r>
              <a:rPr lang="en-US" altLang="zh-CN" sz="1600"/>
              <a:t>3.</a:t>
            </a:r>
            <a:r>
              <a:rPr lang="zh-CN" altLang="en-US" sz="1600"/>
              <a:t>其它问题：项目备份（</a:t>
            </a:r>
            <a:r>
              <a:rPr lang="en-US" altLang="zh-CN" sz="1600"/>
              <a:t>git</a:t>
            </a:r>
            <a:r>
              <a:rPr lang="zh-CN" altLang="en-US" sz="1600"/>
              <a:t>）；模块化；</a:t>
            </a:r>
          </a:p>
        </p:txBody>
      </p:sp>
    </p:spTree>
    <p:extLst>
      <p:ext uri="{BB962C8B-B14F-4D97-AF65-F5344CB8AC3E}">
        <p14:creationId xmlns:p14="http://schemas.microsoft.com/office/powerpoint/2010/main" val="3541103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TotalTime>
  <Words>1268</Words>
  <Application>Microsoft Office PowerPoint</Application>
  <PresentationFormat>自定义</PresentationFormat>
  <Paragraphs>117</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黑体</vt:lpstr>
      <vt:lpstr>微软雅黑</vt:lpstr>
      <vt:lpstr>Arial</vt:lpstr>
      <vt:lpstr>Calibri</vt:lpstr>
      <vt:lpstr>Cambria</vt:lpstr>
      <vt:lpstr>Consolas</vt:lpstr>
      <vt:lpstr>Segoe UI</vt:lpstr>
      <vt:lpstr>Segoe UI Semibold</vt:lpstr>
      <vt:lpstr>Times New Roman</vt:lpstr>
      <vt:lpstr>Office Theme</vt:lpstr>
      <vt:lpstr>利用数据库编程进行LDA模拟和检验</vt:lpstr>
      <vt:lpstr>PowerPoint 演示文稿</vt:lpstr>
      <vt:lpstr>PowerPoint 演示文稿</vt:lpstr>
      <vt:lpstr>PowerPoint 演示文稿</vt:lpstr>
      <vt:lpstr>主题词语比例 ϕ: 一个主题必须 100% 由所有词汇构成。∑</vt:lpstr>
      <vt:lpstr>PowerPoint 演示文稿</vt:lpstr>
      <vt:lpstr>PowerPoint 演示文稿</vt:lpstr>
      <vt:lpstr>在 db_manager.py 中，定义 bulk_insert_documents 函数，通过SQL语句，将生成的文档和真实θ向量批量导入数据库保 存。</vt:lpstr>
      <vt:lpstr>在主控函数中，对比θpred 和真实θ向量，计算余弦相似度。将结果储存在数据库中。最终结果为0.7088。</vt:lpstr>
      <vt:lpstr>六、本项目实际意义</vt:lpstr>
      <vt:lpstr>自评</vt:lpstr>
      <vt:lpstr>常见错误排查指南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利用数据库编程进行LDA模拟和检验</dc:title>
  <cp:lastModifiedBy>良煜</cp:lastModifiedBy>
  <cp:revision>9</cp:revision>
  <dcterms:created xsi:type="dcterms:W3CDTF">2025-11-30T02:36:03Z</dcterms:created>
  <dcterms:modified xsi:type="dcterms:W3CDTF">2025-11-30T15:26:20Z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2025-11-30T00:00:00Z</vt:filetime>
  </property>
  <property fmtid="{D5CDD505-2E9C-101B-9397-08002B2CF9AE}" pid="3" name="Creator">
    <vt:lpwstr>Mozilla/5.0 (Windows NT 10.0; Win64; x64) AppleWebKit/537.36 (KHTML, like Gecko) marktext/0.17.1 Chrome/98.0.4758.109 Electron/17.1.2 Safari/537.36</vt:lpwstr>
  </property>
  <property fmtid="{D5CDD505-2E9C-101B-9397-08002B2CF9AE}" pid="4" name="LastSaved">
    <vt:filetime>2025-11-30T00:00:00Z</vt:filetime>
  </property>
</Properties>
</file>